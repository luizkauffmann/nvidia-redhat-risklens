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we are Residual Zero. RiskLens is a team of small agents that explains why a bank's credit-loss allowance moved. The name of the team is the promise: when we explain a movement, nothing is left unexplained.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month the allowance moves. Calculating it is solved: banks buy engines for that. Explaining it is not. Here our synthetic bank's reserve jumped $19.24M, 19.4%, while the book barely grew. These five questions land on five different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hard? Because the drivers interact. A naive waterfall plugs the residual so it always looks clean. Our earlier Dataiku workbench did exactly that: it rescaled components to hit the total. We fixed that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spend is real: risk analytics is a ~$47B market and growing ~10% a year. Most community banks already outsource the CECL calculation and the forecasts. What they do not buy is an explanation layer: the why. That's still analysts in spreadsheets, and IFRS 9 banks report needing extra days at year-end. CECL itself is being debated, but explanation is needed under any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design choice. The model is the analyst, not the calculator. That is what makes a 3B-active model trustworthy in a regulated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top to bottom. The orchestrator never touches data: it delegates. Each specialist sees only its 11-15 tools. All of them go through one call_tool entry point that validates, repairs arguments and logs provenance. Under that is the engine and the booked run. Every agent role is the same Nemotron base model, which keeps the whole system under the 33B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build a CECL engine for the demo and call it a day. This mirrors a bank's actual month-end: extracts, controls, an official run, a booked number. RiskLens explains the booked number. The biggest lesson from our Dataiku workbench: its attribution was plugged, so a reconciliation PASS meant nothing. Here it is exact and has a real residual.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deterministic side. Each product has its own atomic PD, LGD and EAD models, with versions in a model inventory. The engine multiplies them per loan, per year and per scenario, sums over the life, weights the scenarios and adds overlays. One switch gives CECL, lifetime for all loans, or IFRS 9 with stages and discounting. The agents never run this math themselves; they call tools that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 part and the honest part. Because PD is a logistic curve and the components multiply, macro and credit effects interact; there is no single right split. We don't plug the gap. The engine re-runs swapping one input set at a time, which sums exactly, and we compare a reversed walk and exact Shapley. Unemployment is $4.25M in the walk and $4.41M by Shapley: same ranking, measured interaction. The agents read these numbers and say how robust the driver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 jobs, narrow toolbelts. The Credit agent can't change scenario weights and the Macro agent can't open borrower files. That keeps prompts short for a small model and makes every finding traceable to the tools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the agents produce, every number from a tool. Macro +$10.34M and credit +$7.48M are 93% of the move; growth is offset by runoff; model change is zero; weights add $1.88M. And it ties to the cent: residual zero is the team name. Sequential amounts are order dependent, so we check with a reversed walk and Shapley.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the story into the data, then hid the answer key. The agents found the same five facts independently. That's the difference between a demo and an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comparison: every model gets the same system prompt, the same 33 tools, the same seeded data and the same verifier. The local team on a 16 GB laptop scores 0.892, 89% of frontier, with 10 of 15 fully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base Nemotron Lightning, 3B active, scores 0.977 vs 0.997 for a frontier model on the same tools. 98%. On a held-out story with different answers, 0.959. The stock 4B on a laptop gets 0.77 on the five-question bench; it failed the model-change question by writing tool calls as text. The laptop 4B now scores 0.898 single-agent and 0.892 as a team on all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calling is where small models usually break. Here: right tool every time, two bad calls both recovered from the hint. And honest lessons from the laptop run: check the context window first, and score a give-up as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with the judges: on a 4B model on a laptop the team ties the single agent overall, 0.892 vs 0.898, both 10 of 15 fully right. But the team wins exactly the questions that need several specialists: reconciliation 1.00 vs 0.59, drivers, CRE. It loses where a long hand-off times out, top borrowers. And it costs about twice the time locally. So the design answer is routing: simple lookups go straight to one specialist, the team handles the investigations.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Gym does two jobs. As a referee, it exposes our 33 tools as endpoints and scores every answer against the hidden ground truth, so frontier, Lightning and the laptop 4B all took exactly the same test. As a coach, Nemotron's best-scoring investigations become training data: 540 rollouts, keep the ones scoring 0.95 or more, LoRA for about an hour on one A100, then re-score on a story it never saw: 0.751 to 0.939 with reasoning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Fine-tuned track. We trained Nemotron on its own best investigations, filtered by our verifier. On a story it never saw, with reasoning off, reward goes from 0.751 to 0.939 and it stops answering without tools: zero of 60 versus 14 of 60. That gets near reasoning-mode quality with about 40% fewer output tokens. Be honest about the limits: no gain when reasoning is on, and the CRE drill-down was not learned. Adapter is public on Hugging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Shark Tank moment. Banks already pay for the calculation. We sell the explanation, on their hardware. The value math is illustrative: five people, three days, monthly, at $120 an hour is about $173k a year per bank in analyst time alone. Say clearly these are assumptions to validate in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 design partner, GPU time, practitioner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huggingface.co/gcav66/nemotron-3.5-lightning-risklens-lora"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github.com/Luizkauffmann/Nvidia-Redhat-RiskLens"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researchandmarkets.com/reports/4535743/risk-analytics-market-share-analysis-industry" TargetMode="External"/><Relationship Id="rId2" Type="http://schemas.openxmlformats.org/officeDocument/2006/relationships/hyperlink" Target="https://bankingjournal.aba.com/2026/04/cecls-true-costs-come-into-focus/" TargetMode="External"/><Relationship Id="rId3" Type="http://schemas.openxmlformats.org/officeDocument/2006/relationships/hyperlink" Target="https://www.deloitte.com/content/dam/assets-shared/docs/industries/financial-services/2023/gx-fsi-sixth-ifrs-banking-survey.pdf" TargetMode="External"/><Relationship Id="rId4" Type="http://schemas.openxmlformats.org/officeDocument/2006/relationships/hyperlink" Target="https://bankingjournal.aba.com/2026/05/feds-bowman-calls-for-cecl-repeal/" TargetMode="External"/><Relationship Id="rId5" Type="http://schemas.openxmlformats.org/officeDocument/2006/relationships/hyperlink" Target="https://github.com/Luizkauffmann/Nvidia-Redhat-RiskLens" TargetMode="External"/><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502920"/>
            <a:ext cx="8046720" cy="274320"/>
          </a:xfrm>
          <a:prstGeom prst="rect">
            <a:avLst/>
          </a:prstGeom>
          <a:noFill/>
          <a:ln/>
        </p:spPr>
        <p:txBody>
          <a:bodyPr wrap="square" lIns="0" tIns="0" rIns="0" bIns="0" rtlCol="0" anchor="ctr"/>
          <a:lstStyle/>
          <a:p>
            <a:pPr indent="0" marL="0">
              <a:buNone/>
            </a:pPr>
            <a:r>
              <a:rPr lang="en-US" sz="1100" b="1" spc="200" kern="0" dirty="0">
                <a:solidFill>
                  <a:srgbClr val="76B900"/>
                </a:solidFill>
                <a:latin typeface="Arial" pitchFamily="34" charset="0"/>
                <a:ea typeface="Arial" pitchFamily="34" charset="-122"/>
                <a:cs typeface="Arial" pitchFamily="34" charset="-120"/>
              </a:rPr>
              <a:t>NVIDIA × RED HAT SMALL MODELS HACK  ·  MULTI-AGENT SYSTEMS TRACK</a:t>
            </a:r>
            <a:endParaRPr lang="en-US" sz="1100" dirty="0"/>
          </a:p>
        </p:txBody>
      </p:sp>
      <p:sp>
        <p:nvSpPr>
          <p:cNvPr id="3" name="Text 1"/>
          <p:cNvSpPr txBox="1"/>
          <p:nvPr/>
        </p:nvSpPr>
        <p:spPr>
          <a:xfrm>
            <a:off x="548640" y="1097280"/>
            <a:ext cx="804672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RiskLens AI</a:t>
            </a:r>
            <a:endParaRPr lang="en-US" sz="5400" dirty="0"/>
          </a:p>
        </p:txBody>
      </p:sp>
      <p:sp>
        <p:nvSpPr>
          <p:cNvPr id="4" name="Text 2"/>
          <p:cNvSpPr txBox="1"/>
          <p:nvPr/>
        </p:nvSpPr>
        <p:spPr>
          <a:xfrm>
            <a:off x="548640" y="2011680"/>
            <a:ext cx="8046720" cy="548640"/>
          </a:xfrm>
          <a:prstGeom prst="rect">
            <a:avLst/>
          </a:prstGeom>
          <a:noFill/>
          <a:ln/>
        </p:spPr>
        <p:txBody>
          <a:bodyPr wrap="square" lIns="0" tIns="0" rIns="0" bIns="0" rtlCol="0" anchor="ctr"/>
          <a:lstStyle/>
          <a:p>
            <a:pPr indent="0" marL="0">
              <a:buNone/>
            </a:pPr>
            <a:r>
              <a:rPr lang="en-US" sz="2600" i="1" dirty="0">
                <a:solidFill>
                  <a:srgbClr val="76B900"/>
                </a:solidFill>
                <a:latin typeface="Arial" pitchFamily="34" charset="0"/>
                <a:ea typeface="Arial" pitchFamily="34" charset="-122"/>
                <a:cs typeface="Arial" pitchFamily="34" charset="-120"/>
              </a:rPr>
              <a:t>Explain every dollar of credit loss.</a:t>
            </a:r>
            <a:endParaRPr lang="en-US" sz="2600" dirty="0"/>
          </a:p>
        </p:txBody>
      </p:sp>
      <p:sp>
        <p:nvSpPr>
          <p:cNvPr id="5" name="Text 3"/>
          <p:cNvSpPr txBox="1"/>
          <p:nvPr/>
        </p:nvSpPr>
        <p:spPr>
          <a:xfrm>
            <a:off x="548640" y="2743200"/>
            <a:ext cx="6949440" cy="822960"/>
          </a:xfrm>
          <a:prstGeom prst="rect">
            <a:avLst/>
          </a:prstGeom>
          <a:noFill/>
          <a:ln/>
        </p:spPr>
        <p:txBody>
          <a:bodyPr wrap="square" lIns="0" tIns="0" rIns="0" bIns="0" rtlCol="0" anchor="ctr"/>
          <a:lstStyle/>
          <a:p>
            <a:pPr indent="0" marL="0">
              <a:buNone/>
            </a:pPr>
            <a:r>
              <a:rPr lang="en-US" sz="1500" dirty="0">
                <a:solidFill>
                  <a:srgbClr val="C9D2DE"/>
                </a:solidFill>
                <a:latin typeface="Arial" pitchFamily="34" charset="0"/>
                <a:ea typeface="Arial" pitchFamily="34" charset="-122"/>
                <a:cs typeface="Arial" pitchFamily="34" charset="-120"/>
              </a:rPr>
              <a:t>A team of small NVIDIA Nemotron agents that investigates why the CECL / IFRS 9 allowance moved, using only deterministic risk tools, and reconciles every explanation back to the booked number.</a:t>
            </a:r>
            <a:endParaRPr lang="en-US" sz="1500" dirty="0"/>
          </a:p>
        </p:txBody>
      </p:sp>
      <p:sp>
        <p:nvSpPr>
          <p:cNvPr id="6" name="Text 4"/>
          <p:cNvSpPr txBox="1"/>
          <p:nvPr/>
        </p:nvSpPr>
        <p:spPr>
          <a:xfrm>
            <a:off x="548640" y="3977640"/>
            <a:ext cx="8046720" cy="5943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Team Residual Zero</a:t>
            </a:r>
            <a:endParaRPr lang="en-US" sz="1300" dirty="0"/>
          </a:p>
          <a:p>
            <a:pPr indent="0" marL="0">
              <a:buNone/>
            </a:pPr>
            <a:r>
              <a:rPr lang="en-US" sz="1300" dirty="0">
                <a:solidFill>
                  <a:srgbClr val="C9D2DE"/>
                </a:solidFill>
                <a:latin typeface="Arial" pitchFamily="34" charset="0"/>
                <a:ea typeface="Arial" pitchFamily="34" charset="-122"/>
                <a:cs typeface="Arial" pitchFamily="34" charset="-120"/>
              </a:rPr>
              <a:t>Luiz Kauffmann  ·  Andre John de Souza  ·  Gus Cavanaugh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The allowance moved $19.24M. Now explain it before the close</a:t>
            </a:r>
            <a:endParaRPr lang="en-US" sz="2600" dirty="0"/>
          </a:p>
        </p:txBody>
      </p:sp>
      <p:sp>
        <p:nvSpPr>
          <p:cNvPr id="4" name="Shape 2"/>
          <p:cNvSpPr/>
          <p:nvPr/>
        </p:nvSpPr>
        <p:spPr>
          <a:xfrm>
            <a:off x="457200" y="1188720"/>
            <a:ext cx="3749040" cy="3291840"/>
          </a:xfrm>
          <a:prstGeom prst="roundRect">
            <a:avLst>
              <a:gd name="adj" fmla="val 2222"/>
            </a:avLst>
          </a:prstGeom>
          <a:solidFill>
            <a:srgbClr val="0E1726"/>
          </a:solidFill>
          <a:ln w="12700">
            <a:solidFill>
              <a:srgbClr val="0E1726"/>
            </a:solidFill>
            <a:prstDash val="solid"/>
          </a:ln>
        </p:spPr>
      </p:sp>
      <p:sp>
        <p:nvSpPr>
          <p:cNvPr id="5" name="Text 3"/>
          <p:cNvSpPr txBox="1"/>
          <p:nvPr/>
        </p:nvSpPr>
        <p:spPr>
          <a:xfrm>
            <a:off x="685800" y="1371600"/>
            <a:ext cx="3383280" cy="274320"/>
          </a:xfrm>
          <a:prstGeom prst="rect">
            <a:avLst/>
          </a:prstGeom>
          <a:noFill/>
          <a:ln/>
        </p:spPr>
        <p:txBody>
          <a:bodyPr wrap="square" lIns="0" tIns="0" rIns="0" bIns="0" rtlCol="0" anchor="ctr"/>
          <a:lstStyle/>
          <a:p>
            <a:pPr indent="0" marL="0">
              <a:buNone/>
            </a:pPr>
            <a:r>
              <a:rPr lang="en-US" sz="1000" b="1" dirty="0">
                <a:solidFill>
                  <a:srgbClr val="76B900"/>
                </a:solidFill>
                <a:latin typeface="Arial" pitchFamily="34" charset="0"/>
                <a:ea typeface="Arial" pitchFamily="34" charset="-122"/>
                <a:cs typeface="Arial" pitchFamily="34" charset="-120"/>
              </a:rPr>
              <a:t>CECL ALLOWANCE (SYNTHETIC BANK, 50,000 LOANS)</a:t>
            </a:r>
            <a:endParaRPr lang="en-US" sz="1000" dirty="0"/>
          </a:p>
        </p:txBody>
      </p:sp>
      <p:sp>
        <p:nvSpPr>
          <p:cNvPr id="6" name="Text 4"/>
          <p:cNvSpPr txBox="1"/>
          <p:nvPr/>
        </p:nvSpPr>
        <p:spPr>
          <a:xfrm>
            <a:off x="685800" y="1737360"/>
            <a:ext cx="3383280" cy="1188720"/>
          </a:xfrm>
          <a:prstGeom prst="rect">
            <a:avLst/>
          </a:prstGeom>
          <a:noFill/>
          <a:ln/>
        </p:spPr>
        <p:txBody>
          <a:bodyPr wrap="square" lIns="0" tIns="0" rIns="0" bIns="0" rtlCol="0" anchor="ctr"/>
          <a:lstStyle/>
          <a:p>
            <a:pPr indent="0" marL="0">
              <a:spcAft>
                <a:spcPts val="400"/>
              </a:spcAft>
              <a:buNone/>
            </a:pPr>
            <a:r>
              <a:rPr lang="en-US" sz="1400" dirty="0">
                <a:solidFill>
                  <a:srgbClr val="AEB8C6"/>
                </a:solidFill>
                <a:latin typeface="Arial" pitchFamily="34" charset="0"/>
                <a:ea typeface="Arial" pitchFamily="34" charset="-122"/>
                <a:cs typeface="Arial" pitchFamily="34" charset="-120"/>
              </a:rPr>
              <a:t>Jul 31  </a:t>
            </a:r>
            <a:pPr indent="0" marL="0">
              <a:spcAft>
                <a:spcPts val="400"/>
              </a:spcAft>
              <a:buNone/>
            </a:pPr>
            <a:r>
              <a:rPr lang="en-US" sz="2800" b="1" dirty="0">
                <a:solidFill>
                  <a:srgbClr val="FFFFFF"/>
                </a:solidFill>
                <a:latin typeface="Arial" pitchFamily="34" charset="0"/>
                <a:ea typeface="Arial" pitchFamily="34" charset="-122"/>
                <a:cs typeface="Arial" pitchFamily="34" charset="-120"/>
              </a:rPr>
              <a:t>$99.06M</a:t>
            </a:r>
            <a:endParaRPr lang="en-US" sz="1400" dirty="0"/>
          </a:p>
          <a:p>
            <a:pPr indent="0" marL="0">
              <a:spcAft>
                <a:spcPts val="400"/>
              </a:spcAft>
              <a:buNone/>
            </a:pPr>
            <a:r>
              <a:rPr lang="en-US" sz="1400" dirty="0">
                <a:solidFill>
                  <a:srgbClr val="AEB8C6"/>
                </a:solidFill>
                <a:latin typeface="Arial" pitchFamily="34" charset="0"/>
                <a:ea typeface="Arial" pitchFamily="34" charset="-122"/>
                <a:cs typeface="Arial" pitchFamily="34" charset="-120"/>
              </a:rPr>
              <a:t>Aug 31  </a:t>
            </a:r>
            <a:pPr indent="0" marL="0">
              <a:spcAft>
                <a:spcPts val="400"/>
              </a:spcAft>
              <a:buNone/>
            </a:pPr>
            <a:r>
              <a:rPr lang="en-US" sz="2800" b="1" dirty="0">
                <a:solidFill>
                  <a:srgbClr val="FFFFFF"/>
                </a:solidFill>
                <a:latin typeface="Arial" pitchFamily="34" charset="0"/>
                <a:ea typeface="Arial" pitchFamily="34" charset="-122"/>
                <a:cs typeface="Arial" pitchFamily="34" charset="-120"/>
              </a:rPr>
              <a:t>$118.30M</a:t>
            </a:r>
            <a:endParaRPr lang="en-US" sz="1400" dirty="0"/>
          </a:p>
        </p:txBody>
      </p:sp>
      <p:sp>
        <p:nvSpPr>
          <p:cNvPr id="7" name="Text 5"/>
          <p:cNvSpPr txBox="1"/>
          <p:nvPr/>
        </p:nvSpPr>
        <p:spPr>
          <a:xfrm>
            <a:off x="685800" y="3017520"/>
            <a:ext cx="3383280" cy="731520"/>
          </a:xfrm>
          <a:prstGeom prst="rect">
            <a:avLst/>
          </a:prstGeom>
          <a:noFill/>
          <a:ln/>
        </p:spPr>
        <p:txBody>
          <a:bodyPr wrap="square" lIns="0" tIns="0" rIns="0" bIns="0" rtlCol="0" anchor="ctr"/>
          <a:lstStyle/>
          <a:p>
            <a:pPr indent="0" marL="0">
              <a:buNone/>
            </a:pPr>
            <a:r>
              <a:rPr lang="en-US" sz="4400" b="1" dirty="0">
                <a:solidFill>
                  <a:srgbClr val="76B900"/>
                </a:solidFill>
                <a:latin typeface="Arial" pitchFamily="34" charset="0"/>
                <a:ea typeface="Arial" pitchFamily="34" charset="-122"/>
                <a:cs typeface="Arial" pitchFamily="34" charset="-120"/>
              </a:rPr>
              <a:t>+$19.24M</a:t>
            </a:r>
            <a:endParaRPr lang="en-US" sz="4400" dirty="0"/>
          </a:p>
        </p:txBody>
      </p:sp>
      <p:sp>
        <p:nvSpPr>
          <p:cNvPr id="8" name="Text 6"/>
          <p:cNvSpPr txBox="1"/>
          <p:nvPr/>
        </p:nvSpPr>
        <p:spPr>
          <a:xfrm>
            <a:off x="685800" y="3749040"/>
            <a:ext cx="3383280" cy="457200"/>
          </a:xfrm>
          <a:prstGeom prst="rect">
            <a:avLst/>
          </a:prstGeom>
          <a:noFill/>
          <a:ln/>
        </p:spPr>
        <p:txBody>
          <a:bodyPr wrap="square" lIns="0" tIns="0" rIns="0" bIns="0" rtlCol="0" anchor="ctr"/>
          <a:lstStyle/>
          <a:p>
            <a:pPr indent="0" marL="0">
              <a:buNone/>
            </a:pPr>
            <a:r>
              <a:rPr lang="en-US" sz="1300" dirty="0">
                <a:solidFill>
                  <a:srgbClr val="C9D2DE"/>
                </a:solidFill>
                <a:latin typeface="Arial" pitchFamily="34" charset="0"/>
                <a:ea typeface="Arial" pitchFamily="34" charset="-122"/>
                <a:cs typeface="Arial" pitchFamily="34" charset="-120"/>
              </a:rPr>
              <a:t>+19.4% in one month, on a book that grew 0.3%</a:t>
            </a:r>
            <a:endParaRPr lang="en-US" sz="1300" dirty="0"/>
          </a:p>
        </p:txBody>
      </p:sp>
      <p:sp>
        <p:nvSpPr>
          <p:cNvPr id="9" name="Text 7"/>
          <p:cNvSpPr txBox="1"/>
          <p:nvPr/>
        </p:nvSpPr>
        <p:spPr>
          <a:xfrm>
            <a:off x="4572000" y="1188720"/>
            <a:ext cx="4114800" cy="32004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The questions the CFO, auditors and examiners ask</a:t>
            </a:r>
            <a:endParaRPr lang="en-US" sz="1400" dirty="0"/>
          </a:p>
        </p:txBody>
      </p:sp>
      <p:sp>
        <p:nvSpPr>
          <p:cNvPr id="10" name="Shape 8"/>
          <p:cNvSpPr/>
          <p:nvPr/>
        </p:nvSpPr>
        <p:spPr>
          <a:xfrm>
            <a:off x="4572000" y="1682496"/>
            <a:ext cx="310896" cy="310896"/>
          </a:xfrm>
          <a:prstGeom prst="ellipse">
            <a:avLst/>
          </a:prstGeom>
          <a:solidFill>
            <a:srgbClr val="76B900"/>
          </a:solidFill>
          <a:ln w="12700">
            <a:solidFill>
              <a:srgbClr val="76B900"/>
            </a:solidFill>
            <a:prstDash val="solid"/>
          </a:ln>
        </p:spPr>
      </p:sp>
      <p:sp>
        <p:nvSpPr>
          <p:cNvPr id="11" name="Text 9"/>
          <p:cNvSpPr txBox="1"/>
          <p:nvPr/>
        </p:nvSpPr>
        <p:spPr>
          <a:xfrm>
            <a:off x="4572000" y="1682496"/>
            <a:ext cx="310896" cy="310896"/>
          </a:xfrm>
          <a:prstGeom prst="rect">
            <a:avLst/>
          </a:prstGeom>
          <a:noFill/>
          <a:ln/>
        </p:spPr>
        <p:txBody>
          <a:bodyPr wrap="square" lIns="0" tIns="0" rIns="0" bIns="0" rtlCol="0" anchor="ctr"/>
          <a:lstStyle/>
          <a:p>
            <a:pPr algn="ctr" indent="0" marL="0">
              <a:buNone/>
            </a:pPr>
            <a:r>
              <a:rPr lang="en-US" sz="1200" b="1" dirty="0">
                <a:solidFill>
                  <a:srgbClr val="0E1726"/>
                </a:solidFill>
                <a:latin typeface="Arial" pitchFamily="34" charset="0"/>
                <a:ea typeface="Arial" pitchFamily="34" charset="-122"/>
                <a:cs typeface="Arial" pitchFamily="34" charset="-120"/>
              </a:rPr>
              <a:t>1</a:t>
            </a:r>
            <a:endParaRPr lang="en-US" sz="1200" dirty="0"/>
          </a:p>
        </p:txBody>
      </p:sp>
      <p:sp>
        <p:nvSpPr>
          <p:cNvPr id="12" name="Text 10"/>
          <p:cNvSpPr txBox="1"/>
          <p:nvPr/>
        </p:nvSpPr>
        <p:spPr>
          <a:xfrm>
            <a:off x="5029200" y="1645920"/>
            <a:ext cx="3657600" cy="384048"/>
          </a:xfrm>
          <a:prstGeom prst="rect">
            <a:avLst/>
          </a:prstGeom>
          <a:noFill/>
          <a:ln/>
        </p:spPr>
        <p:txBody>
          <a:bodyPr wrap="square" lIns="0" tIns="0" rIns="0" bIns="0" rtlCol="0" anchor="ctr"/>
          <a:lstStyle/>
          <a:p>
            <a:pPr indent="0" marL="0">
              <a:buNone/>
            </a:pPr>
            <a:r>
              <a:rPr lang="en-US" sz="1400" dirty="0">
                <a:solidFill>
                  <a:srgbClr val="1B2333"/>
                </a:solidFill>
                <a:latin typeface="Arial" pitchFamily="34" charset="0"/>
                <a:ea typeface="Arial" pitchFamily="34" charset="-122"/>
                <a:cs typeface="Arial" pitchFamily="34" charset="-120"/>
              </a:rPr>
              <a:t>Which portfolio caused it?</a:t>
            </a:r>
            <a:endParaRPr lang="en-US" sz="1400" dirty="0"/>
          </a:p>
        </p:txBody>
      </p:sp>
      <p:sp>
        <p:nvSpPr>
          <p:cNvPr id="13" name="Shape 11"/>
          <p:cNvSpPr/>
          <p:nvPr/>
        </p:nvSpPr>
        <p:spPr>
          <a:xfrm>
            <a:off x="4572000" y="2157984"/>
            <a:ext cx="310896" cy="310896"/>
          </a:xfrm>
          <a:prstGeom prst="ellipse">
            <a:avLst/>
          </a:prstGeom>
          <a:solidFill>
            <a:srgbClr val="76B900"/>
          </a:solidFill>
          <a:ln w="12700">
            <a:solidFill>
              <a:srgbClr val="76B900"/>
            </a:solidFill>
            <a:prstDash val="solid"/>
          </a:ln>
        </p:spPr>
      </p:sp>
      <p:sp>
        <p:nvSpPr>
          <p:cNvPr id="14" name="Text 12"/>
          <p:cNvSpPr txBox="1"/>
          <p:nvPr/>
        </p:nvSpPr>
        <p:spPr>
          <a:xfrm>
            <a:off x="4572000" y="2157984"/>
            <a:ext cx="310896" cy="310896"/>
          </a:xfrm>
          <a:prstGeom prst="rect">
            <a:avLst/>
          </a:prstGeom>
          <a:noFill/>
          <a:ln/>
        </p:spPr>
        <p:txBody>
          <a:bodyPr wrap="square" lIns="0" tIns="0" rIns="0" bIns="0" rtlCol="0" anchor="ctr"/>
          <a:lstStyle/>
          <a:p>
            <a:pPr algn="ctr" indent="0" marL="0">
              <a:buNone/>
            </a:pPr>
            <a:r>
              <a:rPr lang="en-US" sz="1200" b="1" dirty="0">
                <a:solidFill>
                  <a:srgbClr val="0E1726"/>
                </a:solidFill>
                <a:latin typeface="Arial" pitchFamily="34" charset="0"/>
                <a:ea typeface="Arial" pitchFamily="34" charset="-122"/>
                <a:cs typeface="Arial" pitchFamily="34" charset="-120"/>
              </a:rPr>
              <a:t>2</a:t>
            </a:r>
            <a:endParaRPr lang="en-US" sz="1200" dirty="0"/>
          </a:p>
        </p:txBody>
      </p:sp>
      <p:sp>
        <p:nvSpPr>
          <p:cNvPr id="15" name="Text 13"/>
          <p:cNvSpPr txBox="1"/>
          <p:nvPr/>
        </p:nvSpPr>
        <p:spPr>
          <a:xfrm>
            <a:off x="5029200" y="2121408"/>
            <a:ext cx="3657600" cy="384048"/>
          </a:xfrm>
          <a:prstGeom prst="rect">
            <a:avLst/>
          </a:prstGeom>
          <a:noFill/>
          <a:ln/>
        </p:spPr>
        <p:txBody>
          <a:bodyPr wrap="square" lIns="0" tIns="0" rIns="0" bIns="0" rtlCol="0" anchor="ctr"/>
          <a:lstStyle/>
          <a:p>
            <a:pPr indent="0" marL="0">
              <a:buNone/>
            </a:pPr>
            <a:r>
              <a:rPr lang="en-US" sz="1400" dirty="0">
                <a:solidFill>
                  <a:srgbClr val="1B2333"/>
                </a:solidFill>
                <a:latin typeface="Arial" pitchFamily="34" charset="0"/>
                <a:ea typeface="Arial" pitchFamily="34" charset="-122"/>
                <a:cs typeface="Arial" pitchFamily="34" charset="-120"/>
              </a:rPr>
              <a:t>Which borrowers should we look at?</a:t>
            </a:r>
            <a:endParaRPr lang="en-US" sz="1400" dirty="0"/>
          </a:p>
        </p:txBody>
      </p:sp>
      <p:sp>
        <p:nvSpPr>
          <p:cNvPr id="16" name="Shape 14"/>
          <p:cNvSpPr/>
          <p:nvPr/>
        </p:nvSpPr>
        <p:spPr>
          <a:xfrm>
            <a:off x="4572000" y="2633472"/>
            <a:ext cx="310896" cy="310896"/>
          </a:xfrm>
          <a:prstGeom prst="ellipse">
            <a:avLst/>
          </a:prstGeom>
          <a:solidFill>
            <a:srgbClr val="76B900"/>
          </a:solidFill>
          <a:ln w="12700">
            <a:solidFill>
              <a:srgbClr val="76B900"/>
            </a:solidFill>
            <a:prstDash val="solid"/>
          </a:ln>
        </p:spPr>
      </p:sp>
      <p:sp>
        <p:nvSpPr>
          <p:cNvPr id="17" name="Text 15"/>
          <p:cNvSpPr txBox="1"/>
          <p:nvPr/>
        </p:nvSpPr>
        <p:spPr>
          <a:xfrm>
            <a:off x="4572000" y="2633472"/>
            <a:ext cx="310896" cy="310896"/>
          </a:xfrm>
          <a:prstGeom prst="rect">
            <a:avLst/>
          </a:prstGeom>
          <a:noFill/>
          <a:ln/>
        </p:spPr>
        <p:txBody>
          <a:bodyPr wrap="square" lIns="0" tIns="0" rIns="0" bIns="0" rtlCol="0" anchor="ctr"/>
          <a:lstStyle/>
          <a:p>
            <a:pPr algn="ctr" indent="0" marL="0">
              <a:buNone/>
            </a:pPr>
            <a:r>
              <a:rPr lang="en-US" sz="1200" b="1" dirty="0">
                <a:solidFill>
                  <a:srgbClr val="0E1726"/>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5029200" y="2596896"/>
            <a:ext cx="3657600" cy="384048"/>
          </a:xfrm>
          <a:prstGeom prst="rect">
            <a:avLst/>
          </a:prstGeom>
          <a:noFill/>
          <a:ln/>
        </p:spPr>
        <p:txBody>
          <a:bodyPr wrap="square" lIns="0" tIns="0" rIns="0" bIns="0" rtlCol="0" anchor="ctr"/>
          <a:lstStyle/>
          <a:p>
            <a:pPr indent="0" marL="0">
              <a:buNone/>
            </a:pPr>
            <a:r>
              <a:rPr lang="en-US" sz="1400" dirty="0">
                <a:solidFill>
                  <a:srgbClr val="1B2333"/>
                </a:solidFill>
                <a:latin typeface="Arial" pitchFamily="34" charset="0"/>
                <a:ea typeface="Arial" pitchFamily="34" charset="-122"/>
                <a:cs typeface="Arial" pitchFamily="34" charset="-120"/>
              </a:rPr>
              <a:t>Macro forecast, credit quality or growth?</a:t>
            </a:r>
            <a:endParaRPr lang="en-US" sz="1400" dirty="0"/>
          </a:p>
        </p:txBody>
      </p:sp>
      <p:sp>
        <p:nvSpPr>
          <p:cNvPr id="19" name="Shape 17"/>
          <p:cNvSpPr/>
          <p:nvPr/>
        </p:nvSpPr>
        <p:spPr>
          <a:xfrm>
            <a:off x="4572000" y="3108960"/>
            <a:ext cx="310896" cy="310896"/>
          </a:xfrm>
          <a:prstGeom prst="ellipse">
            <a:avLst/>
          </a:prstGeom>
          <a:solidFill>
            <a:srgbClr val="76B900"/>
          </a:solidFill>
          <a:ln w="12700">
            <a:solidFill>
              <a:srgbClr val="76B900"/>
            </a:solidFill>
            <a:prstDash val="solid"/>
          </a:ln>
        </p:spPr>
      </p:sp>
      <p:sp>
        <p:nvSpPr>
          <p:cNvPr id="20" name="Text 18"/>
          <p:cNvSpPr txBox="1"/>
          <p:nvPr/>
        </p:nvSpPr>
        <p:spPr>
          <a:xfrm>
            <a:off x="4572000" y="3108960"/>
            <a:ext cx="310896" cy="310896"/>
          </a:xfrm>
          <a:prstGeom prst="rect">
            <a:avLst/>
          </a:prstGeom>
          <a:noFill/>
          <a:ln/>
        </p:spPr>
        <p:txBody>
          <a:bodyPr wrap="square" lIns="0" tIns="0" rIns="0" bIns="0" rtlCol="0" anchor="ctr"/>
          <a:lstStyle/>
          <a:p>
            <a:pPr algn="ctr" indent="0" marL="0">
              <a:buNone/>
            </a:pPr>
            <a:r>
              <a:rPr lang="en-US" sz="1200" b="1" dirty="0">
                <a:solidFill>
                  <a:srgbClr val="0E1726"/>
                </a:solidFill>
                <a:latin typeface="Arial" pitchFamily="34" charset="0"/>
                <a:ea typeface="Arial" pitchFamily="34" charset="-122"/>
                <a:cs typeface="Arial" pitchFamily="34" charset="-120"/>
              </a:rPr>
              <a:t>4</a:t>
            </a:r>
            <a:endParaRPr lang="en-US" sz="1200" dirty="0"/>
          </a:p>
        </p:txBody>
      </p:sp>
      <p:sp>
        <p:nvSpPr>
          <p:cNvPr id="21" name="Text 19"/>
          <p:cNvSpPr txBox="1"/>
          <p:nvPr/>
        </p:nvSpPr>
        <p:spPr>
          <a:xfrm>
            <a:off x="5029200" y="3072384"/>
            <a:ext cx="3657600" cy="384048"/>
          </a:xfrm>
          <a:prstGeom prst="rect">
            <a:avLst/>
          </a:prstGeom>
          <a:noFill/>
          <a:ln/>
        </p:spPr>
        <p:txBody>
          <a:bodyPr wrap="square" lIns="0" tIns="0" rIns="0" bIns="0" rtlCol="0" anchor="ctr"/>
          <a:lstStyle/>
          <a:p>
            <a:pPr indent="0" marL="0">
              <a:buNone/>
            </a:pPr>
            <a:r>
              <a:rPr lang="en-US" sz="1400" dirty="0">
                <a:solidFill>
                  <a:srgbClr val="1B2333"/>
                </a:solidFill>
                <a:latin typeface="Arial" pitchFamily="34" charset="0"/>
                <a:ea typeface="Arial" pitchFamily="34" charset="-122"/>
                <a:cs typeface="Arial" pitchFamily="34" charset="-120"/>
              </a:rPr>
              <a:t>Did we change a model or the weights?</a:t>
            </a:r>
            <a:endParaRPr lang="en-US" sz="1400" dirty="0"/>
          </a:p>
        </p:txBody>
      </p:sp>
      <p:sp>
        <p:nvSpPr>
          <p:cNvPr id="22" name="Shape 20"/>
          <p:cNvSpPr/>
          <p:nvPr/>
        </p:nvSpPr>
        <p:spPr>
          <a:xfrm>
            <a:off x="4572000" y="3584448"/>
            <a:ext cx="310896" cy="310896"/>
          </a:xfrm>
          <a:prstGeom prst="ellipse">
            <a:avLst/>
          </a:prstGeom>
          <a:solidFill>
            <a:srgbClr val="76B900"/>
          </a:solidFill>
          <a:ln w="12700">
            <a:solidFill>
              <a:srgbClr val="76B900"/>
            </a:solidFill>
            <a:prstDash val="solid"/>
          </a:ln>
        </p:spPr>
      </p:sp>
      <p:sp>
        <p:nvSpPr>
          <p:cNvPr id="23" name="Text 21"/>
          <p:cNvSpPr txBox="1"/>
          <p:nvPr/>
        </p:nvSpPr>
        <p:spPr>
          <a:xfrm>
            <a:off x="4572000" y="3584448"/>
            <a:ext cx="310896" cy="310896"/>
          </a:xfrm>
          <a:prstGeom prst="rect">
            <a:avLst/>
          </a:prstGeom>
          <a:noFill/>
          <a:ln/>
        </p:spPr>
        <p:txBody>
          <a:bodyPr wrap="square" lIns="0" tIns="0" rIns="0" bIns="0" rtlCol="0" anchor="ctr"/>
          <a:lstStyle/>
          <a:p>
            <a:pPr algn="ctr" indent="0" marL="0">
              <a:buNone/>
            </a:pPr>
            <a:r>
              <a:rPr lang="en-US" sz="1200" b="1" dirty="0">
                <a:solidFill>
                  <a:srgbClr val="0E1726"/>
                </a:solidFill>
                <a:latin typeface="Arial" pitchFamily="34" charset="0"/>
                <a:ea typeface="Arial" pitchFamily="34" charset="-122"/>
                <a:cs typeface="Arial" pitchFamily="34" charset="-120"/>
              </a:rPr>
              <a:t>5</a:t>
            </a:r>
            <a:endParaRPr lang="en-US" sz="1200" dirty="0"/>
          </a:p>
        </p:txBody>
      </p:sp>
      <p:sp>
        <p:nvSpPr>
          <p:cNvPr id="24" name="Text 22"/>
          <p:cNvSpPr txBox="1"/>
          <p:nvPr/>
        </p:nvSpPr>
        <p:spPr>
          <a:xfrm>
            <a:off x="5029200" y="3547872"/>
            <a:ext cx="3657600" cy="384048"/>
          </a:xfrm>
          <a:prstGeom prst="rect">
            <a:avLst/>
          </a:prstGeom>
          <a:noFill/>
          <a:ln/>
        </p:spPr>
        <p:txBody>
          <a:bodyPr wrap="square" lIns="0" tIns="0" rIns="0" bIns="0" rtlCol="0" anchor="ctr"/>
          <a:lstStyle/>
          <a:p>
            <a:pPr indent="0" marL="0">
              <a:buNone/>
            </a:pPr>
            <a:r>
              <a:rPr lang="en-US" sz="1400" dirty="0">
                <a:solidFill>
                  <a:srgbClr val="1B2333"/>
                </a:solidFill>
                <a:latin typeface="Arial" pitchFamily="34" charset="0"/>
                <a:ea typeface="Arial" pitchFamily="34" charset="-122"/>
                <a:cs typeface="Arial" pitchFamily="34" charset="-120"/>
              </a:rPr>
              <a:t>Does the explanation tie to the booked number?</a:t>
            </a:r>
            <a:endParaRPr lang="en-US" sz="1400" dirty="0"/>
          </a:p>
        </p:txBody>
      </p:sp>
      <p:sp>
        <p:nvSpPr>
          <p:cNvPr id="25" name="Text 23"/>
          <p:cNvSpPr txBox="1"/>
          <p:nvPr/>
        </p:nvSpPr>
        <p:spPr>
          <a:xfrm>
            <a:off x="4572000" y="4069080"/>
            <a:ext cx="4114800" cy="502920"/>
          </a:xfrm>
          <a:prstGeom prst="rect">
            <a:avLst/>
          </a:prstGeom>
          <a:noFill/>
          <a:ln/>
        </p:spPr>
        <p:txBody>
          <a:bodyPr wrap="square" lIns="0" tIns="0" rIns="0" bIns="0" rtlCol="0" anchor="ctr"/>
          <a:lstStyle/>
          <a:p>
            <a:pPr indent="0" marL="0">
              <a:buNone/>
            </a:pPr>
            <a:r>
              <a:rPr lang="en-US" sz="1200" i="1" dirty="0">
                <a:solidFill>
                  <a:srgbClr val="5B6577"/>
                </a:solidFill>
                <a:latin typeface="Arial" pitchFamily="34" charset="0"/>
                <a:ea typeface="Arial" pitchFamily="34" charset="-122"/>
                <a:cs typeface="Arial" pitchFamily="34" charset="-120"/>
              </a:rPr>
              <a:t>Today the answer is stitched together by hand across Finance, Credit Risk, Model Risk, economists and portfolio managers.</a:t>
            </a:r>
            <a:endParaRPr lang="en-US" sz="1200" dirty="0"/>
          </a:p>
        </p:txBody>
      </p:sp>
      <p:sp>
        <p:nvSpPr>
          <p:cNvPr id="26" name="Text 24"/>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Figures from the RiskLens synthetic bank (seed 20260831), produced by the deterministic CECL engine.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WHY EXPLAINING ECL IS HARD (CECL OR IFRS 9)</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Lifetime, forward-looking losses have many moving parts at once</a:t>
            </a:r>
            <a:endParaRPr lang="en-US" sz="2600" dirty="0"/>
          </a:p>
        </p:txBody>
      </p:sp>
      <p:sp>
        <p:nvSpPr>
          <p:cNvPr id="4" name="Shape 2"/>
          <p:cNvSpPr/>
          <p:nvPr/>
        </p:nvSpPr>
        <p:spPr>
          <a:xfrm>
            <a:off x="457200" y="1188720"/>
            <a:ext cx="2606040" cy="1508760"/>
          </a:xfrm>
          <a:prstGeom prst="roundRect">
            <a:avLst>
              <a:gd name="adj" fmla="val 4848"/>
            </a:avLst>
          </a:prstGeom>
          <a:solidFill>
            <a:srgbClr val="F2F4F7"/>
          </a:solidFill>
          <a:ln w="12700">
            <a:solidFill>
              <a:srgbClr val="F2F4F7"/>
            </a:solidFill>
            <a:prstDash val="solid"/>
          </a:ln>
        </p:spPr>
      </p:sp>
      <p:sp>
        <p:nvSpPr>
          <p:cNvPr id="5" name="Text 3"/>
          <p:cNvSpPr txBox="1"/>
          <p:nvPr/>
        </p:nvSpPr>
        <p:spPr>
          <a:xfrm>
            <a:off x="640080" y="1325880"/>
            <a:ext cx="2240280" cy="36576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Lifetime and forward-looking</a:t>
            </a:r>
            <a:endParaRPr lang="en-US" sz="1400" dirty="0"/>
          </a:p>
        </p:txBody>
      </p:sp>
      <p:sp>
        <p:nvSpPr>
          <p:cNvPr id="6" name="Text 4"/>
          <p:cNvSpPr txBox="1"/>
          <p:nvPr/>
        </p:nvSpPr>
        <p:spPr>
          <a:xfrm>
            <a:off x="640080" y="1719072"/>
            <a:ext cx="2240280" cy="86868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CECL books lifetime loss on day one; IFRS 9 adds stage moves between 12-month and lifetime ECL.</a:t>
            </a:r>
            <a:endParaRPr lang="en-US" sz="1200" dirty="0"/>
          </a:p>
        </p:txBody>
      </p:sp>
      <p:sp>
        <p:nvSpPr>
          <p:cNvPr id="7" name="Shape 5"/>
          <p:cNvSpPr/>
          <p:nvPr/>
        </p:nvSpPr>
        <p:spPr>
          <a:xfrm>
            <a:off x="3246120" y="1188720"/>
            <a:ext cx="2606040" cy="1508760"/>
          </a:xfrm>
          <a:prstGeom prst="roundRect">
            <a:avLst>
              <a:gd name="adj" fmla="val 4848"/>
            </a:avLst>
          </a:prstGeom>
          <a:solidFill>
            <a:srgbClr val="F2F4F7"/>
          </a:solidFill>
          <a:ln w="12700">
            <a:solidFill>
              <a:srgbClr val="F2F4F7"/>
            </a:solidFill>
            <a:prstDash val="solid"/>
          </a:ln>
        </p:spPr>
      </p:sp>
      <p:sp>
        <p:nvSpPr>
          <p:cNvPr id="8" name="Text 6"/>
          <p:cNvSpPr txBox="1"/>
          <p:nvPr/>
        </p:nvSpPr>
        <p:spPr>
          <a:xfrm>
            <a:off x="3429000" y="1325880"/>
            <a:ext cx="2240280" cy="36576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Scenarios and weights</a:t>
            </a:r>
            <a:endParaRPr lang="en-US" sz="1400" dirty="0"/>
          </a:p>
        </p:txBody>
      </p:sp>
      <p:sp>
        <p:nvSpPr>
          <p:cNvPr id="9" name="Text 7"/>
          <p:cNvSpPr txBox="1"/>
          <p:nvPr/>
        </p:nvSpPr>
        <p:spPr>
          <a:xfrm>
            <a:off x="3429000" y="1719072"/>
            <a:ext cx="2240280" cy="86868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Baseline, adverse and severe paths, re-forecast every vintage and re-weighted by committee.</a:t>
            </a:r>
            <a:endParaRPr lang="en-US" sz="1200" dirty="0"/>
          </a:p>
        </p:txBody>
      </p:sp>
      <p:sp>
        <p:nvSpPr>
          <p:cNvPr id="10" name="Shape 8"/>
          <p:cNvSpPr/>
          <p:nvPr/>
        </p:nvSpPr>
        <p:spPr>
          <a:xfrm>
            <a:off x="6035040" y="1188720"/>
            <a:ext cx="2606040" cy="1508760"/>
          </a:xfrm>
          <a:prstGeom prst="roundRect">
            <a:avLst>
              <a:gd name="adj" fmla="val 4848"/>
            </a:avLst>
          </a:prstGeom>
          <a:solidFill>
            <a:srgbClr val="F2F4F7"/>
          </a:solidFill>
          <a:ln w="12700">
            <a:solidFill>
              <a:srgbClr val="F2F4F7"/>
            </a:solidFill>
            <a:prstDash val="solid"/>
          </a:ln>
        </p:spPr>
      </p:sp>
      <p:sp>
        <p:nvSpPr>
          <p:cNvPr id="11" name="Text 9"/>
          <p:cNvSpPr txBox="1"/>
          <p:nvPr/>
        </p:nvSpPr>
        <p:spPr>
          <a:xfrm>
            <a:off x="6217920" y="1325880"/>
            <a:ext cx="2240280" cy="36576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Interactions</a:t>
            </a:r>
            <a:endParaRPr lang="en-US" sz="1400" dirty="0"/>
          </a:p>
        </p:txBody>
      </p:sp>
      <p:sp>
        <p:nvSpPr>
          <p:cNvPr id="12" name="Text 10"/>
          <p:cNvSpPr txBox="1"/>
          <p:nvPr/>
        </p:nvSpPr>
        <p:spPr>
          <a:xfrm>
            <a:off x="6217920" y="1719072"/>
            <a:ext cx="2240280" cy="86868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Macro, credit migration and exposure compound. A sequential walk depends on its order.</a:t>
            </a:r>
            <a:endParaRPr lang="en-US" sz="1200" dirty="0"/>
          </a:p>
        </p:txBody>
      </p:sp>
      <p:sp>
        <p:nvSpPr>
          <p:cNvPr id="13" name="Shape 11"/>
          <p:cNvSpPr/>
          <p:nvPr/>
        </p:nvSpPr>
        <p:spPr>
          <a:xfrm>
            <a:off x="457200" y="2880360"/>
            <a:ext cx="2606040" cy="1508760"/>
          </a:xfrm>
          <a:prstGeom prst="roundRect">
            <a:avLst>
              <a:gd name="adj" fmla="val 4848"/>
            </a:avLst>
          </a:prstGeom>
          <a:solidFill>
            <a:srgbClr val="F2F4F7"/>
          </a:solidFill>
          <a:ln w="12700">
            <a:solidFill>
              <a:srgbClr val="F2F4F7"/>
            </a:solidFill>
            <a:prstDash val="solid"/>
          </a:ln>
        </p:spPr>
      </p:sp>
      <p:sp>
        <p:nvSpPr>
          <p:cNvPr id="14" name="Text 12"/>
          <p:cNvSpPr txBox="1"/>
          <p:nvPr/>
        </p:nvSpPr>
        <p:spPr>
          <a:xfrm>
            <a:off x="640080" y="3017520"/>
            <a:ext cx="2240280" cy="36576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Judgment layers</a:t>
            </a:r>
            <a:endParaRPr lang="en-US" sz="1400" dirty="0"/>
          </a:p>
        </p:txBody>
      </p:sp>
      <p:sp>
        <p:nvSpPr>
          <p:cNvPr id="15" name="Text 13"/>
          <p:cNvSpPr txBox="1"/>
          <p:nvPr/>
        </p:nvSpPr>
        <p:spPr>
          <a:xfrm>
            <a:off x="640080" y="3410712"/>
            <a:ext cx="2240280" cy="86868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Management overlays and weight changes sit beside model output and must be shown separately.</a:t>
            </a:r>
            <a:endParaRPr lang="en-US" sz="1200" dirty="0"/>
          </a:p>
        </p:txBody>
      </p:sp>
      <p:sp>
        <p:nvSpPr>
          <p:cNvPr id="16" name="Shape 14"/>
          <p:cNvSpPr/>
          <p:nvPr/>
        </p:nvSpPr>
        <p:spPr>
          <a:xfrm>
            <a:off x="3246120" y="2880360"/>
            <a:ext cx="2606040" cy="1508760"/>
          </a:xfrm>
          <a:prstGeom prst="roundRect">
            <a:avLst>
              <a:gd name="adj" fmla="val 4848"/>
            </a:avLst>
          </a:prstGeom>
          <a:solidFill>
            <a:srgbClr val="F2F4F7"/>
          </a:solidFill>
          <a:ln w="12700">
            <a:solidFill>
              <a:srgbClr val="F2F4F7"/>
            </a:solidFill>
            <a:prstDash val="solid"/>
          </a:ln>
        </p:spPr>
      </p:sp>
      <p:sp>
        <p:nvSpPr>
          <p:cNvPr id="17" name="Text 15"/>
          <p:cNvSpPr txBox="1"/>
          <p:nvPr/>
        </p:nvSpPr>
        <p:spPr>
          <a:xfrm>
            <a:off x="3429000" y="3017520"/>
            <a:ext cx="2240280" cy="36576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Many owners</a:t>
            </a:r>
            <a:endParaRPr lang="en-US" sz="1400" dirty="0"/>
          </a:p>
        </p:txBody>
      </p:sp>
      <p:sp>
        <p:nvSpPr>
          <p:cNvPr id="18" name="Text 16"/>
          <p:cNvSpPr txBox="1"/>
          <p:nvPr/>
        </p:nvSpPr>
        <p:spPr>
          <a:xfrm>
            <a:off x="3429000" y="3410712"/>
            <a:ext cx="2240280" cy="86868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Exposure, ratings, forecasts, models and the GL each live with a different team.</a:t>
            </a:r>
            <a:endParaRPr lang="en-US" sz="1200" dirty="0"/>
          </a:p>
        </p:txBody>
      </p:sp>
      <p:sp>
        <p:nvSpPr>
          <p:cNvPr id="19" name="Shape 17"/>
          <p:cNvSpPr/>
          <p:nvPr/>
        </p:nvSpPr>
        <p:spPr>
          <a:xfrm>
            <a:off x="6035040" y="2880360"/>
            <a:ext cx="2606040" cy="1508760"/>
          </a:xfrm>
          <a:prstGeom prst="roundRect">
            <a:avLst>
              <a:gd name="adj" fmla="val 4848"/>
            </a:avLst>
          </a:prstGeom>
          <a:solidFill>
            <a:srgbClr val="F2F4F7"/>
          </a:solidFill>
          <a:ln w="12700">
            <a:solidFill>
              <a:srgbClr val="F2F4F7"/>
            </a:solidFill>
            <a:prstDash val="solid"/>
          </a:ln>
        </p:spPr>
      </p:sp>
      <p:sp>
        <p:nvSpPr>
          <p:cNvPr id="20" name="Text 18"/>
          <p:cNvSpPr txBox="1"/>
          <p:nvPr/>
        </p:nvSpPr>
        <p:spPr>
          <a:xfrm>
            <a:off x="6217920" y="3017520"/>
            <a:ext cx="2240280" cy="36576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It must tie out</a:t>
            </a:r>
            <a:endParaRPr lang="en-US" sz="1400" dirty="0"/>
          </a:p>
        </p:txBody>
      </p:sp>
      <p:sp>
        <p:nvSpPr>
          <p:cNvPr id="21" name="Text 19"/>
          <p:cNvSpPr txBox="1"/>
          <p:nvPr/>
        </p:nvSpPr>
        <p:spPr>
          <a:xfrm>
            <a:off x="6217920" y="3410712"/>
            <a:ext cx="2240280" cy="86868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Auditors expect drivers to sum to the booked change. Plugged residuals hide real gaps.</a:t>
            </a:r>
            <a:endParaRPr lang="en-US" sz="1200" dirty="0"/>
          </a:p>
        </p:txBody>
      </p:sp>
      <p:sp>
        <p:nvSpPr>
          <p:cNvPr id="22" name="Text 20"/>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Same investigation under ASC 326 (CECL) and IFRS 9. The RiskLens engine runs both frameworks on the same book.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THE MARKET</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Banks already pay for calculation. Explanation is still manual</a:t>
            </a:r>
            <a:endParaRPr lang="en-US" sz="2600" dirty="0"/>
          </a:p>
        </p:txBody>
      </p:sp>
      <p:sp>
        <p:nvSpPr>
          <p:cNvPr id="4" name="Text 2"/>
          <p:cNvSpPr txBox="1"/>
          <p:nvPr/>
        </p:nvSpPr>
        <p:spPr>
          <a:xfrm>
            <a:off x="457200" y="1188720"/>
            <a:ext cx="1600200" cy="685800"/>
          </a:xfrm>
          <a:prstGeom prst="rect">
            <a:avLst/>
          </a:prstGeom>
          <a:noFill/>
          <a:ln/>
        </p:spPr>
        <p:txBody>
          <a:bodyPr wrap="square" lIns="0" tIns="0" rIns="0" bIns="0" rtlCol="0" anchor="ctr"/>
          <a:lstStyle/>
          <a:p>
            <a:pPr indent="0" marL="0">
              <a:buNone/>
            </a:pPr>
            <a:r>
              <a:rPr lang="en-US" sz="3600" b="1" dirty="0">
                <a:solidFill>
                  <a:srgbClr val="4A7A00"/>
                </a:solidFill>
                <a:latin typeface="Arial" pitchFamily="34" charset="0"/>
                <a:ea typeface="Arial" pitchFamily="34" charset="-122"/>
                <a:cs typeface="Arial" pitchFamily="34" charset="-120"/>
              </a:rPr>
              <a:t>$47.3B</a:t>
            </a:r>
            <a:endParaRPr lang="en-US" sz="3600" dirty="0"/>
          </a:p>
        </p:txBody>
      </p:sp>
      <p:sp>
        <p:nvSpPr>
          <p:cNvPr id="5" name="Text 3"/>
          <p:cNvSpPr txBox="1"/>
          <p:nvPr/>
        </p:nvSpPr>
        <p:spPr>
          <a:xfrm>
            <a:off x="2103120" y="1188720"/>
            <a:ext cx="2331720" cy="9601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risk analytics market in 2026, heading to $76.5B by 2031 (10.1% CAGR)¹</a:t>
            </a:r>
            <a:endParaRPr lang="en-US" sz="1200" dirty="0"/>
          </a:p>
        </p:txBody>
      </p:sp>
      <p:sp>
        <p:nvSpPr>
          <p:cNvPr id="6" name="Text 4"/>
          <p:cNvSpPr txBox="1"/>
          <p:nvPr/>
        </p:nvSpPr>
        <p:spPr>
          <a:xfrm>
            <a:off x="4663440" y="1188720"/>
            <a:ext cx="1600200" cy="685800"/>
          </a:xfrm>
          <a:prstGeom prst="rect">
            <a:avLst/>
          </a:prstGeom>
          <a:noFill/>
          <a:ln/>
        </p:spPr>
        <p:txBody>
          <a:bodyPr wrap="square" lIns="0" tIns="0" rIns="0" bIns="0" rtlCol="0" anchor="ctr"/>
          <a:lstStyle/>
          <a:p>
            <a:pPr indent="0" marL="0">
              <a:buNone/>
            </a:pPr>
            <a:r>
              <a:rPr lang="en-US" sz="3600" b="1" dirty="0">
                <a:solidFill>
                  <a:srgbClr val="4A7A00"/>
                </a:solidFill>
                <a:latin typeface="Arial" pitchFamily="34" charset="0"/>
                <a:ea typeface="Arial" pitchFamily="34" charset="-122"/>
                <a:cs typeface="Arial" pitchFamily="34" charset="-120"/>
              </a:rPr>
              <a:t>70%</a:t>
            </a:r>
            <a:endParaRPr lang="en-US" sz="3600" dirty="0"/>
          </a:p>
        </p:txBody>
      </p:sp>
      <p:sp>
        <p:nvSpPr>
          <p:cNvPr id="7" name="Text 5"/>
          <p:cNvSpPr txBox="1"/>
          <p:nvPr/>
        </p:nvSpPr>
        <p:spPr>
          <a:xfrm>
            <a:off x="6309360" y="1188720"/>
            <a:ext cx="2331720" cy="9601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of community banks use third-party vendors to run or support their CECL estimate²</a:t>
            </a:r>
            <a:endParaRPr lang="en-US" sz="1200" dirty="0"/>
          </a:p>
        </p:txBody>
      </p:sp>
      <p:sp>
        <p:nvSpPr>
          <p:cNvPr id="8" name="Text 6"/>
          <p:cNvSpPr txBox="1"/>
          <p:nvPr/>
        </p:nvSpPr>
        <p:spPr>
          <a:xfrm>
            <a:off x="457200" y="2514600"/>
            <a:ext cx="1600200" cy="685800"/>
          </a:xfrm>
          <a:prstGeom prst="rect">
            <a:avLst/>
          </a:prstGeom>
          <a:noFill/>
          <a:ln/>
        </p:spPr>
        <p:txBody>
          <a:bodyPr wrap="square" lIns="0" tIns="0" rIns="0" bIns="0" rtlCol="0" anchor="ctr"/>
          <a:lstStyle/>
          <a:p>
            <a:pPr indent="0" marL="0">
              <a:buNone/>
            </a:pPr>
            <a:r>
              <a:rPr lang="en-US" sz="3600" b="1" dirty="0">
                <a:solidFill>
                  <a:srgbClr val="4A7A00"/>
                </a:solidFill>
                <a:latin typeface="Arial" pitchFamily="34" charset="0"/>
                <a:ea typeface="Arial" pitchFamily="34" charset="-122"/>
                <a:cs typeface="Arial" pitchFamily="34" charset="-120"/>
              </a:rPr>
              <a:t>57%</a:t>
            </a:r>
            <a:endParaRPr lang="en-US" sz="3600" dirty="0"/>
          </a:p>
        </p:txBody>
      </p:sp>
      <p:sp>
        <p:nvSpPr>
          <p:cNvPr id="9" name="Text 7"/>
          <p:cNvSpPr txBox="1"/>
          <p:nvPr/>
        </p:nvSpPr>
        <p:spPr>
          <a:xfrm>
            <a:off x="2103120" y="2514600"/>
            <a:ext cx="2331720" cy="9601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of community banks rely on third-party economic forecasts for CECL²</a:t>
            </a:r>
            <a:endParaRPr lang="en-US" sz="1200" dirty="0"/>
          </a:p>
        </p:txBody>
      </p:sp>
      <p:sp>
        <p:nvSpPr>
          <p:cNvPr id="10" name="Text 8"/>
          <p:cNvSpPr txBox="1"/>
          <p:nvPr/>
        </p:nvSpPr>
        <p:spPr>
          <a:xfrm>
            <a:off x="4663440" y="2514600"/>
            <a:ext cx="1600200" cy="685800"/>
          </a:xfrm>
          <a:prstGeom prst="rect">
            <a:avLst/>
          </a:prstGeom>
          <a:noFill/>
          <a:ln/>
        </p:spPr>
        <p:txBody>
          <a:bodyPr wrap="square" lIns="0" tIns="0" rIns="0" bIns="0" rtlCol="0" anchor="ctr"/>
          <a:lstStyle/>
          <a:p>
            <a:pPr indent="0" marL="0">
              <a:buNone/>
            </a:pPr>
            <a:r>
              <a:rPr lang="en-US" sz="3600" b="1" dirty="0">
                <a:solidFill>
                  <a:srgbClr val="4A7A00"/>
                </a:solidFill>
                <a:latin typeface="Arial" pitchFamily="34" charset="0"/>
                <a:ea typeface="Arial" pitchFamily="34" charset="-122"/>
                <a:cs typeface="Arial" pitchFamily="34" charset="-120"/>
              </a:rPr>
              <a:t>77%</a:t>
            </a:r>
            <a:endParaRPr lang="en-US" sz="3600" dirty="0"/>
          </a:p>
        </p:txBody>
      </p:sp>
      <p:sp>
        <p:nvSpPr>
          <p:cNvPr id="11" name="Text 9"/>
          <p:cNvSpPr txBox="1"/>
          <p:nvPr/>
        </p:nvSpPr>
        <p:spPr>
          <a:xfrm>
            <a:off x="6309360" y="2514600"/>
            <a:ext cx="2331720" cy="9601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of banks needed extra working days after year-end to produce IFRS 9 impairment figures³</a:t>
            </a:r>
            <a:endParaRPr lang="en-US" sz="1200" dirty="0"/>
          </a:p>
        </p:txBody>
      </p:sp>
      <p:sp>
        <p:nvSpPr>
          <p:cNvPr id="12" name="Shape 10"/>
          <p:cNvSpPr/>
          <p:nvPr/>
        </p:nvSpPr>
        <p:spPr>
          <a:xfrm>
            <a:off x="457200" y="3840480"/>
            <a:ext cx="8229600" cy="731520"/>
          </a:xfrm>
          <a:prstGeom prst="roundRect">
            <a:avLst>
              <a:gd name="adj" fmla="val 10000"/>
            </a:avLst>
          </a:prstGeom>
          <a:solidFill>
            <a:srgbClr val="F2F4F7"/>
          </a:solidFill>
          <a:ln w="12700">
            <a:solidFill>
              <a:srgbClr val="F2F4F7"/>
            </a:solidFill>
            <a:prstDash val="solid"/>
          </a:ln>
        </p:spPr>
      </p:sp>
      <p:sp>
        <p:nvSpPr>
          <p:cNvPr id="13" name="Text 11"/>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200" b="1" dirty="0">
                <a:solidFill>
                  <a:srgbClr val="1B2333"/>
                </a:solidFill>
                <a:latin typeface="Arial" pitchFamily="34" charset="0"/>
                <a:ea typeface="Arial" pitchFamily="34" charset="-122"/>
                <a:cs typeface="Arial" pitchFamily="34" charset="-120"/>
              </a:rPr>
              <a:t>Under scrutiny, explanation matters more. </a:t>
            </a:r>
            <a:pPr indent="0" marL="0">
              <a:buNone/>
            </a:pPr>
            <a:r>
              <a:rPr lang="en-US" sz="1200" dirty="0">
                <a:solidFill>
                  <a:srgbClr val="5B6577"/>
                </a:solidFill>
                <a:latin typeface="Arial" pitchFamily="34" charset="0"/>
                <a:ea typeface="Arial" pitchFamily="34" charset="-122"/>
                <a:cs typeface="Arial" pitchFamily="34" charset="-120"/>
              </a:rPr>
              <a:t>The Fed's Vice Chair for Supervision called for CECL repeal at a FASB roundtable in May 2026⁴; IFRS 9 stays in force abroad. Whatever the standard, the allowance and its movement still have to be explained.</a:t>
            </a:r>
            <a:endParaRPr lang="en-US" sz="1200" dirty="0"/>
          </a:p>
        </p:txBody>
      </p:sp>
      <p:sp>
        <p:nvSpPr>
          <p:cNvPr id="14" name="Text 12"/>
          <p:cNvSpPr txBox="1"/>
          <p:nvPr/>
        </p:nvSpPr>
        <p:spPr>
          <a:xfrm>
            <a:off x="457200" y="4645152"/>
            <a:ext cx="8229600" cy="4114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1 Mordor Intelligence via ResearchAndMarkets, Risk Analytics Market (2026).  2 ABA Banking Journal, “CECL’s true costs come into focus”, Apr 27, 2026 (ABA community bank survey).  3 Deloitte, Sixth Global IFRS Banking Survey, 2016 (91 banks).  4 ABA Banking Journal, May 12,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76B900"/>
                </a:solidFill>
                <a:latin typeface="Arial" pitchFamily="34" charset="0"/>
                <a:ea typeface="Arial" pitchFamily="34" charset="-122"/>
                <a:cs typeface="Arial" pitchFamily="34" charset="-120"/>
              </a:rPr>
              <a:t>OUR INSIGHT</a:t>
            </a:r>
            <a:endParaRPr lang="en-US" sz="1000" dirty="0"/>
          </a:p>
        </p:txBody>
      </p:sp>
      <p:sp>
        <p:nvSpPr>
          <p:cNvPr id="3" name="Text 1"/>
          <p:cNvSpPr txBox="1"/>
          <p:nvPr/>
        </p:nvSpPr>
        <p:spPr>
          <a:xfrm>
            <a:off x="457200" y="411480"/>
            <a:ext cx="8229600" cy="118872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Small models don't need to know everything. They need to know which risk tool to call next.</a:t>
            </a:r>
            <a:endParaRPr lang="en-US" sz="2800" dirty="0"/>
          </a:p>
        </p:txBody>
      </p:sp>
      <p:sp>
        <p:nvSpPr>
          <p:cNvPr id="4" name="Shape 2"/>
          <p:cNvSpPr/>
          <p:nvPr/>
        </p:nvSpPr>
        <p:spPr>
          <a:xfrm>
            <a:off x="457200" y="2011680"/>
            <a:ext cx="2606040" cy="2286000"/>
          </a:xfrm>
          <a:prstGeom prst="roundRect">
            <a:avLst>
              <a:gd name="adj" fmla="val 3200"/>
            </a:avLst>
          </a:prstGeom>
          <a:solidFill>
            <a:srgbClr val="1C2A3F"/>
          </a:solidFill>
          <a:ln w="12700">
            <a:solidFill>
              <a:srgbClr val="1C2A3F"/>
            </a:solidFill>
            <a:prstDash val="solid"/>
          </a:ln>
        </p:spPr>
      </p:sp>
      <p:sp>
        <p:nvSpPr>
          <p:cNvPr id="5" name="Text 3"/>
          <p:cNvSpPr txBox="1"/>
          <p:nvPr/>
        </p:nvSpPr>
        <p:spPr>
          <a:xfrm>
            <a:off x="640080" y="2148840"/>
            <a:ext cx="2240280" cy="411480"/>
          </a:xfrm>
          <a:prstGeom prst="rect">
            <a:avLst/>
          </a:prstGeom>
          <a:noFill/>
          <a:ln/>
        </p:spPr>
        <p:txBody>
          <a:bodyPr wrap="square" lIns="0" tIns="0" rIns="0" bIns="0" rtlCol="0" anchor="ctr"/>
          <a:lstStyle/>
          <a:p>
            <a:pPr indent="0" marL="0">
              <a:buNone/>
            </a:pPr>
            <a:r>
              <a:rPr lang="en-US" sz="1800" b="1" dirty="0">
                <a:solidFill>
                  <a:srgbClr val="76B900"/>
                </a:solidFill>
                <a:latin typeface="Arial" pitchFamily="34" charset="0"/>
                <a:ea typeface="Arial" pitchFamily="34" charset="-122"/>
                <a:cs typeface="Arial" pitchFamily="34" charset="-120"/>
              </a:rPr>
              <a:t>LLMs reason</a:t>
            </a:r>
            <a:endParaRPr lang="en-US" sz="1800" dirty="0"/>
          </a:p>
        </p:txBody>
      </p:sp>
      <p:sp>
        <p:nvSpPr>
          <p:cNvPr id="6" name="Text 4"/>
          <p:cNvSpPr txBox="1"/>
          <p:nvPr/>
        </p:nvSpPr>
        <p:spPr>
          <a:xfrm>
            <a:off x="640080" y="2606040"/>
            <a:ext cx="2240280" cy="1554480"/>
          </a:xfrm>
          <a:prstGeom prst="rect">
            <a:avLst/>
          </a:prstGeom>
          <a:noFill/>
          <a:ln/>
        </p:spPr>
        <p:txBody>
          <a:bodyPr wrap="square" lIns="0" tIns="0" rIns="0" bIns="0" rtlCol="0" anchor="t"/>
          <a:lstStyle/>
          <a:p>
            <a:pPr indent="0" marL="0">
              <a:buNone/>
            </a:pPr>
            <a:r>
              <a:rPr lang="en-US" sz="1300" dirty="0">
                <a:solidFill>
                  <a:srgbClr val="D5DCE6"/>
                </a:solidFill>
                <a:latin typeface="Arial" pitchFamily="34" charset="0"/>
                <a:ea typeface="Arial" pitchFamily="34" charset="-122"/>
                <a:cs typeface="Arial" pitchFamily="34" charset="-120"/>
              </a:rPr>
              <a:t>Read the question, plan the investigation, delegate to specialists, pick tools, write the explanation, separate fact from interpretation.</a:t>
            </a:r>
            <a:endParaRPr lang="en-US" sz="1300" dirty="0"/>
          </a:p>
        </p:txBody>
      </p:sp>
      <p:sp>
        <p:nvSpPr>
          <p:cNvPr id="7" name="Shape 5"/>
          <p:cNvSpPr/>
          <p:nvPr/>
        </p:nvSpPr>
        <p:spPr>
          <a:xfrm>
            <a:off x="3246120" y="2011680"/>
            <a:ext cx="2606040" cy="2286000"/>
          </a:xfrm>
          <a:prstGeom prst="roundRect">
            <a:avLst>
              <a:gd name="adj" fmla="val 3200"/>
            </a:avLst>
          </a:prstGeom>
          <a:solidFill>
            <a:srgbClr val="1C2A3F"/>
          </a:solidFill>
          <a:ln w="12700">
            <a:solidFill>
              <a:srgbClr val="1C2A3F"/>
            </a:solidFill>
            <a:prstDash val="solid"/>
          </a:ln>
        </p:spPr>
      </p:sp>
      <p:sp>
        <p:nvSpPr>
          <p:cNvPr id="8" name="Text 6"/>
          <p:cNvSpPr txBox="1"/>
          <p:nvPr/>
        </p:nvSpPr>
        <p:spPr>
          <a:xfrm>
            <a:off x="3429000" y="2148840"/>
            <a:ext cx="2240280" cy="411480"/>
          </a:xfrm>
          <a:prstGeom prst="rect">
            <a:avLst/>
          </a:prstGeom>
          <a:noFill/>
          <a:ln/>
        </p:spPr>
        <p:txBody>
          <a:bodyPr wrap="square" lIns="0" tIns="0" rIns="0" bIns="0" rtlCol="0" anchor="ctr"/>
          <a:lstStyle/>
          <a:p>
            <a:pPr indent="0" marL="0">
              <a:buNone/>
            </a:pPr>
            <a:r>
              <a:rPr lang="en-US" sz="1800" b="1" dirty="0">
                <a:solidFill>
                  <a:srgbClr val="76B900"/>
                </a:solidFill>
                <a:latin typeface="Arial" pitchFamily="34" charset="0"/>
                <a:ea typeface="Arial" pitchFamily="34" charset="-122"/>
                <a:cs typeface="Arial" pitchFamily="34" charset="-120"/>
              </a:rPr>
              <a:t>Python computes</a:t>
            </a:r>
            <a:endParaRPr lang="en-US" sz="1800" dirty="0"/>
          </a:p>
        </p:txBody>
      </p:sp>
      <p:sp>
        <p:nvSpPr>
          <p:cNvPr id="9" name="Text 7"/>
          <p:cNvSpPr txBox="1"/>
          <p:nvPr/>
        </p:nvSpPr>
        <p:spPr>
          <a:xfrm>
            <a:off x="3429000" y="2606040"/>
            <a:ext cx="2240280" cy="1554480"/>
          </a:xfrm>
          <a:prstGeom prst="rect">
            <a:avLst/>
          </a:prstGeom>
          <a:noFill/>
          <a:ln/>
        </p:spPr>
        <p:txBody>
          <a:bodyPr wrap="square" lIns="0" tIns="0" rIns="0" bIns="0" rtlCol="0" anchor="t"/>
          <a:lstStyle/>
          <a:p>
            <a:pPr indent="0" marL="0">
              <a:buNone/>
            </a:pPr>
            <a:r>
              <a:rPr lang="en-US" sz="1300" dirty="0">
                <a:solidFill>
                  <a:srgbClr val="D5DCE6"/>
                </a:solidFill>
                <a:latin typeface="Arial" pitchFamily="34" charset="0"/>
                <a:ea typeface="Arial" pitchFamily="34" charset="-122"/>
                <a:cs typeface="Arial" pitchFamily="34" charset="-120"/>
              </a:rPr>
              <a:t>33 deterministic tools over the booked CECL run: attribution, migration, macro Shapley, model inventory, reconciliation.</a:t>
            </a:r>
            <a:endParaRPr lang="en-US" sz="1300" dirty="0"/>
          </a:p>
        </p:txBody>
      </p:sp>
      <p:sp>
        <p:nvSpPr>
          <p:cNvPr id="10" name="Shape 8"/>
          <p:cNvSpPr/>
          <p:nvPr/>
        </p:nvSpPr>
        <p:spPr>
          <a:xfrm>
            <a:off x="6035040" y="2011680"/>
            <a:ext cx="2606040" cy="2286000"/>
          </a:xfrm>
          <a:prstGeom prst="roundRect">
            <a:avLst>
              <a:gd name="adj" fmla="val 3200"/>
            </a:avLst>
          </a:prstGeom>
          <a:solidFill>
            <a:srgbClr val="1C2A3F"/>
          </a:solidFill>
          <a:ln w="12700">
            <a:solidFill>
              <a:srgbClr val="1C2A3F"/>
            </a:solidFill>
            <a:prstDash val="solid"/>
          </a:ln>
        </p:spPr>
      </p:sp>
      <p:sp>
        <p:nvSpPr>
          <p:cNvPr id="11" name="Text 9"/>
          <p:cNvSpPr txBox="1"/>
          <p:nvPr/>
        </p:nvSpPr>
        <p:spPr>
          <a:xfrm>
            <a:off x="6217920" y="2148840"/>
            <a:ext cx="2240280" cy="411480"/>
          </a:xfrm>
          <a:prstGeom prst="rect">
            <a:avLst/>
          </a:prstGeom>
          <a:noFill/>
          <a:ln/>
        </p:spPr>
        <p:txBody>
          <a:bodyPr wrap="square" lIns="0" tIns="0" rIns="0" bIns="0" rtlCol="0" anchor="ctr"/>
          <a:lstStyle/>
          <a:p>
            <a:pPr indent="0" marL="0">
              <a:buNone/>
            </a:pPr>
            <a:r>
              <a:rPr lang="en-US" sz="1800" b="1" dirty="0">
                <a:solidFill>
                  <a:srgbClr val="76B900"/>
                </a:solidFill>
                <a:latin typeface="Arial" pitchFamily="34" charset="0"/>
                <a:ea typeface="Arial" pitchFamily="34" charset="-122"/>
                <a:cs typeface="Arial" pitchFamily="34" charset="-120"/>
              </a:rPr>
              <a:t>Guardrails verify</a:t>
            </a:r>
            <a:endParaRPr lang="en-US" sz="1800" dirty="0"/>
          </a:p>
        </p:txBody>
      </p:sp>
      <p:sp>
        <p:nvSpPr>
          <p:cNvPr id="12" name="Text 10"/>
          <p:cNvSpPr txBox="1"/>
          <p:nvPr/>
        </p:nvSpPr>
        <p:spPr>
          <a:xfrm>
            <a:off x="6217920" y="2606040"/>
            <a:ext cx="2240280" cy="1554480"/>
          </a:xfrm>
          <a:prstGeom prst="rect">
            <a:avLst/>
          </a:prstGeom>
          <a:noFill/>
          <a:ln/>
        </p:spPr>
        <p:txBody>
          <a:bodyPr wrap="square" lIns="0" tIns="0" rIns="0" bIns="0" rtlCol="0" anchor="t"/>
          <a:lstStyle/>
          <a:p>
            <a:pPr indent="0" marL="0">
              <a:buNone/>
            </a:pPr>
            <a:r>
              <a:rPr lang="en-US" sz="1300" dirty="0">
                <a:solidFill>
                  <a:srgbClr val="D5DCE6"/>
                </a:solidFill>
                <a:latin typeface="Arial" pitchFamily="34" charset="0"/>
                <a:ea typeface="Arial" pitchFamily="34" charset="-122"/>
                <a:cs typeface="Arial" pitchFamily="34" charset="-120"/>
              </a:rPr>
              <a:t>Every figure in an answer is checked against tool outputs. Every tool call is logged with a result hash.</a:t>
            </a:r>
            <a:endParaRPr lang="en-US" sz="1300" dirty="0"/>
          </a:p>
        </p:txBody>
      </p:sp>
      <p:sp>
        <p:nvSpPr>
          <p:cNvPr id="13" name="Text 11"/>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AEB8C6"/>
                </a:solidFill>
                <a:latin typeface="Arial" pitchFamily="34" charset="0"/>
                <a:ea typeface="Arial" pitchFamily="34" charset="-122"/>
                <a:cs typeface="Arial" pitchFamily="34" charset="-120"/>
              </a:rPr>
              <a:t>Rule one for every agent: never compute a number yourself.</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ARCHITECTURE</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How RiskLens is wired</a:t>
            </a:r>
            <a:endParaRPr lang="en-US" sz="2600" dirty="0"/>
          </a:p>
        </p:txBody>
      </p:sp>
      <p:sp>
        <p:nvSpPr>
          <p:cNvPr id="4" name="Shape 2"/>
          <p:cNvSpPr/>
          <p:nvPr/>
        </p:nvSpPr>
        <p:spPr>
          <a:xfrm>
            <a:off x="457200" y="1143000"/>
            <a:ext cx="1463040" cy="640080"/>
          </a:xfrm>
          <a:prstGeom prst="roundRect">
            <a:avLst>
              <a:gd name="adj" fmla="val 8571"/>
            </a:avLst>
          </a:prstGeom>
          <a:solidFill>
            <a:srgbClr val="F2F4F7"/>
          </a:solidFill>
          <a:ln w="12700">
            <a:solidFill>
              <a:srgbClr val="F2F4F7"/>
            </a:solidFill>
            <a:prstDash val="solid"/>
          </a:ln>
        </p:spPr>
      </p:sp>
      <p:sp>
        <p:nvSpPr>
          <p:cNvPr id="5" name="Text 3"/>
          <p:cNvSpPr txBox="1"/>
          <p:nvPr/>
        </p:nvSpPr>
        <p:spPr>
          <a:xfrm>
            <a:off x="457200" y="1143000"/>
            <a:ext cx="1463040" cy="64008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Risk analyst</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asks in plain English</a:t>
            </a:r>
            <a:endParaRPr lang="en-US" sz="1100" dirty="0"/>
          </a:p>
        </p:txBody>
      </p:sp>
      <p:sp>
        <p:nvSpPr>
          <p:cNvPr id="6" name="Shape 4"/>
          <p:cNvSpPr/>
          <p:nvPr/>
        </p:nvSpPr>
        <p:spPr>
          <a:xfrm>
            <a:off x="1920240" y="1463040"/>
            <a:ext cx="457200" cy="0"/>
          </a:xfrm>
          <a:prstGeom prst="line">
            <a:avLst/>
          </a:prstGeom>
          <a:noFill/>
          <a:ln w="15875">
            <a:solidFill>
              <a:srgbClr val="9AA4B2"/>
            </a:solidFill>
            <a:prstDash val="solid"/>
            <a:tailEnd type="triangle"/>
          </a:ln>
        </p:spPr>
      </p:sp>
      <p:sp>
        <p:nvSpPr>
          <p:cNvPr id="7" name="Shape 5"/>
          <p:cNvSpPr/>
          <p:nvPr/>
        </p:nvSpPr>
        <p:spPr>
          <a:xfrm>
            <a:off x="2377440" y="1097280"/>
            <a:ext cx="2743200" cy="731520"/>
          </a:xfrm>
          <a:prstGeom prst="roundRect">
            <a:avLst>
              <a:gd name="adj" fmla="val 7500"/>
            </a:avLst>
          </a:prstGeom>
          <a:solidFill>
            <a:srgbClr val="0E1726"/>
          </a:solidFill>
          <a:ln w="12700">
            <a:solidFill>
              <a:srgbClr val="0E1726"/>
            </a:solidFill>
            <a:prstDash val="solid"/>
          </a:ln>
        </p:spPr>
      </p:sp>
      <p:sp>
        <p:nvSpPr>
          <p:cNvPr id="8" name="Text 6"/>
          <p:cNvSpPr txBox="1"/>
          <p:nvPr/>
        </p:nvSpPr>
        <p:spPr>
          <a:xfrm>
            <a:off x="2377440" y="1097280"/>
            <a:ext cx="2743200" cy="7315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CECL Orchestrator</a:t>
            </a:r>
            <a:endParaRPr lang="en-US" sz="1100" dirty="0"/>
          </a:p>
          <a:p>
            <a:pPr algn="ctr" indent="0" marL="0">
              <a:buNone/>
            </a:pPr>
            <a:r>
              <a:rPr lang="en-US" sz="900" dirty="0">
                <a:solidFill>
                  <a:srgbClr val="C9D2DE"/>
                </a:solidFill>
                <a:latin typeface="Arial" pitchFamily="34" charset="0"/>
                <a:ea typeface="Arial" pitchFamily="34" charset="-122"/>
                <a:cs typeface="Arial" pitchFamily="34" charset="-120"/>
              </a:rPr>
              <a:t>plans · delegates via ask_&lt;agent&gt; · combines</a:t>
            </a:r>
            <a:endParaRPr lang="en-US" sz="1100" dirty="0"/>
          </a:p>
        </p:txBody>
      </p:sp>
      <p:sp>
        <p:nvSpPr>
          <p:cNvPr id="9" name="Shape 7"/>
          <p:cNvSpPr/>
          <p:nvPr/>
        </p:nvSpPr>
        <p:spPr>
          <a:xfrm>
            <a:off x="5852160" y="1097280"/>
            <a:ext cx="2834640" cy="731520"/>
          </a:xfrm>
          <a:prstGeom prst="roundRect">
            <a:avLst>
              <a:gd name="adj" fmla="val 7500"/>
            </a:avLst>
          </a:prstGeom>
          <a:solidFill>
            <a:srgbClr val="E8F3D2"/>
          </a:solidFill>
          <a:ln w="12700">
            <a:solidFill>
              <a:srgbClr val="E8F3D2"/>
            </a:solidFill>
            <a:prstDash val="solid"/>
          </a:ln>
        </p:spPr>
      </p:sp>
      <p:sp>
        <p:nvSpPr>
          <p:cNvPr id="10" name="Text 8"/>
          <p:cNvSpPr txBox="1"/>
          <p:nvPr/>
        </p:nvSpPr>
        <p:spPr>
          <a:xfrm>
            <a:off x="5852160" y="1097280"/>
            <a:ext cx="2834640" cy="7315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Guardrails</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grounding check · reconciliation PASS/WARN/FAIL</a:t>
            </a:r>
            <a:endParaRPr lang="en-US" sz="1100" dirty="0"/>
          </a:p>
        </p:txBody>
      </p:sp>
      <p:sp>
        <p:nvSpPr>
          <p:cNvPr id="11" name="Shape 9"/>
          <p:cNvSpPr/>
          <p:nvPr/>
        </p:nvSpPr>
        <p:spPr>
          <a:xfrm>
            <a:off x="5120640" y="1463040"/>
            <a:ext cx="731520" cy="0"/>
          </a:xfrm>
          <a:prstGeom prst="line">
            <a:avLst/>
          </a:prstGeom>
          <a:noFill/>
          <a:ln w="15875">
            <a:solidFill>
              <a:srgbClr val="9AA4B2"/>
            </a:solidFill>
            <a:prstDash val="solid"/>
            <a:tailEnd type="triangle"/>
          </a:ln>
        </p:spPr>
      </p:sp>
      <p:sp>
        <p:nvSpPr>
          <p:cNvPr id="12" name="Shape 10"/>
          <p:cNvSpPr/>
          <p:nvPr/>
        </p:nvSpPr>
        <p:spPr>
          <a:xfrm>
            <a:off x="457200" y="2148840"/>
            <a:ext cx="941832" cy="502920"/>
          </a:xfrm>
          <a:prstGeom prst="roundRect">
            <a:avLst>
              <a:gd name="adj" fmla="val 10909"/>
            </a:avLst>
          </a:prstGeom>
          <a:solidFill>
            <a:srgbClr val="DCEBC0"/>
          </a:solidFill>
          <a:ln w="12700">
            <a:solidFill>
              <a:srgbClr val="DCEBC0"/>
            </a:solidFill>
            <a:prstDash val="solid"/>
          </a:ln>
        </p:spPr>
      </p:sp>
      <p:sp>
        <p:nvSpPr>
          <p:cNvPr id="13" name="Text 11"/>
          <p:cNvSpPr txBox="1"/>
          <p:nvPr/>
        </p:nvSpPr>
        <p:spPr>
          <a:xfrm>
            <a:off x="457200"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Portfolio</a:t>
            </a:r>
            <a:endParaRPr lang="en-US" sz="1100" dirty="0"/>
          </a:p>
        </p:txBody>
      </p:sp>
      <p:sp>
        <p:nvSpPr>
          <p:cNvPr id="14" name="Shape 12"/>
          <p:cNvSpPr/>
          <p:nvPr/>
        </p:nvSpPr>
        <p:spPr>
          <a:xfrm>
            <a:off x="1495044" y="2148840"/>
            <a:ext cx="941832" cy="502920"/>
          </a:xfrm>
          <a:prstGeom prst="roundRect">
            <a:avLst>
              <a:gd name="adj" fmla="val 10909"/>
            </a:avLst>
          </a:prstGeom>
          <a:solidFill>
            <a:srgbClr val="DCEBC0"/>
          </a:solidFill>
          <a:ln w="12700">
            <a:solidFill>
              <a:srgbClr val="DCEBC0"/>
            </a:solidFill>
            <a:prstDash val="solid"/>
          </a:ln>
        </p:spPr>
      </p:sp>
      <p:sp>
        <p:nvSpPr>
          <p:cNvPr id="15" name="Text 13"/>
          <p:cNvSpPr txBox="1"/>
          <p:nvPr/>
        </p:nvSpPr>
        <p:spPr>
          <a:xfrm>
            <a:off x="1495044"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Credit</a:t>
            </a:r>
            <a:endParaRPr lang="en-US" sz="1100" dirty="0"/>
          </a:p>
        </p:txBody>
      </p:sp>
      <p:sp>
        <p:nvSpPr>
          <p:cNvPr id="16" name="Shape 14"/>
          <p:cNvSpPr/>
          <p:nvPr/>
        </p:nvSpPr>
        <p:spPr>
          <a:xfrm>
            <a:off x="2532888" y="2148840"/>
            <a:ext cx="941832" cy="502920"/>
          </a:xfrm>
          <a:prstGeom prst="roundRect">
            <a:avLst>
              <a:gd name="adj" fmla="val 10909"/>
            </a:avLst>
          </a:prstGeom>
          <a:solidFill>
            <a:srgbClr val="DCEBC0"/>
          </a:solidFill>
          <a:ln w="12700">
            <a:solidFill>
              <a:srgbClr val="DCEBC0"/>
            </a:solidFill>
            <a:prstDash val="solid"/>
          </a:ln>
        </p:spPr>
      </p:sp>
      <p:sp>
        <p:nvSpPr>
          <p:cNvPr id="17" name="Text 15"/>
          <p:cNvSpPr txBox="1"/>
          <p:nvPr/>
        </p:nvSpPr>
        <p:spPr>
          <a:xfrm>
            <a:off x="2532888"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Macro</a:t>
            </a:r>
            <a:endParaRPr lang="en-US" sz="1100" dirty="0"/>
          </a:p>
        </p:txBody>
      </p:sp>
      <p:sp>
        <p:nvSpPr>
          <p:cNvPr id="18" name="Shape 16"/>
          <p:cNvSpPr/>
          <p:nvPr/>
        </p:nvSpPr>
        <p:spPr>
          <a:xfrm>
            <a:off x="3570732" y="2148840"/>
            <a:ext cx="941832" cy="502920"/>
          </a:xfrm>
          <a:prstGeom prst="roundRect">
            <a:avLst>
              <a:gd name="adj" fmla="val 10909"/>
            </a:avLst>
          </a:prstGeom>
          <a:solidFill>
            <a:srgbClr val="DCEBC0"/>
          </a:solidFill>
          <a:ln w="12700">
            <a:solidFill>
              <a:srgbClr val="DCEBC0"/>
            </a:solidFill>
            <a:prstDash val="solid"/>
          </a:ln>
        </p:spPr>
      </p:sp>
      <p:sp>
        <p:nvSpPr>
          <p:cNvPr id="19" name="Text 17"/>
          <p:cNvSpPr txBox="1"/>
          <p:nvPr/>
        </p:nvSpPr>
        <p:spPr>
          <a:xfrm>
            <a:off x="3570732"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Model Risk</a:t>
            </a:r>
            <a:endParaRPr lang="en-US" sz="1100" dirty="0"/>
          </a:p>
        </p:txBody>
      </p:sp>
      <p:sp>
        <p:nvSpPr>
          <p:cNvPr id="20" name="Shape 18"/>
          <p:cNvSpPr/>
          <p:nvPr/>
        </p:nvSpPr>
        <p:spPr>
          <a:xfrm>
            <a:off x="4608576" y="2148840"/>
            <a:ext cx="941832" cy="502920"/>
          </a:xfrm>
          <a:prstGeom prst="roundRect">
            <a:avLst>
              <a:gd name="adj" fmla="val 10909"/>
            </a:avLst>
          </a:prstGeom>
          <a:solidFill>
            <a:srgbClr val="DCEBC0"/>
          </a:solidFill>
          <a:ln w="12700">
            <a:solidFill>
              <a:srgbClr val="DCEBC0"/>
            </a:solidFill>
            <a:prstDash val="solid"/>
          </a:ln>
        </p:spPr>
      </p:sp>
      <p:sp>
        <p:nvSpPr>
          <p:cNvPr id="21" name="Text 19"/>
          <p:cNvSpPr txBox="1"/>
          <p:nvPr/>
        </p:nvSpPr>
        <p:spPr>
          <a:xfrm>
            <a:off x="4608576"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Reconcil.</a:t>
            </a:r>
            <a:endParaRPr lang="en-US" sz="1100" dirty="0"/>
          </a:p>
        </p:txBody>
      </p:sp>
      <p:sp>
        <p:nvSpPr>
          <p:cNvPr id="22" name="Shape 20"/>
          <p:cNvSpPr/>
          <p:nvPr/>
        </p:nvSpPr>
        <p:spPr>
          <a:xfrm>
            <a:off x="5646420" y="2148840"/>
            <a:ext cx="941832" cy="502920"/>
          </a:xfrm>
          <a:prstGeom prst="roundRect">
            <a:avLst>
              <a:gd name="adj" fmla="val 10909"/>
            </a:avLst>
          </a:prstGeom>
          <a:solidFill>
            <a:srgbClr val="DCEBC0"/>
          </a:solidFill>
          <a:ln w="12700">
            <a:solidFill>
              <a:srgbClr val="DCEBC0"/>
            </a:solidFill>
            <a:prstDash val="solid"/>
          </a:ln>
        </p:spPr>
      </p:sp>
      <p:sp>
        <p:nvSpPr>
          <p:cNvPr id="23" name="Text 21"/>
          <p:cNvSpPr txBox="1"/>
          <p:nvPr/>
        </p:nvSpPr>
        <p:spPr>
          <a:xfrm>
            <a:off x="5646420"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Quant</a:t>
            </a:r>
            <a:endParaRPr lang="en-US" sz="1100" dirty="0"/>
          </a:p>
        </p:txBody>
      </p:sp>
      <p:sp>
        <p:nvSpPr>
          <p:cNvPr id="24" name="Shape 22"/>
          <p:cNvSpPr/>
          <p:nvPr/>
        </p:nvSpPr>
        <p:spPr>
          <a:xfrm>
            <a:off x="6684264" y="2148840"/>
            <a:ext cx="941832" cy="502920"/>
          </a:xfrm>
          <a:prstGeom prst="roundRect">
            <a:avLst>
              <a:gd name="adj" fmla="val 10909"/>
            </a:avLst>
          </a:prstGeom>
          <a:solidFill>
            <a:srgbClr val="DCEBC0"/>
          </a:solidFill>
          <a:ln w="12700">
            <a:solidFill>
              <a:srgbClr val="DCEBC0"/>
            </a:solidFill>
            <a:prstDash val="solid"/>
          </a:ln>
        </p:spPr>
      </p:sp>
      <p:sp>
        <p:nvSpPr>
          <p:cNvPr id="25" name="Text 23"/>
          <p:cNvSpPr txBox="1"/>
          <p:nvPr/>
        </p:nvSpPr>
        <p:spPr>
          <a:xfrm>
            <a:off x="6684264"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Reporting</a:t>
            </a:r>
            <a:endParaRPr lang="en-US" sz="1100" dirty="0"/>
          </a:p>
        </p:txBody>
      </p:sp>
      <p:sp>
        <p:nvSpPr>
          <p:cNvPr id="26" name="Shape 24"/>
          <p:cNvSpPr/>
          <p:nvPr/>
        </p:nvSpPr>
        <p:spPr>
          <a:xfrm>
            <a:off x="7722108" y="2148840"/>
            <a:ext cx="941832" cy="502920"/>
          </a:xfrm>
          <a:prstGeom prst="roundRect">
            <a:avLst>
              <a:gd name="adj" fmla="val 10909"/>
            </a:avLst>
          </a:prstGeom>
          <a:solidFill>
            <a:srgbClr val="DCEBC0"/>
          </a:solidFill>
          <a:ln w="12700">
            <a:solidFill>
              <a:srgbClr val="DCEBC0"/>
            </a:solidFill>
            <a:prstDash val="solid"/>
          </a:ln>
        </p:spPr>
      </p:sp>
      <p:sp>
        <p:nvSpPr>
          <p:cNvPr id="27" name="Text 25"/>
          <p:cNvSpPr txBox="1"/>
          <p:nvPr/>
        </p:nvSpPr>
        <p:spPr>
          <a:xfrm>
            <a:off x="7722108" y="2148840"/>
            <a:ext cx="941832" cy="502920"/>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Regulatory</a:t>
            </a:r>
            <a:endParaRPr lang="en-US" sz="1100" dirty="0"/>
          </a:p>
        </p:txBody>
      </p:sp>
      <p:sp>
        <p:nvSpPr>
          <p:cNvPr id="28" name="Shape 26"/>
          <p:cNvSpPr/>
          <p:nvPr/>
        </p:nvSpPr>
        <p:spPr>
          <a:xfrm>
            <a:off x="3749040" y="1828800"/>
            <a:ext cx="0" cy="320040"/>
          </a:xfrm>
          <a:prstGeom prst="line">
            <a:avLst/>
          </a:prstGeom>
          <a:noFill/>
          <a:ln w="15875">
            <a:solidFill>
              <a:srgbClr val="9AA4B2"/>
            </a:solidFill>
            <a:prstDash val="solid"/>
            <a:tailEnd type="triangle"/>
          </a:ln>
        </p:spPr>
      </p:sp>
      <p:sp>
        <p:nvSpPr>
          <p:cNvPr id="29" name="Shape 27"/>
          <p:cNvSpPr/>
          <p:nvPr/>
        </p:nvSpPr>
        <p:spPr>
          <a:xfrm>
            <a:off x="457200" y="2880360"/>
            <a:ext cx="8229600" cy="566928"/>
          </a:xfrm>
          <a:prstGeom prst="roundRect">
            <a:avLst>
              <a:gd name="adj" fmla="val 9677"/>
            </a:avLst>
          </a:prstGeom>
          <a:solidFill>
            <a:srgbClr val="F2F4F7"/>
          </a:solidFill>
          <a:ln w="12700">
            <a:solidFill>
              <a:srgbClr val="F2F4F7"/>
            </a:solidFill>
            <a:prstDash val="solid"/>
          </a:ln>
        </p:spPr>
      </p:sp>
      <p:sp>
        <p:nvSpPr>
          <p:cNvPr id="30" name="Text 28"/>
          <p:cNvSpPr txBox="1"/>
          <p:nvPr/>
        </p:nvSpPr>
        <p:spPr>
          <a:xfrm>
            <a:off x="457200" y="2880360"/>
            <a:ext cx="8229600" cy="566928"/>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33 JSON tools via call_tool()</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schema validation · argument repair · error hints for retry · provenance (call_id, params, timestamp, result SHA-256) · per-agent allow-lists</a:t>
            </a:r>
            <a:endParaRPr lang="en-US" sz="1100" dirty="0"/>
          </a:p>
        </p:txBody>
      </p:sp>
      <p:sp>
        <p:nvSpPr>
          <p:cNvPr id="31" name="Shape 29"/>
          <p:cNvSpPr/>
          <p:nvPr/>
        </p:nvSpPr>
        <p:spPr>
          <a:xfrm>
            <a:off x="4572000" y="2651760"/>
            <a:ext cx="0" cy="228600"/>
          </a:xfrm>
          <a:prstGeom prst="line">
            <a:avLst/>
          </a:prstGeom>
          <a:noFill/>
          <a:ln w="15875">
            <a:solidFill>
              <a:srgbClr val="9AA4B2"/>
            </a:solidFill>
            <a:prstDash val="solid"/>
            <a:tailEnd type="triangle"/>
          </a:ln>
        </p:spPr>
      </p:sp>
      <p:sp>
        <p:nvSpPr>
          <p:cNvPr id="32" name="Shape 30"/>
          <p:cNvSpPr/>
          <p:nvPr/>
        </p:nvSpPr>
        <p:spPr>
          <a:xfrm>
            <a:off x="457200" y="3657600"/>
            <a:ext cx="4846320" cy="566928"/>
          </a:xfrm>
          <a:prstGeom prst="roundRect">
            <a:avLst>
              <a:gd name="adj" fmla="val 9677"/>
            </a:avLst>
          </a:prstGeom>
          <a:solidFill>
            <a:srgbClr val="F2F4F7"/>
          </a:solidFill>
          <a:ln w="12700">
            <a:solidFill>
              <a:srgbClr val="F2F4F7"/>
            </a:solidFill>
            <a:prstDash val="solid"/>
          </a:ln>
        </p:spPr>
      </p:sp>
      <p:sp>
        <p:nvSpPr>
          <p:cNvPr id="33" name="Text 31"/>
          <p:cNvSpPr txBox="1"/>
          <p:nvPr/>
        </p:nvSpPr>
        <p:spPr>
          <a:xfrm>
            <a:off x="457200" y="3657600"/>
            <a:ext cx="4846320" cy="566928"/>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CECL / IFRS 9 engine + exact counterfactual attribution</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PD × LGD × EAD lifetime · 3 weighted scenarios · forward, reversed walk + Shapley</a:t>
            </a:r>
            <a:endParaRPr lang="en-US" sz="1100" dirty="0"/>
          </a:p>
        </p:txBody>
      </p:sp>
      <p:sp>
        <p:nvSpPr>
          <p:cNvPr id="34" name="Shape 32"/>
          <p:cNvSpPr/>
          <p:nvPr/>
        </p:nvSpPr>
        <p:spPr>
          <a:xfrm>
            <a:off x="5486400" y="3657600"/>
            <a:ext cx="3200400" cy="566928"/>
          </a:xfrm>
          <a:prstGeom prst="roundRect">
            <a:avLst>
              <a:gd name="adj" fmla="val 9677"/>
            </a:avLst>
          </a:prstGeom>
          <a:solidFill>
            <a:srgbClr val="F2F4F7"/>
          </a:solidFill>
          <a:ln w="12700">
            <a:solidFill>
              <a:srgbClr val="F2F4F7"/>
            </a:solidFill>
            <a:prstDash val="solid"/>
          </a:ln>
        </p:spPr>
      </p:sp>
      <p:sp>
        <p:nvSpPr>
          <p:cNvPr id="35" name="Text 33"/>
          <p:cNvSpPr txBox="1"/>
          <p:nvPr/>
        </p:nvSpPr>
        <p:spPr>
          <a:xfrm>
            <a:off x="5486400" y="3657600"/>
            <a:ext cx="3200400" cy="566928"/>
          </a:xfrm>
          <a:prstGeom prst="rect">
            <a:avLst/>
          </a:prstGeom>
          <a:noFill/>
          <a:ln/>
        </p:spPr>
        <p:txBody>
          <a:bodyPr wrap="square" lIns="25400" tIns="25400" rIns="25400" bIns="2540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Booked official runs</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July and August allowance, run log</a:t>
            </a:r>
            <a:endParaRPr lang="en-US" sz="1100" dirty="0"/>
          </a:p>
        </p:txBody>
      </p:sp>
      <p:sp>
        <p:nvSpPr>
          <p:cNvPr id="36" name="Shape 34"/>
          <p:cNvSpPr/>
          <p:nvPr/>
        </p:nvSpPr>
        <p:spPr>
          <a:xfrm>
            <a:off x="2880360" y="3447288"/>
            <a:ext cx="0" cy="210312"/>
          </a:xfrm>
          <a:prstGeom prst="line">
            <a:avLst/>
          </a:prstGeom>
          <a:noFill/>
          <a:ln w="15875">
            <a:solidFill>
              <a:srgbClr val="9AA4B2"/>
            </a:solidFill>
            <a:prstDash val="solid"/>
            <a:tailEnd type="triangle"/>
          </a:ln>
        </p:spPr>
      </p:sp>
      <p:sp>
        <p:nvSpPr>
          <p:cNvPr id="37" name="Shape 35"/>
          <p:cNvSpPr/>
          <p:nvPr/>
        </p:nvSpPr>
        <p:spPr>
          <a:xfrm>
            <a:off x="7086600" y="3447288"/>
            <a:ext cx="0" cy="210312"/>
          </a:xfrm>
          <a:prstGeom prst="line">
            <a:avLst/>
          </a:prstGeom>
          <a:noFill/>
          <a:ln w="15875">
            <a:solidFill>
              <a:srgbClr val="9AA4B2"/>
            </a:solidFill>
            <a:prstDash val="solid"/>
            <a:tailEnd type="triangle"/>
          </a:ln>
        </p:spPr>
      </p:sp>
      <p:sp>
        <p:nvSpPr>
          <p:cNvPr id="38" name="Text 36"/>
          <p:cNvSpPr txBox="1"/>
          <p:nvPr/>
        </p:nvSpPr>
        <p:spPr>
          <a:xfrm>
            <a:off x="457200" y="4389120"/>
            <a:ext cx="8229600" cy="411480"/>
          </a:xfrm>
          <a:prstGeom prst="rect">
            <a:avLst/>
          </a:prstGeom>
          <a:noFill/>
          <a:ln/>
        </p:spPr>
        <p:txBody>
          <a:bodyPr wrap="square" lIns="0" tIns="0" rIns="0" bIns="0" rtlCol="0" anchor="ctr"/>
          <a:lstStyle/>
          <a:p>
            <a:pPr indent="0" marL="0">
              <a:buNone/>
            </a:pPr>
            <a:r>
              <a:rPr lang="en-US" sz="1000" b="1" dirty="0">
                <a:solidFill>
                  <a:srgbClr val="4A7A00"/>
                </a:solidFill>
                <a:latin typeface="Arial" pitchFamily="34" charset="0"/>
                <a:ea typeface="Arial" pitchFamily="34" charset="-122"/>
                <a:cs typeface="Arial" pitchFamily="34" charset="-120"/>
              </a:rPr>
              <a:t>Models  </a:t>
            </a:r>
            <a:pPr indent="0" marL="0">
              <a:buNone/>
            </a:pPr>
            <a:r>
              <a:rPr lang="en-US" sz="1000" dirty="0">
                <a:solidFill>
                  <a:srgbClr val="1B2333"/>
                </a:solidFill>
                <a:latin typeface="Arial" pitchFamily="34" charset="0"/>
                <a:ea typeface="Arial" pitchFamily="34" charset="-122"/>
                <a:cs typeface="Arial" pitchFamily="34" charset="-120"/>
              </a:rPr>
              <a:t>Nemotron 3.5 Lightning (30B total, ~3B active) on Red Hat vLLM, NVIDIA Brev A100  ·  Nemotron 3 Nano 4B local (Ollama, laptop)  ·  </a:t>
            </a:r>
            <a:pPr indent="0" marL="0">
              <a:buNone/>
            </a:pPr>
            <a:r>
              <a:rPr lang="en-US" sz="1000" b="1" dirty="0">
                <a:solidFill>
                  <a:srgbClr val="4A7A00"/>
                </a:solidFill>
                <a:latin typeface="Arial" pitchFamily="34" charset="0"/>
                <a:ea typeface="Arial" pitchFamily="34" charset="-122"/>
                <a:cs typeface="Arial" pitchFamily="34" charset="-120"/>
              </a:rPr>
              <a:t>Eval  </a:t>
            </a:r>
            <a:pPr indent="0" marL="0">
              <a:buNone/>
            </a:pPr>
            <a:r>
              <a:rPr lang="en-US" sz="1000" dirty="0">
                <a:solidFill>
                  <a:srgbClr val="1B2333"/>
                </a:solidFill>
                <a:latin typeface="Arial" pitchFamily="34" charset="0"/>
                <a:ea typeface="Arial" pitchFamily="34" charset="-122"/>
                <a:cs typeface="Arial" pitchFamily="34" charset="-120"/>
              </a:rPr>
              <a:t>NeMo Gym environment + verifier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WHAT WE BROUGHT</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The agents sit on a real month-end CECL pipeline, not a toy</a:t>
            </a:r>
            <a:endParaRPr lang="en-US" sz="2600" dirty="0"/>
          </a:p>
        </p:txBody>
      </p:sp>
      <p:sp>
        <p:nvSpPr>
          <p:cNvPr id="4" name="Shape 2"/>
          <p:cNvSpPr/>
          <p:nvPr/>
        </p:nvSpPr>
        <p:spPr>
          <a:xfrm>
            <a:off x="457200" y="1188720"/>
            <a:ext cx="1920240" cy="1600200"/>
          </a:xfrm>
          <a:prstGeom prst="roundRect">
            <a:avLst>
              <a:gd name="adj" fmla="val 4571"/>
            </a:avLst>
          </a:prstGeom>
          <a:solidFill>
            <a:srgbClr val="F2F4F7"/>
          </a:solidFill>
          <a:ln w="12700">
            <a:solidFill>
              <a:srgbClr val="F2F4F7"/>
            </a:solidFill>
            <a:prstDash val="solid"/>
          </a:ln>
        </p:spPr>
      </p:sp>
      <p:sp>
        <p:nvSpPr>
          <p:cNvPr id="5" name="Shape 3"/>
          <p:cNvSpPr/>
          <p:nvPr/>
        </p:nvSpPr>
        <p:spPr>
          <a:xfrm>
            <a:off x="594360" y="1298448"/>
            <a:ext cx="347472" cy="347472"/>
          </a:xfrm>
          <a:prstGeom prst="ellipse">
            <a:avLst/>
          </a:prstGeom>
          <a:solidFill>
            <a:srgbClr val="76B900"/>
          </a:solidFill>
          <a:ln w="12700">
            <a:solidFill>
              <a:srgbClr val="76B900"/>
            </a:solidFill>
            <a:prstDash val="solid"/>
          </a:ln>
        </p:spPr>
      </p:sp>
      <p:sp>
        <p:nvSpPr>
          <p:cNvPr id="6" name="Text 4"/>
          <p:cNvSpPr txBox="1"/>
          <p:nvPr/>
        </p:nvSpPr>
        <p:spPr>
          <a:xfrm>
            <a:off x="594360" y="1298448"/>
            <a:ext cx="347472" cy="347472"/>
          </a:xfrm>
          <a:prstGeom prst="rect">
            <a:avLst/>
          </a:prstGeom>
          <a:noFill/>
          <a:ln/>
        </p:spPr>
        <p:txBody>
          <a:bodyPr wrap="square" lIns="0" tIns="0" rIns="0" bIns="0" rtlCol="0" anchor="ctr"/>
          <a:lstStyle/>
          <a:p>
            <a:pPr algn="ctr" indent="0" marL="0">
              <a:buNone/>
            </a:pPr>
            <a:r>
              <a:rPr lang="en-US" sz="1300" b="1" dirty="0">
                <a:solidFill>
                  <a:srgbClr val="0E1726"/>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024128" y="1298448"/>
            <a:ext cx="1280160" cy="347472"/>
          </a:xfrm>
          <a:prstGeom prst="rect">
            <a:avLst/>
          </a:prstGeom>
          <a:noFill/>
          <a:ln/>
        </p:spPr>
        <p:txBody>
          <a:bodyPr wrap="square" lIns="0" tIns="0" rIns="0" bIns="0" rtlCol="0" anchor="ctr"/>
          <a:lstStyle/>
          <a:p>
            <a:pPr indent="0" marL="0">
              <a:buNone/>
            </a:pPr>
            <a:r>
              <a:rPr lang="en-US" sz="1300" b="1" dirty="0">
                <a:solidFill>
                  <a:srgbClr val="1B2333"/>
                </a:solidFill>
                <a:latin typeface="Arial" pitchFamily="34" charset="0"/>
                <a:ea typeface="Arial" pitchFamily="34" charset="-122"/>
                <a:cs typeface="Arial" pitchFamily="34" charset="-120"/>
              </a:rPr>
              <a:t>Source extracts</a:t>
            </a:r>
            <a:endParaRPr lang="en-US" sz="1300" dirty="0"/>
          </a:p>
        </p:txBody>
      </p:sp>
      <p:sp>
        <p:nvSpPr>
          <p:cNvPr id="8" name="Text 6"/>
          <p:cNvSpPr txBox="1"/>
          <p:nvPr/>
        </p:nvSpPr>
        <p:spPr>
          <a:xfrm>
            <a:off x="594360" y="1737360"/>
            <a:ext cx="1691640" cy="100584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50k loans, counterparties, macro vintages, weights, overlays</a:t>
            </a:r>
            <a:endParaRPr lang="en-US" sz="1100" dirty="0"/>
          </a:p>
        </p:txBody>
      </p:sp>
      <p:sp>
        <p:nvSpPr>
          <p:cNvPr id="9" name="Shape 7"/>
          <p:cNvSpPr/>
          <p:nvPr/>
        </p:nvSpPr>
        <p:spPr>
          <a:xfrm>
            <a:off x="2560320" y="1188720"/>
            <a:ext cx="1920240" cy="1600200"/>
          </a:xfrm>
          <a:prstGeom prst="roundRect">
            <a:avLst>
              <a:gd name="adj" fmla="val 4571"/>
            </a:avLst>
          </a:prstGeom>
          <a:solidFill>
            <a:srgbClr val="F2F4F7"/>
          </a:solidFill>
          <a:ln w="12700">
            <a:solidFill>
              <a:srgbClr val="F2F4F7"/>
            </a:solidFill>
            <a:prstDash val="solid"/>
          </a:ln>
        </p:spPr>
      </p:sp>
      <p:sp>
        <p:nvSpPr>
          <p:cNvPr id="10" name="Shape 8"/>
          <p:cNvSpPr/>
          <p:nvPr/>
        </p:nvSpPr>
        <p:spPr>
          <a:xfrm>
            <a:off x="2697480" y="1298448"/>
            <a:ext cx="347472" cy="347472"/>
          </a:xfrm>
          <a:prstGeom prst="ellipse">
            <a:avLst/>
          </a:prstGeom>
          <a:solidFill>
            <a:srgbClr val="76B900"/>
          </a:solidFill>
          <a:ln w="12700">
            <a:solidFill>
              <a:srgbClr val="76B900"/>
            </a:solidFill>
            <a:prstDash val="solid"/>
          </a:ln>
        </p:spPr>
      </p:sp>
      <p:sp>
        <p:nvSpPr>
          <p:cNvPr id="11" name="Text 9"/>
          <p:cNvSpPr txBox="1"/>
          <p:nvPr/>
        </p:nvSpPr>
        <p:spPr>
          <a:xfrm>
            <a:off x="2697480" y="1298448"/>
            <a:ext cx="347472" cy="347472"/>
          </a:xfrm>
          <a:prstGeom prst="rect">
            <a:avLst/>
          </a:prstGeom>
          <a:noFill/>
          <a:ln/>
        </p:spPr>
        <p:txBody>
          <a:bodyPr wrap="square" lIns="0" tIns="0" rIns="0" bIns="0" rtlCol="0" anchor="ctr"/>
          <a:lstStyle/>
          <a:p>
            <a:pPr algn="ctr" indent="0" marL="0">
              <a:buNone/>
            </a:pPr>
            <a:r>
              <a:rPr lang="en-US" sz="1300" b="1" dirty="0">
                <a:solidFill>
                  <a:srgbClr val="0E1726"/>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3127248" y="1298448"/>
            <a:ext cx="1280160" cy="347472"/>
          </a:xfrm>
          <a:prstGeom prst="rect">
            <a:avLst/>
          </a:prstGeom>
          <a:noFill/>
          <a:ln/>
        </p:spPr>
        <p:txBody>
          <a:bodyPr wrap="square" lIns="0" tIns="0" rIns="0" bIns="0" rtlCol="0" anchor="ctr"/>
          <a:lstStyle/>
          <a:p>
            <a:pPr indent="0" marL="0">
              <a:buNone/>
            </a:pPr>
            <a:r>
              <a:rPr lang="en-US" sz="1300" b="1" dirty="0">
                <a:solidFill>
                  <a:srgbClr val="1B2333"/>
                </a:solidFill>
                <a:latin typeface="Arial" pitchFamily="34" charset="0"/>
                <a:ea typeface="Arial" pitchFamily="34" charset="-122"/>
                <a:cs typeface="Arial" pitchFamily="34" charset="-120"/>
              </a:rPr>
              <a:t>Pre-run controls</a:t>
            </a:r>
            <a:endParaRPr lang="en-US" sz="1300" dirty="0"/>
          </a:p>
        </p:txBody>
      </p:sp>
      <p:sp>
        <p:nvSpPr>
          <p:cNvPr id="13" name="Text 11"/>
          <p:cNvSpPr txBox="1"/>
          <p:nvPr/>
        </p:nvSpPr>
        <p:spPr>
          <a:xfrm>
            <a:off x="2697480" y="1737360"/>
            <a:ext cx="1691640" cy="100584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17 checks: data quality, model approval, weights</a:t>
            </a:r>
            <a:endParaRPr lang="en-US" sz="1100" dirty="0"/>
          </a:p>
        </p:txBody>
      </p:sp>
      <p:sp>
        <p:nvSpPr>
          <p:cNvPr id="14" name="Shape 12"/>
          <p:cNvSpPr/>
          <p:nvPr/>
        </p:nvSpPr>
        <p:spPr>
          <a:xfrm>
            <a:off x="4663440" y="1188720"/>
            <a:ext cx="1920240" cy="1600200"/>
          </a:xfrm>
          <a:prstGeom prst="roundRect">
            <a:avLst>
              <a:gd name="adj" fmla="val 4571"/>
            </a:avLst>
          </a:prstGeom>
          <a:solidFill>
            <a:srgbClr val="F2F4F7"/>
          </a:solidFill>
          <a:ln w="12700">
            <a:solidFill>
              <a:srgbClr val="F2F4F7"/>
            </a:solidFill>
            <a:prstDash val="solid"/>
          </a:ln>
        </p:spPr>
      </p:sp>
      <p:sp>
        <p:nvSpPr>
          <p:cNvPr id="15" name="Shape 13"/>
          <p:cNvSpPr/>
          <p:nvPr/>
        </p:nvSpPr>
        <p:spPr>
          <a:xfrm>
            <a:off x="4800600" y="1298448"/>
            <a:ext cx="347472" cy="347472"/>
          </a:xfrm>
          <a:prstGeom prst="ellipse">
            <a:avLst/>
          </a:prstGeom>
          <a:solidFill>
            <a:srgbClr val="76B900"/>
          </a:solidFill>
          <a:ln w="12700">
            <a:solidFill>
              <a:srgbClr val="76B900"/>
            </a:solidFill>
            <a:prstDash val="solid"/>
          </a:ln>
        </p:spPr>
      </p:sp>
      <p:sp>
        <p:nvSpPr>
          <p:cNvPr id="16" name="Text 14"/>
          <p:cNvSpPr txBox="1"/>
          <p:nvPr/>
        </p:nvSpPr>
        <p:spPr>
          <a:xfrm>
            <a:off x="4800600" y="1298448"/>
            <a:ext cx="347472" cy="347472"/>
          </a:xfrm>
          <a:prstGeom prst="rect">
            <a:avLst/>
          </a:prstGeom>
          <a:noFill/>
          <a:ln/>
        </p:spPr>
        <p:txBody>
          <a:bodyPr wrap="square" lIns="0" tIns="0" rIns="0" bIns="0" rtlCol="0" anchor="ctr"/>
          <a:lstStyle/>
          <a:p>
            <a:pPr algn="ctr" indent="0" marL="0">
              <a:buNone/>
            </a:pPr>
            <a:r>
              <a:rPr lang="en-US" sz="1300" b="1" dirty="0">
                <a:solidFill>
                  <a:srgbClr val="0E1726"/>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5230368" y="1298448"/>
            <a:ext cx="1280160" cy="347472"/>
          </a:xfrm>
          <a:prstGeom prst="rect">
            <a:avLst/>
          </a:prstGeom>
          <a:noFill/>
          <a:ln/>
        </p:spPr>
        <p:txBody>
          <a:bodyPr wrap="square" lIns="0" tIns="0" rIns="0" bIns="0" rtlCol="0" anchor="ctr"/>
          <a:lstStyle/>
          <a:p>
            <a:pPr indent="0" marL="0">
              <a:buNone/>
            </a:pPr>
            <a:r>
              <a:rPr lang="en-US" sz="1300" b="1" dirty="0">
                <a:solidFill>
                  <a:srgbClr val="1B2333"/>
                </a:solidFill>
                <a:latin typeface="Arial" pitchFamily="34" charset="0"/>
                <a:ea typeface="Arial" pitchFamily="34" charset="-122"/>
                <a:cs typeface="Arial" pitchFamily="34" charset="-120"/>
              </a:rPr>
              <a:t>Official run</a:t>
            </a:r>
            <a:endParaRPr lang="en-US" sz="1300" dirty="0"/>
          </a:p>
        </p:txBody>
      </p:sp>
      <p:sp>
        <p:nvSpPr>
          <p:cNvPr id="18" name="Text 16"/>
          <p:cNvSpPr txBox="1"/>
          <p:nvPr/>
        </p:nvSpPr>
        <p:spPr>
          <a:xfrm>
            <a:off x="4800600" y="1737360"/>
            <a:ext cx="1691640" cy="100584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Lifetime PD × LGD × EAD, 3 scenarios weighted, CECL and IFRS 9</a:t>
            </a:r>
            <a:endParaRPr lang="en-US" sz="1100" dirty="0"/>
          </a:p>
        </p:txBody>
      </p:sp>
      <p:sp>
        <p:nvSpPr>
          <p:cNvPr id="19" name="Shape 17"/>
          <p:cNvSpPr/>
          <p:nvPr/>
        </p:nvSpPr>
        <p:spPr>
          <a:xfrm>
            <a:off x="6766560" y="1188720"/>
            <a:ext cx="1920240" cy="1600200"/>
          </a:xfrm>
          <a:prstGeom prst="roundRect">
            <a:avLst>
              <a:gd name="adj" fmla="val 4571"/>
            </a:avLst>
          </a:prstGeom>
          <a:solidFill>
            <a:srgbClr val="F2F4F7"/>
          </a:solidFill>
          <a:ln w="12700">
            <a:solidFill>
              <a:srgbClr val="F2F4F7"/>
            </a:solidFill>
            <a:prstDash val="solid"/>
          </a:ln>
        </p:spPr>
      </p:sp>
      <p:sp>
        <p:nvSpPr>
          <p:cNvPr id="20" name="Shape 18"/>
          <p:cNvSpPr/>
          <p:nvPr/>
        </p:nvSpPr>
        <p:spPr>
          <a:xfrm>
            <a:off x="6903720" y="1298448"/>
            <a:ext cx="347472" cy="347472"/>
          </a:xfrm>
          <a:prstGeom prst="ellipse">
            <a:avLst/>
          </a:prstGeom>
          <a:solidFill>
            <a:srgbClr val="76B900"/>
          </a:solidFill>
          <a:ln w="12700">
            <a:solidFill>
              <a:srgbClr val="76B900"/>
            </a:solidFill>
            <a:prstDash val="solid"/>
          </a:ln>
        </p:spPr>
      </p:sp>
      <p:sp>
        <p:nvSpPr>
          <p:cNvPr id="21" name="Text 19"/>
          <p:cNvSpPr txBox="1"/>
          <p:nvPr/>
        </p:nvSpPr>
        <p:spPr>
          <a:xfrm>
            <a:off x="6903720" y="1298448"/>
            <a:ext cx="347472" cy="347472"/>
          </a:xfrm>
          <a:prstGeom prst="rect">
            <a:avLst/>
          </a:prstGeom>
          <a:noFill/>
          <a:ln/>
        </p:spPr>
        <p:txBody>
          <a:bodyPr wrap="square" lIns="0" tIns="0" rIns="0" bIns="0" rtlCol="0" anchor="ctr"/>
          <a:lstStyle/>
          <a:p>
            <a:pPr algn="ctr" indent="0" marL="0">
              <a:buNone/>
            </a:pPr>
            <a:r>
              <a:rPr lang="en-US" sz="1300" b="1" dirty="0">
                <a:solidFill>
                  <a:srgbClr val="0E1726"/>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7333488" y="1298448"/>
            <a:ext cx="1280160" cy="347472"/>
          </a:xfrm>
          <a:prstGeom prst="rect">
            <a:avLst/>
          </a:prstGeom>
          <a:noFill/>
          <a:ln/>
        </p:spPr>
        <p:txBody>
          <a:bodyPr wrap="square" lIns="0" tIns="0" rIns="0" bIns="0" rtlCol="0" anchor="ctr"/>
          <a:lstStyle/>
          <a:p>
            <a:pPr indent="0" marL="0">
              <a:buNone/>
            </a:pPr>
            <a:r>
              <a:rPr lang="en-US" sz="1300" b="1" dirty="0">
                <a:solidFill>
                  <a:srgbClr val="1B2333"/>
                </a:solidFill>
                <a:latin typeface="Arial" pitchFamily="34" charset="0"/>
                <a:ea typeface="Arial" pitchFamily="34" charset="-122"/>
                <a:cs typeface="Arial" pitchFamily="34" charset="-120"/>
              </a:rPr>
              <a:t>Booked allowance</a:t>
            </a:r>
            <a:endParaRPr lang="en-US" sz="1300" dirty="0"/>
          </a:p>
        </p:txBody>
      </p:sp>
      <p:sp>
        <p:nvSpPr>
          <p:cNvPr id="23" name="Text 21"/>
          <p:cNvSpPr txBox="1"/>
          <p:nvPr/>
        </p:nvSpPr>
        <p:spPr>
          <a:xfrm>
            <a:off x="6903720" y="1737360"/>
            <a:ext cx="1691640" cy="100584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Results + run log: what the tools read and reconcile to</a:t>
            </a:r>
            <a:endParaRPr lang="en-US" sz="1100" dirty="0"/>
          </a:p>
        </p:txBody>
      </p:sp>
      <p:sp>
        <p:nvSpPr>
          <p:cNvPr id="24" name="Text 22"/>
          <p:cNvSpPr txBox="1"/>
          <p:nvPr/>
        </p:nvSpPr>
        <p:spPr>
          <a:xfrm>
            <a:off x="457200" y="3017520"/>
            <a:ext cx="8229600" cy="32004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Lessons carried over from our Dataiku ECL workbench</a:t>
            </a:r>
            <a:endParaRPr lang="en-US" sz="1400" dirty="0"/>
          </a:p>
        </p:txBody>
      </p:sp>
      <p:sp>
        <p:nvSpPr>
          <p:cNvPr id="25" name="Text 23"/>
          <p:cNvSpPr txBox="1"/>
          <p:nvPr/>
        </p:nvSpPr>
        <p:spPr>
          <a:xfrm>
            <a:off x="457200" y="3383280"/>
            <a:ext cx="2606040" cy="1325880"/>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Plugged → exact</a:t>
            </a:r>
            <a:endParaRPr lang="en-US" sz="1100" dirty="0"/>
          </a:p>
          <a:p>
            <a:pPr indent="0" marL="0">
              <a:buNone/>
            </a:pPr>
            <a:r>
              <a:rPr lang="en-US" sz="1100" dirty="0">
                <a:solidFill>
                  <a:srgbClr val="1B2333"/>
                </a:solidFill>
                <a:latin typeface="Arial" pitchFamily="34" charset="0"/>
                <a:ea typeface="Arial" pitchFamily="34" charset="-122"/>
                <a:cs typeface="Arial" pitchFamily="34" charset="-120"/>
              </a:rPr>
              <a:t>The old waterfall rescaled drivers to hit the total, so its residual was zero by construction. We rebuilt it as a counterfactual walk with a genuine residual, checked by a reversed walk and Shapley.</a:t>
            </a:r>
            <a:endParaRPr lang="en-US" sz="1100" dirty="0"/>
          </a:p>
        </p:txBody>
      </p:sp>
      <p:sp>
        <p:nvSpPr>
          <p:cNvPr id="26" name="Text 24"/>
          <p:cNvSpPr txBox="1"/>
          <p:nvPr/>
        </p:nvSpPr>
        <p:spPr>
          <a:xfrm>
            <a:off x="3246120" y="3383280"/>
            <a:ext cx="2606040" cy="1325880"/>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Known answer</a:t>
            </a:r>
            <a:endParaRPr lang="en-US" sz="1100" dirty="0"/>
          </a:p>
          <a:p>
            <a:pPr indent="0" marL="0">
              <a:buNone/>
            </a:pPr>
            <a:r>
              <a:rPr lang="en-US" sz="1100" dirty="0">
                <a:solidFill>
                  <a:srgbClr val="1B2333"/>
                </a:solidFill>
                <a:latin typeface="Arial" pitchFamily="34" charset="0"/>
                <a:ea typeface="Arial" pitchFamily="34" charset="-122"/>
                <a:cs typeface="Arial" pitchFamily="34" charset="-120"/>
              </a:rPr>
              <a:t>Injected story (macro, ~20 CRE downgrades, $40M new CRE, runoff, no model change) with hidden ground truth, so agents are scored, not admired.</a:t>
            </a:r>
            <a:endParaRPr lang="en-US" sz="1100" dirty="0"/>
          </a:p>
        </p:txBody>
      </p:sp>
      <p:sp>
        <p:nvSpPr>
          <p:cNvPr id="27" name="Text 25"/>
          <p:cNvSpPr txBox="1"/>
          <p:nvPr/>
        </p:nvSpPr>
        <p:spPr>
          <a:xfrm>
            <a:off x="6035040" y="3383280"/>
            <a:ext cx="2606040" cy="1325880"/>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Real data ready</a:t>
            </a:r>
            <a:endParaRPr lang="en-US" sz="1100" dirty="0"/>
          </a:p>
          <a:p>
            <a:pPr indent="0" marL="0">
              <a:buNone/>
            </a:pPr>
            <a:r>
              <a:rPr lang="en-US" sz="1100" dirty="0">
                <a:solidFill>
                  <a:srgbClr val="1B2333"/>
                </a:solidFill>
                <a:latin typeface="Arial" pitchFamily="34" charset="0"/>
                <a:ea typeface="Arial" pitchFamily="34" charset="-122"/>
                <a:cs typeface="Arial" pitchFamily="34" charset="-120"/>
              </a:rPr>
              <a:t>Point RISKLENS_DATA_DIR at extracts with the same columns (e.g. from Dataiku) and rerun. No code changes.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INSIDE THE DETERMINISTIC ENGINE</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Atomic PD, LGD and EAD models feed one engine that books CECL and IFRS 9</a:t>
            </a:r>
            <a:endParaRPr lang="en-US" sz="2600" dirty="0"/>
          </a:p>
        </p:txBody>
      </p:sp>
      <p:sp>
        <p:nvSpPr>
          <p:cNvPr id="4" name="Text 2"/>
          <p:cNvSpPr txBox="1"/>
          <p:nvPr/>
        </p:nvSpPr>
        <p:spPr>
          <a:xfrm>
            <a:off x="457200" y="1143000"/>
            <a:ext cx="1783080" cy="256032"/>
          </a:xfrm>
          <a:prstGeom prst="rect">
            <a:avLst/>
          </a:prstGeom>
          <a:noFill/>
          <a:ln/>
        </p:spPr>
        <p:txBody>
          <a:bodyPr wrap="square" lIns="0" tIns="0" rIns="0" bIns="0" rtlCol="0" anchor="ctr"/>
          <a:lstStyle/>
          <a:p>
            <a:pPr indent="0" marL="0">
              <a:buNone/>
            </a:pPr>
            <a:r>
              <a:rPr lang="en-US" sz="1000" b="1" spc="100" kern="0" dirty="0">
                <a:solidFill>
                  <a:srgbClr val="4A7A00"/>
                </a:solidFill>
                <a:latin typeface="Arial" pitchFamily="34" charset="0"/>
                <a:ea typeface="Arial" pitchFamily="34" charset="-122"/>
                <a:cs typeface="Arial" pitchFamily="34" charset="-120"/>
              </a:rPr>
              <a:t>INPUTS</a:t>
            </a:r>
            <a:endParaRPr lang="en-US" sz="1000" dirty="0"/>
          </a:p>
        </p:txBody>
      </p:sp>
      <p:sp>
        <p:nvSpPr>
          <p:cNvPr id="5" name="Shape 3"/>
          <p:cNvSpPr/>
          <p:nvPr/>
        </p:nvSpPr>
        <p:spPr>
          <a:xfrm>
            <a:off x="457200" y="1435608"/>
            <a:ext cx="1783080" cy="2770632"/>
          </a:xfrm>
          <a:prstGeom prst="roundRect">
            <a:avLst>
              <a:gd name="adj" fmla="val 4103"/>
            </a:avLst>
          </a:prstGeom>
          <a:solidFill>
            <a:srgbClr val="F2F4F7"/>
          </a:solidFill>
          <a:ln w="12700">
            <a:solidFill>
              <a:srgbClr val="F2F4F7"/>
            </a:solidFill>
            <a:prstDash val="solid"/>
          </a:ln>
        </p:spPr>
      </p:sp>
      <p:sp>
        <p:nvSpPr>
          <p:cNvPr id="6" name="Text 4"/>
          <p:cNvSpPr txBox="1"/>
          <p:nvPr/>
        </p:nvSpPr>
        <p:spPr>
          <a:xfrm>
            <a:off x="566928" y="1508760"/>
            <a:ext cx="1600200" cy="2606040"/>
          </a:xfrm>
          <a:prstGeom prst="rect">
            <a:avLst/>
          </a:prstGeom>
          <a:noFill/>
          <a:ln/>
        </p:spPr>
        <p:txBody>
          <a:bodyPr wrap="square" lIns="0" tIns="0" rIns="0" bIns="0" rtlCol="0" anchor="t"/>
          <a:lstStyle/>
          <a:p>
            <a:pPr indent="0" marL="0">
              <a:spcAft>
                <a:spcPts val="200"/>
              </a:spcAft>
              <a:buNone/>
            </a:pPr>
            <a:r>
              <a:rPr lang="en-US" sz="1000" b="1" dirty="0">
                <a:solidFill>
                  <a:srgbClr val="1B2333"/>
                </a:solidFill>
                <a:latin typeface="Arial" pitchFamily="34" charset="0"/>
                <a:ea typeface="Arial" pitchFamily="34" charset="-122"/>
                <a:cs typeface="Arial" pitchFamily="34" charset="-120"/>
              </a:rPr>
              <a:t>Loan snapshot</a:t>
            </a:r>
            <a:endParaRPr lang="en-US" sz="1000" dirty="0"/>
          </a:p>
          <a:p>
            <a:pPr indent="0" marL="0">
              <a:spcAft>
                <a:spcPts val="200"/>
              </a:spcAft>
              <a:buNone/>
            </a:pPr>
            <a:r>
              <a:rPr lang="en-US" sz="1000" dirty="0">
                <a:solidFill>
                  <a:srgbClr val="5B6577"/>
                </a:solidFill>
                <a:latin typeface="Arial" pitchFamily="34" charset="0"/>
                <a:ea typeface="Arial" pitchFamily="34" charset="-122"/>
                <a:cs typeface="Arial" pitchFamily="34" charset="-120"/>
              </a:rPr>
              <a:t>balance, term, undrawn, rating, DSCR, LTV, FICO, DTI, days past due</a:t>
            </a:r>
            <a:endParaRPr lang="en-US" sz="1000" dirty="0"/>
          </a:p>
          <a:p>
            <a:pPr indent="0" marL="0">
              <a:spcAft>
                <a:spcPts val="200"/>
              </a:spcAft>
              <a:buNone/>
            </a:pPr>
            <a:r>
              <a:rPr lang="en-US" sz="1000" b="1" dirty="0">
                <a:solidFill>
                  <a:srgbClr val="1B2333"/>
                </a:solidFill>
                <a:latin typeface="Arial" pitchFamily="34" charset="0"/>
                <a:ea typeface="Arial" pitchFamily="34" charset="-122"/>
                <a:cs typeface="Arial" pitchFamily="34" charset="-120"/>
              </a:rPr>
              <a:t>Macro paths</a:t>
            </a:r>
            <a:endParaRPr lang="en-US" sz="1000" dirty="0"/>
          </a:p>
          <a:p>
            <a:pPr indent="0" marL="0">
              <a:spcAft>
                <a:spcPts val="200"/>
              </a:spcAft>
              <a:buNone/>
            </a:pPr>
            <a:r>
              <a:rPr lang="en-US" sz="1000" dirty="0">
                <a:solidFill>
                  <a:srgbClr val="5B6577"/>
                </a:solidFill>
                <a:latin typeface="Arial" pitchFamily="34" charset="0"/>
                <a:ea typeface="Arial" pitchFamily="34" charset="-122"/>
                <a:cs typeface="Arial" pitchFamily="34" charset="-120"/>
              </a:rPr>
              <a:t>6 variables × 3 scenarios, 8 quarters + reversion</a:t>
            </a:r>
            <a:endParaRPr lang="en-US" sz="1000" dirty="0"/>
          </a:p>
          <a:p>
            <a:pPr indent="0" marL="0">
              <a:spcAft>
                <a:spcPts val="200"/>
              </a:spcAft>
              <a:buNone/>
            </a:pPr>
            <a:r>
              <a:rPr lang="en-US" sz="1000" b="1" dirty="0">
                <a:solidFill>
                  <a:srgbClr val="1B2333"/>
                </a:solidFill>
                <a:latin typeface="Arial" pitchFamily="34" charset="0"/>
                <a:ea typeface="Arial" pitchFamily="34" charset="-122"/>
                <a:cs typeface="Arial" pitchFamily="34" charset="-120"/>
              </a:rPr>
              <a:t>Committee choices</a:t>
            </a:r>
            <a:endParaRPr lang="en-US" sz="1000" dirty="0"/>
          </a:p>
          <a:p>
            <a:pPr indent="0" marL="0">
              <a:spcAft>
                <a:spcPts val="200"/>
              </a:spcAft>
              <a:buNone/>
            </a:pPr>
            <a:r>
              <a:rPr lang="en-US" sz="1000" dirty="0">
                <a:solidFill>
                  <a:srgbClr val="5B6577"/>
                </a:solidFill>
                <a:latin typeface="Arial" pitchFamily="34" charset="0"/>
                <a:ea typeface="Arial" pitchFamily="34" charset="-122"/>
                <a:cs typeface="Arial" pitchFamily="34" charset="-120"/>
              </a:rPr>
              <a:t>scenario weights, overlays</a:t>
            </a:r>
            <a:endParaRPr lang="en-US" sz="1000" dirty="0"/>
          </a:p>
          <a:p>
            <a:pPr indent="0" marL="0">
              <a:spcAft>
                <a:spcPts val="200"/>
              </a:spcAft>
              <a:buNone/>
            </a:pPr>
            <a:r>
              <a:rPr lang="en-US" sz="1000" b="1" dirty="0">
                <a:solidFill>
                  <a:srgbClr val="1B2333"/>
                </a:solidFill>
                <a:latin typeface="Arial" pitchFamily="34" charset="0"/>
                <a:ea typeface="Arial" pitchFamily="34" charset="-122"/>
                <a:cs typeface="Arial" pitchFamily="34" charset="-120"/>
              </a:rPr>
              <a:t>Model inventory</a:t>
            </a:r>
            <a:endParaRPr lang="en-US" sz="1000" dirty="0"/>
          </a:p>
          <a:p>
            <a:pPr indent="0" marL="0">
              <a:spcAft>
                <a:spcPts val="200"/>
              </a:spcAft>
              <a:buNone/>
            </a:pPr>
            <a:r>
              <a:rPr lang="en-US" sz="1000" dirty="0">
                <a:solidFill>
                  <a:srgbClr val="5B6577"/>
                </a:solidFill>
                <a:latin typeface="Arial" pitchFamily="34" charset="0"/>
                <a:ea typeface="Arial" pitchFamily="34" charset="-122"/>
                <a:cs typeface="Arial" pitchFamily="34" charset="-120"/>
              </a:rPr>
              <a:t>which version each product uses</a:t>
            </a:r>
            <a:endParaRPr lang="en-US" sz="1000" dirty="0"/>
          </a:p>
        </p:txBody>
      </p:sp>
      <p:sp>
        <p:nvSpPr>
          <p:cNvPr id="7" name="Shape 5"/>
          <p:cNvSpPr/>
          <p:nvPr/>
        </p:nvSpPr>
        <p:spPr>
          <a:xfrm>
            <a:off x="2258568" y="2880360"/>
            <a:ext cx="237744" cy="0"/>
          </a:xfrm>
          <a:prstGeom prst="line">
            <a:avLst/>
          </a:prstGeom>
          <a:noFill/>
          <a:ln w="19050">
            <a:solidFill>
              <a:srgbClr val="9AA4B2"/>
            </a:solidFill>
            <a:prstDash val="solid"/>
            <a:tailEnd type="triangle"/>
          </a:ln>
        </p:spPr>
      </p:sp>
      <p:sp>
        <p:nvSpPr>
          <p:cNvPr id="8" name="Text 6"/>
          <p:cNvSpPr txBox="1"/>
          <p:nvPr/>
        </p:nvSpPr>
        <p:spPr>
          <a:xfrm>
            <a:off x="2514600" y="1143000"/>
            <a:ext cx="2194560" cy="256032"/>
          </a:xfrm>
          <a:prstGeom prst="rect">
            <a:avLst/>
          </a:prstGeom>
          <a:noFill/>
          <a:ln/>
        </p:spPr>
        <p:txBody>
          <a:bodyPr wrap="square" lIns="0" tIns="0" rIns="0" bIns="0" rtlCol="0" anchor="ctr"/>
          <a:lstStyle/>
          <a:p>
            <a:pPr indent="0" marL="0">
              <a:buNone/>
            </a:pPr>
            <a:r>
              <a:rPr lang="en-US" sz="1000" b="1" spc="100" kern="0" dirty="0">
                <a:solidFill>
                  <a:srgbClr val="4A7A00"/>
                </a:solidFill>
                <a:latin typeface="Arial" pitchFamily="34" charset="0"/>
                <a:ea typeface="Arial" pitchFamily="34" charset="-122"/>
                <a:cs typeface="Arial" pitchFamily="34" charset="-120"/>
              </a:rPr>
              <a:t>ATOMIC MODELS</a:t>
            </a:r>
            <a:endParaRPr lang="en-US" sz="1000" dirty="0"/>
          </a:p>
        </p:txBody>
      </p:sp>
      <p:sp>
        <p:nvSpPr>
          <p:cNvPr id="9" name="Shape 7"/>
          <p:cNvSpPr/>
          <p:nvPr/>
        </p:nvSpPr>
        <p:spPr>
          <a:xfrm>
            <a:off x="2514600" y="1435608"/>
            <a:ext cx="2194560" cy="877824"/>
          </a:xfrm>
          <a:prstGeom prst="roundRect">
            <a:avLst>
              <a:gd name="adj" fmla="val 8333"/>
            </a:avLst>
          </a:prstGeom>
          <a:solidFill>
            <a:srgbClr val="E8F3D2"/>
          </a:solidFill>
          <a:ln w="12700">
            <a:solidFill>
              <a:srgbClr val="E8F3D2"/>
            </a:solidFill>
            <a:prstDash val="solid"/>
          </a:ln>
        </p:spPr>
      </p:sp>
      <p:sp>
        <p:nvSpPr>
          <p:cNvPr id="10" name="Text 8"/>
          <p:cNvSpPr txBox="1"/>
          <p:nvPr/>
        </p:nvSpPr>
        <p:spPr>
          <a:xfrm>
            <a:off x="2624328" y="1490472"/>
            <a:ext cx="2011680" cy="786384"/>
          </a:xfrm>
          <a:prstGeom prst="rect">
            <a:avLst/>
          </a:prstGeom>
          <a:noFill/>
          <a:ln/>
        </p:spPr>
        <p:txBody>
          <a:bodyPr wrap="square" lIns="0" tIns="0" rIns="0" bIns="0" rtlCol="0" anchor="t"/>
          <a:lstStyle/>
          <a:p>
            <a:pPr indent="0" marL="0">
              <a:buNone/>
            </a:pPr>
            <a:r>
              <a:rPr lang="en-US" sz="1200" b="1" dirty="0">
                <a:solidFill>
                  <a:srgbClr val="4A7A00"/>
                </a:solidFill>
                <a:latin typeface="Arial" pitchFamily="34" charset="0"/>
                <a:ea typeface="Arial" pitchFamily="34" charset="-122"/>
                <a:cs typeface="Arial" pitchFamily="34" charset="-120"/>
              </a:rPr>
              <a:t>PD  </a:t>
            </a:r>
            <a:pPr indent="0" marL="0">
              <a:buNone/>
            </a:pPr>
            <a:r>
              <a:rPr lang="en-US" sz="1000" dirty="0">
                <a:solidFill>
                  <a:srgbClr val="1B2333"/>
                </a:solidFill>
                <a:latin typeface="Arial" pitchFamily="34" charset="0"/>
                <a:ea typeface="Arial" pitchFamily="34" charset="-122"/>
                <a:cs typeface="Arial" pitchFamily="34" charset="-120"/>
              </a:rPr>
              <a:t>Logistic scorecards + macro logit shift</a:t>
            </a:r>
            <a:endParaRPr lang="en-US" sz="1200" dirty="0"/>
          </a:p>
          <a:p>
            <a:pPr indent="0" marL="0">
              <a:buNone/>
            </a:pPr>
            <a:r>
              <a:rPr lang="en-US" sz="800" dirty="0">
                <a:solidFill>
                  <a:srgbClr val="5B6577"/>
                </a:solidFill>
                <a:latin typeface="Arial" pitchFamily="34" charset="0"/>
                <a:ea typeface="Arial" pitchFamily="34" charset="-122"/>
                <a:cs typeface="Arial" pitchFamily="34" charset="-120"/>
              </a:rPr>
              <a:t>CRE_PD_v4 · CI_PD_v3 · MORT_PD_v3 · AUTO_PD_v2 · CONS_PD_v2 · CC_PD_v5</a:t>
            </a:r>
            <a:endParaRPr lang="en-US" sz="1200" dirty="0"/>
          </a:p>
        </p:txBody>
      </p:sp>
      <p:sp>
        <p:nvSpPr>
          <p:cNvPr id="11" name="Shape 9"/>
          <p:cNvSpPr/>
          <p:nvPr/>
        </p:nvSpPr>
        <p:spPr>
          <a:xfrm>
            <a:off x="2514600" y="2386584"/>
            <a:ext cx="2194560" cy="877824"/>
          </a:xfrm>
          <a:prstGeom prst="roundRect">
            <a:avLst>
              <a:gd name="adj" fmla="val 8333"/>
            </a:avLst>
          </a:prstGeom>
          <a:solidFill>
            <a:srgbClr val="E8F3D2"/>
          </a:solidFill>
          <a:ln w="12700">
            <a:solidFill>
              <a:srgbClr val="E8F3D2"/>
            </a:solidFill>
            <a:prstDash val="solid"/>
          </a:ln>
        </p:spPr>
      </p:sp>
      <p:sp>
        <p:nvSpPr>
          <p:cNvPr id="12" name="Text 10"/>
          <p:cNvSpPr txBox="1"/>
          <p:nvPr/>
        </p:nvSpPr>
        <p:spPr>
          <a:xfrm>
            <a:off x="2624328" y="2441448"/>
            <a:ext cx="2011680" cy="786384"/>
          </a:xfrm>
          <a:prstGeom prst="rect">
            <a:avLst/>
          </a:prstGeom>
          <a:noFill/>
          <a:ln/>
        </p:spPr>
        <p:txBody>
          <a:bodyPr wrap="square" lIns="0" tIns="0" rIns="0" bIns="0" rtlCol="0" anchor="t"/>
          <a:lstStyle/>
          <a:p>
            <a:pPr indent="0" marL="0">
              <a:buNone/>
            </a:pPr>
            <a:r>
              <a:rPr lang="en-US" sz="1200" b="1" dirty="0">
                <a:solidFill>
                  <a:srgbClr val="4A7A00"/>
                </a:solidFill>
                <a:latin typeface="Arial" pitchFamily="34" charset="0"/>
                <a:ea typeface="Arial" pitchFamily="34" charset="-122"/>
                <a:cs typeface="Arial" pitchFamily="34" charset="-120"/>
              </a:rPr>
              <a:t>LGD  </a:t>
            </a:r>
            <a:pPr indent="0" marL="0">
              <a:buNone/>
            </a:pPr>
            <a:r>
              <a:rPr lang="en-US" sz="1000" dirty="0">
                <a:solidFill>
                  <a:srgbClr val="1B2333"/>
                </a:solidFill>
                <a:latin typeface="Arial" pitchFamily="34" charset="0"/>
                <a:ea typeface="Arial" pitchFamily="34" charset="-122"/>
                <a:cs typeface="Arial" pitchFamily="34" charset="-120"/>
              </a:rPr>
              <a:t>Collateral (LTV) + macro sensitivity, floor and cap</a:t>
            </a:r>
            <a:endParaRPr lang="en-US" sz="1200" dirty="0"/>
          </a:p>
          <a:p>
            <a:pPr indent="0" marL="0">
              <a:buNone/>
            </a:pPr>
            <a:r>
              <a:rPr lang="en-US" sz="800" dirty="0">
                <a:solidFill>
                  <a:srgbClr val="5B6577"/>
                </a:solidFill>
                <a:latin typeface="Arial" pitchFamily="34" charset="0"/>
                <a:ea typeface="Arial" pitchFamily="34" charset="-122"/>
                <a:cs typeface="Arial" pitchFamily="34" charset="-120"/>
              </a:rPr>
              <a:t>CRE_LGD_v3 · CI_LGD_v2 · MORT_LGD_v2 · AUTO · CONS · CC · LEASE</a:t>
            </a:r>
            <a:endParaRPr lang="en-US" sz="1200" dirty="0"/>
          </a:p>
        </p:txBody>
      </p:sp>
      <p:sp>
        <p:nvSpPr>
          <p:cNvPr id="13" name="Shape 11"/>
          <p:cNvSpPr/>
          <p:nvPr/>
        </p:nvSpPr>
        <p:spPr>
          <a:xfrm>
            <a:off x="2514600" y="3337560"/>
            <a:ext cx="2194560" cy="877824"/>
          </a:xfrm>
          <a:prstGeom prst="roundRect">
            <a:avLst>
              <a:gd name="adj" fmla="val 8333"/>
            </a:avLst>
          </a:prstGeom>
          <a:solidFill>
            <a:srgbClr val="E8F3D2"/>
          </a:solidFill>
          <a:ln w="12700">
            <a:solidFill>
              <a:srgbClr val="E8F3D2"/>
            </a:solidFill>
            <a:prstDash val="solid"/>
          </a:ln>
        </p:spPr>
      </p:sp>
      <p:sp>
        <p:nvSpPr>
          <p:cNvPr id="14" name="Text 12"/>
          <p:cNvSpPr txBox="1"/>
          <p:nvPr/>
        </p:nvSpPr>
        <p:spPr>
          <a:xfrm>
            <a:off x="2624328" y="3392424"/>
            <a:ext cx="2011680" cy="786384"/>
          </a:xfrm>
          <a:prstGeom prst="rect">
            <a:avLst/>
          </a:prstGeom>
          <a:noFill/>
          <a:ln/>
        </p:spPr>
        <p:txBody>
          <a:bodyPr wrap="square" lIns="0" tIns="0" rIns="0" bIns="0" rtlCol="0" anchor="t"/>
          <a:lstStyle/>
          <a:p>
            <a:pPr indent="0" marL="0">
              <a:buNone/>
            </a:pPr>
            <a:r>
              <a:rPr lang="en-US" sz="1200" b="1" dirty="0">
                <a:solidFill>
                  <a:srgbClr val="4A7A00"/>
                </a:solidFill>
                <a:latin typeface="Arial" pitchFamily="34" charset="0"/>
                <a:ea typeface="Arial" pitchFamily="34" charset="-122"/>
                <a:cs typeface="Arial" pitchFamily="34" charset="-120"/>
              </a:rPr>
              <a:t>EAD  </a:t>
            </a:r>
            <a:pPr indent="0" marL="0">
              <a:buNone/>
            </a:pPr>
            <a:r>
              <a:rPr lang="en-US" sz="1000" dirty="0">
                <a:solidFill>
                  <a:srgbClr val="1B2333"/>
                </a:solidFill>
                <a:latin typeface="Arial" pitchFamily="34" charset="0"/>
                <a:ea typeface="Arial" pitchFamily="34" charset="-122"/>
                <a:cs typeface="Arial" pitchFamily="34" charset="-120"/>
              </a:rPr>
              <a:t>Balance + CCF × undrawn, amortizing profile</a:t>
            </a:r>
            <a:endParaRPr lang="en-US" sz="1200" dirty="0"/>
          </a:p>
          <a:p>
            <a:pPr indent="0" marL="0">
              <a:buNone/>
            </a:pPr>
            <a:r>
              <a:rPr lang="en-US" sz="800" dirty="0">
                <a:solidFill>
                  <a:srgbClr val="5B6577"/>
                </a:solidFill>
                <a:latin typeface="Arial" pitchFamily="34" charset="0"/>
                <a:ea typeface="Arial" pitchFamily="34" charset="-122"/>
                <a:cs typeface="Arial" pitchFamily="34" charset="-120"/>
              </a:rPr>
              <a:t>EAD_BAL_v1 · EAD_CCF_v2 (revolvers)</a:t>
            </a:r>
            <a:endParaRPr lang="en-US" sz="1200" dirty="0"/>
          </a:p>
        </p:txBody>
      </p:sp>
      <p:sp>
        <p:nvSpPr>
          <p:cNvPr id="15" name="Shape 13"/>
          <p:cNvSpPr/>
          <p:nvPr/>
        </p:nvSpPr>
        <p:spPr>
          <a:xfrm>
            <a:off x="4727448" y="2880360"/>
            <a:ext cx="237744" cy="0"/>
          </a:xfrm>
          <a:prstGeom prst="line">
            <a:avLst/>
          </a:prstGeom>
          <a:noFill/>
          <a:ln w="19050">
            <a:solidFill>
              <a:srgbClr val="9AA4B2"/>
            </a:solidFill>
            <a:prstDash val="solid"/>
            <a:tailEnd type="triangle"/>
          </a:ln>
        </p:spPr>
      </p:sp>
      <p:sp>
        <p:nvSpPr>
          <p:cNvPr id="16" name="Text 14"/>
          <p:cNvSpPr txBox="1"/>
          <p:nvPr/>
        </p:nvSpPr>
        <p:spPr>
          <a:xfrm>
            <a:off x="4983480" y="1143000"/>
            <a:ext cx="1874520" cy="256032"/>
          </a:xfrm>
          <a:prstGeom prst="rect">
            <a:avLst/>
          </a:prstGeom>
          <a:noFill/>
          <a:ln/>
        </p:spPr>
        <p:txBody>
          <a:bodyPr wrap="square" lIns="0" tIns="0" rIns="0" bIns="0" rtlCol="0" anchor="ctr"/>
          <a:lstStyle/>
          <a:p>
            <a:pPr indent="0" marL="0">
              <a:buNone/>
            </a:pPr>
            <a:r>
              <a:rPr lang="en-US" sz="1000" b="1" spc="100" kern="0" dirty="0">
                <a:solidFill>
                  <a:srgbClr val="4A7A00"/>
                </a:solidFill>
                <a:latin typeface="Arial" pitchFamily="34" charset="0"/>
                <a:ea typeface="Arial" pitchFamily="34" charset="-122"/>
                <a:cs typeface="Arial" pitchFamily="34" charset="-120"/>
              </a:rPr>
              <a:t>CECL ENGINE</a:t>
            </a:r>
            <a:endParaRPr lang="en-US" sz="1000" dirty="0"/>
          </a:p>
        </p:txBody>
      </p:sp>
      <p:sp>
        <p:nvSpPr>
          <p:cNvPr id="17" name="Shape 15"/>
          <p:cNvSpPr/>
          <p:nvPr/>
        </p:nvSpPr>
        <p:spPr>
          <a:xfrm>
            <a:off x="4983480" y="1435608"/>
            <a:ext cx="1874520" cy="2770632"/>
          </a:xfrm>
          <a:prstGeom prst="roundRect">
            <a:avLst>
              <a:gd name="adj" fmla="val 3902"/>
            </a:avLst>
          </a:prstGeom>
          <a:solidFill>
            <a:srgbClr val="0E1726"/>
          </a:solidFill>
          <a:ln w="12700">
            <a:solidFill>
              <a:srgbClr val="0E1726"/>
            </a:solidFill>
            <a:prstDash val="solid"/>
          </a:ln>
        </p:spPr>
      </p:sp>
      <p:sp>
        <p:nvSpPr>
          <p:cNvPr id="18" name="Text 16"/>
          <p:cNvSpPr txBox="1"/>
          <p:nvPr/>
        </p:nvSpPr>
        <p:spPr>
          <a:xfrm>
            <a:off x="5093208" y="1508760"/>
            <a:ext cx="1673352" cy="2606040"/>
          </a:xfrm>
          <a:prstGeom prst="rect">
            <a:avLst/>
          </a:prstGeom>
          <a:noFill/>
          <a:ln/>
        </p:spPr>
        <p:txBody>
          <a:bodyPr wrap="square" lIns="0" tIns="0" rIns="0" bIns="0" rtlCol="0" anchor="t"/>
          <a:lstStyle/>
          <a:p>
            <a:pPr indent="0" marL="0">
              <a:spcAft>
                <a:spcPts val="200"/>
              </a:spcAft>
              <a:buNone/>
            </a:pPr>
            <a:r>
              <a:rPr lang="en-US" sz="1000" b="1" dirty="0">
                <a:solidFill>
                  <a:srgbClr val="76B900"/>
                </a:solidFill>
                <a:latin typeface="Arial" pitchFamily="34" charset="0"/>
                <a:ea typeface="Arial" pitchFamily="34" charset="-122"/>
                <a:cs typeface="Arial" pitchFamily="34" charset="-120"/>
              </a:rPr>
              <a:t>Per loan, per year, per scenario</a:t>
            </a:r>
            <a:endParaRPr lang="en-US" sz="1000" dirty="0"/>
          </a:p>
          <a:p>
            <a:pPr indent="0" marL="0">
              <a:spcAft>
                <a:spcPts val="200"/>
              </a:spcAft>
              <a:buNone/>
            </a:pPr>
            <a:r>
              <a:rPr lang="en-US" sz="1000" dirty="0">
                <a:solidFill>
                  <a:srgbClr val="FFFFFF"/>
                </a:solidFill>
                <a:latin typeface="Arial" pitchFamily="34" charset="0"/>
                <a:ea typeface="Arial" pitchFamily="34" charset="-122"/>
                <a:cs typeface="Arial" pitchFamily="34" charset="-120"/>
              </a:rPr>
              <a:t>marginal PD × LGD × EAD × discount</a:t>
            </a:r>
            <a:endParaRPr lang="en-US" sz="1000" dirty="0"/>
          </a:p>
          <a:p>
            <a:pPr indent="0" marL="0">
              <a:spcAft>
                <a:spcPts val="200"/>
              </a:spcAft>
              <a:buNone/>
            </a:pPr>
            <a:r>
              <a:rPr lang="en-US" sz="1000" b="1" dirty="0">
                <a:solidFill>
                  <a:srgbClr val="76B900"/>
                </a:solidFill>
                <a:latin typeface="Arial" pitchFamily="34" charset="0"/>
                <a:ea typeface="Arial" pitchFamily="34" charset="-122"/>
                <a:cs typeface="Arial" pitchFamily="34" charset="-120"/>
              </a:rPr>
              <a:t>Sum over the loan's life</a:t>
            </a:r>
            <a:endParaRPr lang="en-US" sz="1000" dirty="0"/>
          </a:p>
          <a:p>
            <a:pPr indent="0" marL="0">
              <a:spcAft>
                <a:spcPts val="200"/>
              </a:spcAft>
              <a:buNone/>
            </a:pPr>
            <a:r>
              <a:rPr lang="en-US" sz="1000" dirty="0">
                <a:solidFill>
                  <a:srgbClr val="C9D2DE"/>
                </a:solidFill>
                <a:latin typeface="Arial" pitchFamily="34" charset="0"/>
                <a:ea typeface="Arial" pitchFamily="34" charset="-122"/>
                <a:cs typeface="Arial" pitchFamily="34" charset="-120"/>
              </a:rPr>
              <a:t>contractual term; revolvers 3 yrs; cap 30</a:t>
            </a:r>
            <a:endParaRPr lang="en-US" sz="1000" dirty="0"/>
          </a:p>
          <a:p>
            <a:pPr indent="0" marL="0">
              <a:spcAft>
                <a:spcPts val="200"/>
              </a:spcAft>
              <a:buNone/>
            </a:pPr>
            <a:r>
              <a:rPr lang="en-US" sz="1000" b="1" dirty="0">
                <a:solidFill>
                  <a:srgbClr val="76B900"/>
                </a:solidFill>
                <a:latin typeface="Arial" pitchFamily="34" charset="0"/>
                <a:ea typeface="Arial" pitchFamily="34" charset="-122"/>
                <a:cs typeface="Arial" pitchFamily="34" charset="-120"/>
              </a:rPr>
              <a:t>Weight the 3 scenarios</a:t>
            </a:r>
            <a:endParaRPr lang="en-US" sz="1000" dirty="0"/>
          </a:p>
          <a:p>
            <a:pPr indent="0" marL="0">
              <a:spcAft>
                <a:spcPts val="200"/>
              </a:spcAft>
              <a:buNone/>
            </a:pPr>
            <a:r>
              <a:rPr lang="en-US" sz="1000" dirty="0">
                <a:solidFill>
                  <a:srgbClr val="C9D2DE"/>
                </a:solidFill>
                <a:latin typeface="Arial" pitchFamily="34" charset="0"/>
                <a:ea typeface="Arial" pitchFamily="34" charset="-122"/>
                <a:cs typeface="Arial" pitchFamily="34" charset="-120"/>
              </a:rPr>
              <a:t>baseline / adverse / severe</a:t>
            </a:r>
            <a:endParaRPr lang="en-US" sz="1000" dirty="0"/>
          </a:p>
          <a:p>
            <a:pPr indent="0" marL="0">
              <a:spcAft>
                <a:spcPts val="200"/>
              </a:spcAft>
              <a:buNone/>
            </a:pPr>
            <a:r>
              <a:rPr lang="en-US" sz="1000" b="1" dirty="0">
                <a:solidFill>
                  <a:srgbClr val="76B900"/>
                </a:solidFill>
                <a:latin typeface="Arial" pitchFamily="34" charset="0"/>
                <a:ea typeface="Arial" pitchFamily="34" charset="-122"/>
                <a:cs typeface="Arial" pitchFamily="34" charset="-120"/>
              </a:rPr>
              <a:t>Add overlays</a:t>
            </a:r>
            <a:endParaRPr lang="en-US" sz="1000" dirty="0"/>
          </a:p>
          <a:p>
            <a:pPr indent="0" marL="0">
              <a:spcAft>
                <a:spcPts val="200"/>
              </a:spcAft>
              <a:buNone/>
            </a:pPr>
            <a:r>
              <a:rPr lang="en-US" sz="1000" dirty="0">
                <a:solidFill>
                  <a:srgbClr val="C9D2DE"/>
                </a:solidFill>
                <a:latin typeface="Arial" pitchFamily="34" charset="0"/>
                <a:ea typeface="Arial" pitchFamily="34" charset="-122"/>
                <a:cs typeface="Arial" pitchFamily="34" charset="-120"/>
              </a:rPr>
              <a:t>Checked vs a hand calc and an independent loop implementation</a:t>
            </a:r>
            <a:endParaRPr lang="en-US" sz="1000" dirty="0"/>
          </a:p>
        </p:txBody>
      </p:sp>
      <p:sp>
        <p:nvSpPr>
          <p:cNvPr id="19" name="Shape 17"/>
          <p:cNvSpPr/>
          <p:nvPr/>
        </p:nvSpPr>
        <p:spPr>
          <a:xfrm>
            <a:off x="6876288" y="2880360"/>
            <a:ext cx="237744" cy="0"/>
          </a:xfrm>
          <a:prstGeom prst="line">
            <a:avLst/>
          </a:prstGeom>
          <a:noFill/>
          <a:ln w="19050">
            <a:solidFill>
              <a:srgbClr val="9AA4B2"/>
            </a:solidFill>
            <a:prstDash val="solid"/>
            <a:tailEnd type="triangle"/>
          </a:ln>
        </p:spPr>
      </p:sp>
      <p:sp>
        <p:nvSpPr>
          <p:cNvPr id="20" name="Text 18"/>
          <p:cNvSpPr txBox="1"/>
          <p:nvPr/>
        </p:nvSpPr>
        <p:spPr>
          <a:xfrm>
            <a:off x="7132320" y="1143000"/>
            <a:ext cx="1554480" cy="256032"/>
          </a:xfrm>
          <a:prstGeom prst="rect">
            <a:avLst/>
          </a:prstGeom>
          <a:noFill/>
          <a:ln/>
        </p:spPr>
        <p:txBody>
          <a:bodyPr wrap="square" lIns="0" tIns="0" rIns="0" bIns="0" rtlCol="0" anchor="ctr"/>
          <a:lstStyle/>
          <a:p>
            <a:pPr indent="0" marL="0">
              <a:buNone/>
            </a:pPr>
            <a:r>
              <a:rPr lang="en-US" sz="1000" b="1" spc="100" kern="0" dirty="0">
                <a:solidFill>
                  <a:srgbClr val="4A7A00"/>
                </a:solidFill>
                <a:latin typeface="Arial" pitchFamily="34" charset="0"/>
                <a:ea typeface="Arial" pitchFamily="34" charset="-122"/>
                <a:cs typeface="Arial" pitchFamily="34" charset="-120"/>
              </a:rPr>
              <a:t>BOOKED RESULT</a:t>
            </a:r>
            <a:endParaRPr lang="en-US" sz="1000" dirty="0"/>
          </a:p>
        </p:txBody>
      </p:sp>
      <p:sp>
        <p:nvSpPr>
          <p:cNvPr id="21" name="Shape 19"/>
          <p:cNvSpPr/>
          <p:nvPr/>
        </p:nvSpPr>
        <p:spPr>
          <a:xfrm>
            <a:off x="7132320" y="1435608"/>
            <a:ext cx="1554480" cy="1353312"/>
          </a:xfrm>
          <a:prstGeom prst="roundRect">
            <a:avLst>
              <a:gd name="adj" fmla="val 5405"/>
            </a:avLst>
          </a:prstGeom>
          <a:solidFill>
            <a:srgbClr val="F2F4F7"/>
          </a:solidFill>
          <a:ln w="12700">
            <a:solidFill>
              <a:srgbClr val="F2F4F7"/>
            </a:solidFill>
            <a:prstDash val="solid"/>
          </a:ln>
        </p:spPr>
      </p:sp>
      <p:sp>
        <p:nvSpPr>
          <p:cNvPr id="22" name="Text 20"/>
          <p:cNvSpPr txBox="1"/>
          <p:nvPr/>
        </p:nvSpPr>
        <p:spPr>
          <a:xfrm>
            <a:off x="7223760" y="1508760"/>
            <a:ext cx="1389888" cy="1225296"/>
          </a:xfrm>
          <a:prstGeom prst="rect">
            <a:avLst/>
          </a:prstGeom>
          <a:noFill/>
          <a:ln/>
        </p:spPr>
        <p:txBody>
          <a:bodyPr wrap="square" lIns="0" tIns="0" rIns="0" bIns="0" rtlCol="0" anchor="t"/>
          <a:lstStyle/>
          <a:p>
            <a:pPr indent="0" marL="0">
              <a:buNone/>
            </a:pPr>
            <a:r>
              <a:rPr lang="en-US" sz="1100" b="1" dirty="0">
                <a:solidFill>
                  <a:srgbClr val="1B2333"/>
                </a:solidFill>
                <a:latin typeface="Arial" pitchFamily="34" charset="0"/>
                <a:ea typeface="Arial" pitchFamily="34" charset="-122"/>
                <a:cs typeface="Arial" pitchFamily="34" charset="-120"/>
              </a:rPr>
              <a:t>CECL (ASC 326)</a:t>
            </a:r>
            <a:endParaRPr lang="en-US" sz="1100" dirty="0"/>
          </a:p>
          <a:p>
            <a:pPr indent="0" marL="0">
              <a:buNone/>
            </a:pPr>
            <a:r>
              <a:rPr lang="en-US" sz="1000" dirty="0">
                <a:solidFill>
                  <a:srgbClr val="5B6577"/>
                </a:solidFill>
                <a:latin typeface="Arial" pitchFamily="34" charset="0"/>
                <a:ea typeface="Arial" pitchFamily="34" charset="-122"/>
                <a:cs typeface="Arial" pitchFamily="34" charset="-120"/>
              </a:rPr>
              <a:t>Lifetime ECL for every loan, undiscounted</a:t>
            </a:r>
            <a:endParaRPr lang="en-US" sz="1100" dirty="0"/>
          </a:p>
        </p:txBody>
      </p:sp>
      <p:sp>
        <p:nvSpPr>
          <p:cNvPr id="23" name="Shape 21"/>
          <p:cNvSpPr/>
          <p:nvPr/>
        </p:nvSpPr>
        <p:spPr>
          <a:xfrm>
            <a:off x="7132320" y="2862072"/>
            <a:ext cx="1554480" cy="1353312"/>
          </a:xfrm>
          <a:prstGeom prst="roundRect">
            <a:avLst>
              <a:gd name="adj" fmla="val 5405"/>
            </a:avLst>
          </a:prstGeom>
          <a:solidFill>
            <a:srgbClr val="F2F4F7"/>
          </a:solidFill>
          <a:ln w="12700">
            <a:solidFill>
              <a:srgbClr val="F2F4F7"/>
            </a:solidFill>
            <a:prstDash val="solid"/>
          </a:ln>
        </p:spPr>
      </p:sp>
      <p:sp>
        <p:nvSpPr>
          <p:cNvPr id="24" name="Text 22"/>
          <p:cNvSpPr txBox="1"/>
          <p:nvPr/>
        </p:nvSpPr>
        <p:spPr>
          <a:xfrm>
            <a:off x="7223760" y="2935224"/>
            <a:ext cx="1389888" cy="1225296"/>
          </a:xfrm>
          <a:prstGeom prst="rect">
            <a:avLst/>
          </a:prstGeom>
          <a:noFill/>
          <a:ln/>
        </p:spPr>
        <p:txBody>
          <a:bodyPr wrap="square" lIns="0" tIns="0" rIns="0" bIns="0" rtlCol="0" anchor="t"/>
          <a:lstStyle/>
          <a:p>
            <a:pPr indent="0" marL="0">
              <a:buNone/>
            </a:pPr>
            <a:r>
              <a:rPr lang="en-US" sz="1100" b="1" dirty="0">
                <a:solidFill>
                  <a:srgbClr val="1B2333"/>
                </a:solidFill>
                <a:latin typeface="Arial" pitchFamily="34" charset="0"/>
                <a:ea typeface="Arial" pitchFamily="34" charset="-122"/>
                <a:cs typeface="Arial" pitchFamily="34" charset="-120"/>
              </a:rPr>
              <a:t>IFRS 9</a:t>
            </a:r>
            <a:endParaRPr lang="en-US" sz="1100" dirty="0"/>
          </a:p>
          <a:p>
            <a:pPr indent="0" marL="0">
              <a:buNone/>
            </a:pPr>
            <a:r>
              <a:rPr lang="en-US" sz="1000" dirty="0">
                <a:solidFill>
                  <a:srgbClr val="5B6577"/>
                </a:solidFill>
                <a:latin typeface="Arial" pitchFamily="34" charset="0"/>
                <a:ea typeface="Arial" pitchFamily="34" charset="-122"/>
                <a:cs typeface="Arial" pitchFamily="34" charset="-120"/>
              </a:rPr>
              <a:t>Stage 1: 12-month · Stage 2/3: lifetime, EIR-discounted; SICR on PD, notches, DPD, watchlist</a:t>
            </a:r>
            <a:endParaRPr lang="en-US" sz="1100" dirty="0"/>
          </a:p>
        </p:txBody>
      </p:sp>
      <p:sp>
        <p:nvSpPr>
          <p:cNvPr id="25" name="Text 23"/>
          <p:cNvSpPr txBox="1"/>
          <p:nvPr/>
        </p:nvSpPr>
        <p:spPr>
          <a:xfrm>
            <a:off x="457200" y="4343400"/>
            <a:ext cx="822960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Arial" pitchFamily="34" charset="0"/>
                <a:ea typeface="Arial" pitchFamily="34" charset="-122"/>
                <a:cs typeface="Arial" pitchFamily="34" charset="-120"/>
              </a:rPr>
              <a:t>Allowance  =  Σ loans  Σ scenarios  w  ·  Σ years  PD × LGD × EAD × DF   +  overlays</a:t>
            </a:r>
            <a:endParaRPr lang="en-US" sz="1200" dirty="0"/>
          </a:p>
        </p:txBody>
      </p:sp>
      <p:sp>
        <p:nvSpPr>
          <p:cNvPr id="26" name="Text 24"/>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Every model ID, parameter and weight lives in config (models.yaml, methodology.yaml) and the model inventory, so agents can inspect them through tools.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EXPLAINING A NON-LINEAR NUMBER</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The drivers interact, so the agents explain with counterfactuals, not plugs</a:t>
            </a:r>
            <a:endParaRPr lang="en-US" sz="2600" dirty="0"/>
          </a:p>
        </p:txBody>
      </p:sp>
      <p:sp>
        <p:nvSpPr>
          <p:cNvPr id="4" name="Shape 2"/>
          <p:cNvSpPr/>
          <p:nvPr/>
        </p:nvSpPr>
        <p:spPr>
          <a:xfrm>
            <a:off x="457200" y="1143000"/>
            <a:ext cx="2606040" cy="3429000"/>
          </a:xfrm>
          <a:prstGeom prst="roundRect">
            <a:avLst>
              <a:gd name="adj" fmla="val 2807"/>
            </a:avLst>
          </a:prstGeom>
          <a:solidFill>
            <a:srgbClr val="F2F4F7"/>
          </a:solidFill>
          <a:ln w="12700">
            <a:solidFill>
              <a:srgbClr val="F2F4F7"/>
            </a:solidFill>
            <a:prstDash val="solid"/>
          </a:ln>
        </p:spPr>
      </p:sp>
      <p:sp>
        <p:nvSpPr>
          <p:cNvPr id="5" name="Text 3"/>
          <p:cNvSpPr txBox="1"/>
          <p:nvPr/>
        </p:nvSpPr>
        <p:spPr>
          <a:xfrm>
            <a:off x="621792" y="1234440"/>
            <a:ext cx="2286000" cy="3246120"/>
          </a:xfrm>
          <a:prstGeom prst="rect">
            <a:avLst/>
          </a:prstGeom>
          <a:noFill/>
          <a:ln/>
        </p:spPr>
        <p:txBody>
          <a:bodyPr wrap="square" lIns="0" tIns="0" rIns="0" bIns="0" rtlCol="0" anchor="t"/>
          <a:lstStyle/>
          <a:p>
            <a:pPr indent="0" marL="0">
              <a:spcAft>
                <a:spcPts val="500"/>
              </a:spcAft>
              <a:buNone/>
            </a:pPr>
            <a:r>
              <a:rPr lang="en-US" sz="1300" b="1" dirty="0">
                <a:solidFill>
                  <a:srgbClr val="1B2333"/>
                </a:solidFill>
                <a:latin typeface="Arial" pitchFamily="34" charset="0"/>
                <a:ea typeface="Arial" pitchFamily="34" charset="-122"/>
                <a:cs typeface="Arial" pitchFamily="34" charset="-120"/>
              </a:rPr>
              <a:t>Why it doesn't add up</a:t>
            </a:r>
            <a:endParaRPr lang="en-US" sz="1100" dirty="0"/>
          </a:p>
          <a:p>
            <a:pPr marL="152400" indent="-152400">
              <a:spcAft>
                <a:spcPts val="500"/>
              </a:spcAft>
              <a:buSzPct val="100000"/>
              <a:buChar char="•"/>
            </a:pPr>
            <a:r>
              <a:rPr lang="en-US" sz="1100" dirty="0">
                <a:solidFill>
                  <a:srgbClr val="5B6577"/>
                </a:solidFill>
                <a:latin typeface="Arial" pitchFamily="34" charset="0"/>
                <a:ea typeface="Arial" pitchFamily="34" charset="-122"/>
                <a:cs typeface="Arial" pitchFamily="34" charset="-120"/>
              </a:rPr>
              <a:t>PD is logistic: the same macro shock lifts a downgraded borrower's PD far more</a:t>
            </a:r>
            <a:endParaRPr lang="en-US" sz="1100" dirty="0"/>
          </a:p>
          <a:p>
            <a:pPr marL="152400" indent="-152400">
              <a:spcAft>
                <a:spcPts val="500"/>
              </a:spcAft>
              <a:buSzPct val="100000"/>
              <a:buChar char="•"/>
            </a:pPr>
            <a:r>
              <a:rPr lang="en-US" sz="1100" dirty="0">
                <a:solidFill>
                  <a:srgbClr val="5B6577"/>
                </a:solidFill>
                <a:latin typeface="Arial" pitchFamily="34" charset="0"/>
                <a:ea typeface="Arial" pitchFamily="34" charset="-122"/>
                <a:cs typeface="Arial" pitchFamily="34" charset="-120"/>
              </a:rPr>
              <a:t>PD × LGD × EAD multiply, so credit and macro changes compound</a:t>
            </a:r>
            <a:endParaRPr lang="en-US" sz="1100" dirty="0"/>
          </a:p>
          <a:p>
            <a:pPr marL="152400" indent="-152400">
              <a:spcAft>
                <a:spcPts val="500"/>
              </a:spcAft>
              <a:buSzPct val="100000"/>
              <a:buChar char="•"/>
            </a:pPr>
            <a:r>
              <a:rPr lang="en-US" sz="1100" dirty="0">
                <a:solidFill>
                  <a:srgbClr val="5B6577"/>
                </a:solidFill>
                <a:latin typeface="Arial" pitchFamily="34" charset="0"/>
                <a:ea typeface="Arial" pitchFamily="34" charset="-122"/>
                <a:cs typeface="Arial" pitchFamily="34" charset="-120"/>
              </a:rPr>
              <a:t>Weights act on stressed ECL: severe is $189M vs $95M baseline in August</a:t>
            </a:r>
            <a:endParaRPr lang="en-US" sz="1100" dirty="0"/>
          </a:p>
          <a:p>
            <a:pPr marL="152400" indent="-152400">
              <a:spcAft>
                <a:spcPts val="500"/>
              </a:spcAft>
              <a:buSzPct val="100000"/>
              <a:buChar char="•"/>
            </a:pPr>
            <a:r>
              <a:rPr lang="en-US" sz="1100" dirty="0">
                <a:solidFill>
                  <a:srgbClr val="5B6577"/>
                </a:solidFill>
                <a:latin typeface="Arial" pitchFamily="34" charset="0"/>
                <a:ea typeface="Arial" pitchFamily="34" charset="-122"/>
                <a:cs typeface="Arial" pitchFamily="34" charset="-120"/>
              </a:rPr>
              <a:t>So any one-shot split depends on the order; a plugged residual hides it</a:t>
            </a:r>
            <a:endParaRPr lang="en-US" sz="1100" dirty="0"/>
          </a:p>
        </p:txBody>
      </p:sp>
      <p:sp>
        <p:nvSpPr>
          <p:cNvPr id="6" name="Text 4"/>
          <p:cNvSpPr txBox="1"/>
          <p:nvPr/>
        </p:nvSpPr>
        <p:spPr>
          <a:xfrm>
            <a:off x="3291840" y="1143000"/>
            <a:ext cx="2743200" cy="457200"/>
          </a:xfrm>
          <a:prstGeom prst="rect">
            <a:avLst/>
          </a:prstGeom>
          <a:noFill/>
          <a:ln/>
        </p:spPr>
        <p:txBody>
          <a:bodyPr wrap="square" lIns="0" tIns="0" rIns="0" bIns="0" rtlCol="0" anchor="t"/>
          <a:lstStyle/>
          <a:p>
            <a:pPr indent="0" marL="0">
              <a:buNone/>
            </a:pPr>
            <a:r>
              <a:rPr lang="en-US" sz="1200" b="1" dirty="0">
                <a:solidFill>
                  <a:srgbClr val="1B2333"/>
                </a:solidFill>
                <a:latin typeface="Arial" pitchFamily="34" charset="0"/>
                <a:ea typeface="Arial" pitchFamily="34" charset="-122"/>
                <a:cs typeface="Arial" pitchFamily="34" charset="-120"/>
              </a:rPr>
              <a:t>Counterfactual walk: swap one input set, re-run the engine</a:t>
            </a:r>
            <a:endParaRPr lang="en-US" sz="1200" dirty="0"/>
          </a:p>
        </p:txBody>
      </p:sp>
      <p:sp>
        <p:nvSpPr>
          <p:cNvPr id="7" name="Shape 5"/>
          <p:cNvSpPr/>
          <p:nvPr/>
        </p:nvSpPr>
        <p:spPr>
          <a:xfrm>
            <a:off x="3291840" y="1645920"/>
            <a:ext cx="2743200" cy="246888"/>
          </a:xfrm>
          <a:prstGeom prst="roundRect">
            <a:avLst>
              <a:gd name="adj" fmla="val 18519"/>
            </a:avLst>
          </a:prstGeom>
          <a:solidFill>
            <a:srgbClr val="0E1726"/>
          </a:solidFill>
          <a:ln w="12700">
            <a:solidFill>
              <a:srgbClr val="0E1726"/>
            </a:solidFill>
            <a:prstDash val="solid"/>
          </a:ln>
        </p:spPr>
      </p:sp>
      <p:sp>
        <p:nvSpPr>
          <p:cNvPr id="8" name="Text 6"/>
          <p:cNvSpPr txBox="1"/>
          <p:nvPr/>
        </p:nvSpPr>
        <p:spPr>
          <a:xfrm>
            <a:off x="3383280" y="1645920"/>
            <a:ext cx="2560320" cy="24688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July inputs</a:t>
            </a:r>
            <a:endParaRPr lang="en-US" sz="1000" dirty="0"/>
          </a:p>
        </p:txBody>
      </p:sp>
      <p:sp>
        <p:nvSpPr>
          <p:cNvPr id="9" name="Shape 7"/>
          <p:cNvSpPr/>
          <p:nvPr/>
        </p:nvSpPr>
        <p:spPr>
          <a:xfrm>
            <a:off x="3291840" y="1933956"/>
            <a:ext cx="2743200" cy="246888"/>
          </a:xfrm>
          <a:prstGeom prst="roundRect">
            <a:avLst>
              <a:gd name="adj" fmla="val 18519"/>
            </a:avLst>
          </a:prstGeom>
          <a:solidFill>
            <a:srgbClr val="F2F4F7"/>
          </a:solidFill>
          <a:ln w="12700">
            <a:solidFill>
              <a:srgbClr val="F2F4F7"/>
            </a:solidFill>
            <a:prstDash val="solid"/>
          </a:ln>
        </p:spPr>
      </p:sp>
      <p:sp>
        <p:nvSpPr>
          <p:cNvPr id="10" name="Text 8"/>
          <p:cNvSpPr txBox="1"/>
          <p:nvPr/>
        </p:nvSpPr>
        <p:spPr>
          <a:xfrm>
            <a:off x="3383280" y="1933956"/>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Exits</a:t>
            </a:r>
            <a:endParaRPr lang="en-US" sz="1000" dirty="0"/>
          </a:p>
        </p:txBody>
      </p:sp>
      <p:sp>
        <p:nvSpPr>
          <p:cNvPr id="11" name="Shape 9"/>
          <p:cNvSpPr/>
          <p:nvPr/>
        </p:nvSpPr>
        <p:spPr>
          <a:xfrm>
            <a:off x="3291840" y="2221992"/>
            <a:ext cx="2743200" cy="246888"/>
          </a:xfrm>
          <a:prstGeom prst="roundRect">
            <a:avLst>
              <a:gd name="adj" fmla="val 18519"/>
            </a:avLst>
          </a:prstGeom>
          <a:solidFill>
            <a:srgbClr val="F2F4F7"/>
          </a:solidFill>
          <a:ln w="12700">
            <a:solidFill>
              <a:srgbClr val="F2F4F7"/>
            </a:solidFill>
            <a:prstDash val="solid"/>
          </a:ln>
        </p:spPr>
      </p:sp>
      <p:sp>
        <p:nvSpPr>
          <p:cNvPr id="12" name="Text 10"/>
          <p:cNvSpPr txBox="1"/>
          <p:nvPr/>
        </p:nvSpPr>
        <p:spPr>
          <a:xfrm>
            <a:off x="3383280" y="2221992"/>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Balances &amp; terms</a:t>
            </a:r>
            <a:endParaRPr lang="en-US" sz="1000" dirty="0"/>
          </a:p>
        </p:txBody>
      </p:sp>
      <p:sp>
        <p:nvSpPr>
          <p:cNvPr id="13" name="Shape 11"/>
          <p:cNvSpPr/>
          <p:nvPr/>
        </p:nvSpPr>
        <p:spPr>
          <a:xfrm>
            <a:off x="3291840" y="2510028"/>
            <a:ext cx="2743200" cy="246888"/>
          </a:xfrm>
          <a:prstGeom prst="roundRect">
            <a:avLst>
              <a:gd name="adj" fmla="val 18519"/>
            </a:avLst>
          </a:prstGeom>
          <a:solidFill>
            <a:srgbClr val="F2F4F7"/>
          </a:solidFill>
          <a:ln w="12700">
            <a:solidFill>
              <a:srgbClr val="F2F4F7"/>
            </a:solidFill>
            <a:prstDash val="solid"/>
          </a:ln>
        </p:spPr>
      </p:sp>
      <p:sp>
        <p:nvSpPr>
          <p:cNvPr id="14" name="Text 12"/>
          <p:cNvSpPr txBox="1"/>
          <p:nvPr/>
        </p:nvSpPr>
        <p:spPr>
          <a:xfrm>
            <a:off x="3383280" y="2510028"/>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New loans</a:t>
            </a:r>
            <a:endParaRPr lang="en-US" sz="1000" dirty="0"/>
          </a:p>
        </p:txBody>
      </p:sp>
      <p:sp>
        <p:nvSpPr>
          <p:cNvPr id="15" name="Shape 13"/>
          <p:cNvSpPr/>
          <p:nvPr/>
        </p:nvSpPr>
        <p:spPr>
          <a:xfrm>
            <a:off x="3291840" y="2798064"/>
            <a:ext cx="2743200" cy="246888"/>
          </a:xfrm>
          <a:prstGeom prst="roundRect">
            <a:avLst>
              <a:gd name="adj" fmla="val 18519"/>
            </a:avLst>
          </a:prstGeom>
          <a:solidFill>
            <a:srgbClr val="F2F4F7"/>
          </a:solidFill>
          <a:ln w="12700">
            <a:solidFill>
              <a:srgbClr val="F2F4F7"/>
            </a:solidFill>
            <a:prstDash val="solid"/>
          </a:ln>
        </p:spPr>
      </p:sp>
      <p:sp>
        <p:nvSpPr>
          <p:cNvPr id="16" name="Text 14"/>
          <p:cNvSpPr txBox="1"/>
          <p:nvPr/>
        </p:nvSpPr>
        <p:spPr>
          <a:xfrm>
            <a:off x="3383280" y="2798064"/>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Credit attributes</a:t>
            </a:r>
            <a:endParaRPr lang="en-US" sz="1000" dirty="0"/>
          </a:p>
        </p:txBody>
      </p:sp>
      <p:sp>
        <p:nvSpPr>
          <p:cNvPr id="17" name="Shape 15"/>
          <p:cNvSpPr/>
          <p:nvPr/>
        </p:nvSpPr>
        <p:spPr>
          <a:xfrm>
            <a:off x="3291840" y="3086100"/>
            <a:ext cx="2743200" cy="246888"/>
          </a:xfrm>
          <a:prstGeom prst="roundRect">
            <a:avLst>
              <a:gd name="adj" fmla="val 18519"/>
            </a:avLst>
          </a:prstGeom>
          <a:solidFill>
            <a:srgbClr val="F2F4F7"/>
          </a:solidFill>
          <a:ln w="12700">
            <a:solidFill>
              <a:srgbClr val="F2F4F7"/>
            </a:solidFill>
            <a:prstDash val="solid"/>
          </a:ln>
        </p:spPr>
      </p:sp>
      <p:sp>
        <p:nvSpPr>
          <p:cNvPr id="18" name="Text 16"/>
          <p:cNvSpPr txBox="1"/>
          <p:nvPr/>
        </p:nvSpPr>
        <p:spPr>
          <a:xfrm>
            <a:off x="3383280" y="3086100"/>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Macro, one variable at a time</a:t>
            </a:r>
            <a:endParaRPr lang="en-US" sz="1000" dirty="0"/>
          </a:p>
        </p:txBody>
      </p:sp>
      <p:sp>
        <p:nvSpPr>
          <p:cNvPr id="19" name="Shape 17"/>
          <p:cNvSpPr/>
          <p:nvPr/>
        </p:nvSpPr>
        <p:spPr>
          <a:xfrm>
            <a:off x="3291840" y="3374136"/>
            <a:ext cx="2743200" cy="246888"/>
          </a:xfrm>
          <a:prstGeom prst="roundRect">
            <a:avLst>
              <a:gd name="adj" fmla="val 18519"/>
            </a:avLst>
          </a:prstGeom>
          <a:solidFill>
            <a:srgbClr val="F2F4F7"/>
          </a:solidFill>
          <a:ln w="12700">
            <a:solidFill>
              <a:srgbClr val="F2F4F7"/>
            </a:solidFill>
            <a:prstDash val="solid"/>
          </a:ln>
        </p:spPr>
      </p:sp>
      <p:sp>
        <p:nvSpPr>
          <p:cNvPr id="20" name="Text 18"/>
          <p:cNvSpPr txBox="1"/>
          <p:nvPr/>
        </p:nvSpPr>
        <p:spPr>
          <a:xfrm>
            <a:off x="3383280" y="3374136"/>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Scenario weights</a:t>
            </a:r>
            <a:endParaRPr lang="en-US" sz="1000" dirty="0"/>
          </a:p>
        </p:txBody>
      </p:sp>
      <p:sp>
        <p:nvSpPr>
          <p:cNvPr id="21" name="Shape 19"/>
          <p:cNvSpPr/>
          <p:nvPr/>
        </p:nvSpPr>
        <p:spPr>
          <a:xfrm>
            <a:off x="3291840" y="3662172"/>
            <a:ext cx="2743200" cy="246888"/>
          </a:xfrm>
          <a:prstGeom prst="roundRect">
            <a:avLst>
              <a:gd name="adj" fmla="val 18519"/>
            </a:avLst>
          </a:prstGeom>
          <a:solidFill>
            <a:srgbClr val="F2F4F7"/>
          </a:solidFill>
          <a:ln w="12700">
            <a:solidFill>
              <a:srgbClr val="F2F4F7"/>
            </a:solidFill>
            <a:prstDash val="solid"/>
          </a:ln>
        </p:spPr>
      </p:sp>
      <p:sp>
        <p:nvSpPr>
          <p:cNvPr id="22" name="Text 20"/>
          <p:cNvSpPr txBox="1"/>
          <p:nvPr/>
        </p:nvSpPr>
        <p:spPr>
          <a:xfrm>
            <a:off x="3383280" y="3662172"/>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Model versions</a:t>
            </a:r>
            <a:endParaRPr lang="en-US" sz="1000" dirty="0"/>
          </a:p>
        </p:txBody>
      </p:sp>
      <p:sp>
        <p:nvSpPr>
          <p:cNvPr id="23" name="Shape 21"/>
          <p:cNvSpPr/>
          <p:nvPr/>
        </p:nvSpPr>
        <p:spPr>
          <a:xfrm>
            <a:off x="3291840" y="3950208"/>
            <a:ext cx="2743200" cy="246888"/>
          </a:xfrm>
          <a:prstGeom prst="roundRect">
            <a:avLst>
              <a:gd name="adj" fmla="val 18519"/>
            </a:avLst>
          </a:prstGeom>
          <a:solidFill>
            <a:srgbClr val="F2F4F7"/>
          </a:solidFill>
          <a:ln w="12700">
            <a:solidFill>
              <a:srgbClr val="F2F4F7"/>
            </a:solidFill>
            <a:prstDash val="solid"/>
          </a:ln>
        </p:spPr>
      </p:sp>
      <p:sp>
        <p:nvSpPr>
          <p:cNvPr id="24" name="Text 22"/>
          <p:cNvSpPr txBox="1"/>
          <p:nvPr/>
        </p:nvSpPr>
        <p:spPr>
          <a:xfrm>
            <a:off x="3383280" y="3950208"/>
            <a:ext cx="2560320" cy="246888"/>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Overlays</a:t>
            </a:r>
            <a:endParaRPr lang="en-US" sz="1000" dirty="0"/>
          </a:p>
        </p:txBody>
      </p:sp>
      <p:sp>
        <p:nvSpPr>
          <p:cNvPr id="25" name="Shape 23"/>
          <p:cNvSpPr/>
          <p:nvPr/>
        </p:nvSpPr>
        <p:spPr>
          <a:xfrm>
            <a:off x="3291840" y="4238244"/>
            <a:ext cx="2743200" cy="246888"/>
          </a:xfrm>
          <a:prstGeom prst="roundRect">
            <a:avLst>
              <a:gd name="adj" fmla="val 18519"/>
            </a:avLst>
          </a:prstGeom>
          <a:solidFill>
            <a:srgbClr val="E8F3D2"/>
          </a:solidFill>
          <a:ln w="12700">
            <a:solidFill>
              <a:srgbClr val="E8F3D2"/>
            </a:solidFill>
            <a:prstDash val="solid"/>
          </a:ln>
        </p:spPr>
      </p:sp>
      <p:sp>
        <p:nvSpPr>
          <p:cNvPr id="26" name="Text 24"/>
          <p:cNvSpPr txBox="1"/>
          <p:nvPr/>
        </p:nvSpPr>
        <p:spPr>
          <a:xfrm>
            <a:off x="3383280" y="4238244"/>
            <a:ext cx="2560320" cy="246888"/>
          </a:xfrm>
          <a:prstGeom prst="rect">
            <a:avLst/>
          </a:prstGeom>
          <a:noFill/>
          <a:ln/>
        </p:spPr>
        <p:txBody>
          <a:bodyPr wrap="square" lIns="0" tIns="0" rIns="0" bIns="0" rtlCol="0" anchor="ctr"/>
          <a:lstStyle/>
          <a:p>
            <a:pPr indent="0" marL="0">
              <a:buNone/>
            </a:pPr>
            <a:r>
              <a:rPr lang="en-US" sz="1000" b="1" dirty="0">
                <a:solidFill>
                  <a:srgbClr val="4A7A00"/>
                </a:solidFill>
                <a:latin typeface="Arial" pitchFamily="34" charset="0"/>
                <a:ea typeface="Arial" pitchFamily="34" charset="-122"/>
                <a:cs typeface="Arial" pitchFamily="34" charset="-120"/>
              </a:rPr>
              <a:t>= August booked?</a:t>
            </a:r>
            <a:endParaRPr lang="en-US" sz="1000" dirty="0"/>
          </a:p>
        </p:txBody>
      </p:sp>
      <p:sp>
        <p:nvSpPr>
          <p:cNvPr id="27" name="Shape 25"/>
          <p:cNvSpPr/>
          <p:nvPr/>
        </p:nvSpPr>
        <p:spPr>
          <a:xfrm>
            <a:off x="6263640" y="1143000"/>
            <a:ext cx="2423160" cy="3429000"/>
          </a:xfrm>
          <a:prstGeom prst="roundRect">
            <a:avLst>
              <a:gd name="adj" fmla="val 3019"/>
            </a:avLst>
          </a:prstGeom>
          <a:solidFill>
            <a:srgbClr val="0E1726"/>
          </a:solidFill>
          <a:ln w="12700">
            <a:solidFill>
              <a:srgbClr val="0E1726"/>
            </a:solidFill>
            <a:prstDash val="solid"/>
          </a:ln>
        </p:spPr>
      </p:sp>
      <p:sp>
        <p:nvSpPr>
          <p:cNvPr id="28" name="Text 26"/>
          <p:cNvSpPr txBox="1"/>
          <p:nvPr/>
        </p:nvSpPr>
        <p:spPr>
          <a:xfrm>
            <a:off x="6400800" y="1234440"/>
            <a:ext cx="2194560" cy="256032"/>
          </a:xfrm>
          <a:prstGeom prst="rect">
            <a:avLst/>
          </a:prstGeom>
          <a:noFill/>
          <a:ln/>
        </p:spPr>
        <p:txBody>
          <a:bodyPr wrap="square" lIns="0" tIns="0" rIns="0" bIns="0" rtlCol="0" anchor="ctr"/>
          <a:lstStyle/>
          <a:p>
            <a:pPr indent="0" marL="0">
              <a:buNone/>
            </a:pPr>
            <a:r>
              <a:rPr lang="en-US" sz="1000" b="1" spc="100" kern="0" dirty="0">
                <a:solidFill>
                  <a:srgbClr val="76B900"/>
                </a:solidFill>
                <a:latin typeface="Arial" pitchFamily="34" charset="0"/>
                <a:ea typeface="Arial" pitchFamily="34" charset="-122"/>
                <a:cs typeface="Arial" pitchFamily="34" charset="-120"/>
              </a:rPr>
              <a:t>INTERACTION, MEASURED</a:t>
            </a:r>
            <a:endParaRPr lang="en-US" sz="1000" dirty="0"/>
          </a:p>
        </p:txBody>
      </p:sp>
      <p:sp>
        <p:nvSpPr>
          <p:cNvPr id="29" name="Text 27"/>
          <p:cNvSpPr txBox="1"/>
          <p:nvPr/>
        </p:nvSpPr>
        <p:spPr>
          <a:xfrm>
            <a:off x="6400800" y="1554480"/>
            <a:ext cx="1051560" cy="274320"/>
          </a:xfrm>
          <a:prstGeom prst="rect">
            <a:avLst/>
          </a:prstGeom>
          <a:noFill/>
          <a:ln/>
        </p:spPr>
        <p:txBody>
          <a:bodyPr wrap="square" lIns="0" tIns="0" rIns="0" bIns="0" rtlCol="0" anchor="ctr"/>
          <a:lstStyle/>
          <a:p>
            <a:pPr indent="0" marL="0">
              <a:buNone/>
            </a:pPr>
            <a:endParaRPr lang="en-US" sz="1000" dirty="0"/>
          </a:p>
        </p:txBody>
      </p:sp>
      <p:sp>
        <p:nvSpPr>
          <p:cNvPr id="30" name="Text 28"/>
          <p:cNvSpPr txBox="1"/>
          <p:nvPr/>
        </p:nvSpPr>
        <p:spPr>
          <a:xfrm>
            <a:off x="7452360" y="1554480"/>
            <a:ext cx="548640" cy="274320"/>
          </a:xfrm>
          <a:prstGeom prst="rect">
            <a:avLst/>
          </a:prstGeom>
          <a:noFill/>
          <a:ln/>
        </p:spPr>
        <p:txBody>
          <a:bodyPr wrap="square" lIns="0" tIns="0" rIns="0" bIns="0" rtlCol="0" anchor="ctr"/>
          <a:lstStyle/>
          <a:p>
            <a:pPr algn="r" indent="0" marL="0">
              <a:buNone/>
            </a:pPr>
            <a:r>
              <a:rPr lang="en-US" sz="1000" b="1" dirty="0">
                <a:solidFill>
                  <a:srgbClr val="AEB8C6"/>
                </a:solidFill>
                <a:latin typeface="Arial" pitchFamily="34" charset="0"/>
                <a:ea typeface="Arial" pitchFamily="34" charset="-122"/>
                <a:cs typeface="Arial" pitchFamily="34" charset="-120"/>
              </a:rPr>
              <a:t>Walk</a:t>
            </a:r>
            <a:endParaRPr lang="en-US" sz="1000" dirty="0"/>
          </a:p>
        </p:txBody>
      </p:sp>
      <p:sp>
        <p:nvSpPr>
          <p:cNvPr id="31" name="Text 29"/>
          <p:cNvSpPr txBox="1"/>
          <p:nvPr/>
        </p:nvSpPr>
        <p:spPr>
          <a:xfrm>
            <a:off x="8046720" y="1554480"/>
            <a:ext cx="548640" cy="274320"/>
          </a:xfrm>
          <a:prstGeom prst="rect">
            <a:avLst/>
          </a:prstGeom>
          <a:noFill/>
          <a:ln/>
        </p:spPr>
        <p:txBody>
          <a:bodyPr wrap="square" lIns="0" tIns="0" rIns="0" bIns="0" rtlCol="0" anchor="ctr"/>
          <a:lstStyle/>
          <a:p>
            <a:pPr algn="r" indent="0" marL="0">
              <a:buNone/>
            </a:pPr>
            <a:r>
              <a:rPr lang="en-US" sz="1000" b="1" dirty="0">
                <a:solidFill>
                  <a:srgbClr val="AEB8C6"/>
                </a:solidFill>
                <a:latin typeface="Arial" pitchFamily="34" charset="0"/>
                <a:ea typeface="Arial" pitchFamily="34" charset="-122"/>
                <a:cs typeface="Arial" pitchFamily="34" charset="-120"/>
              </a:rPr>
              <a:t>Shapley</a:t>
            </a:r>
            <a:endParaRPr lang="en-US" sz="1000" dirty="0"/>
          </a:p>
        </p:txBody>
      </p:sp>
      <p:sp>
        <p:nvSpPr>
          <p:cNvPr id="32" name="Text 30"/>
          <p:cNvSpPr txBox="1"/>
          <p:nvPr/>
        </p:nvSpPr>
        <p:spPr>
          <a:xfrm>
            <a:off x="6400800" y="1856232"/>
            <a:ext cx="105156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Unemployment</a:t>
            </a:r>
            <a:endParaRPr lang="en-US" sz="1000" dirty="0"/>
          </a:p>
        </p:txBody>
      </p:sp>
      <p:sp>
        <p:nvSpPr>
          <p:cNvPr id="33" name="Text 31"/>
          <p:cNvSpPr txBox="1"/>
          <p:nvPr/>
        </p:nvSpPr>
        <p:spPr>
          <a:xfrm>
            <a:off x="7452360" y="1856232"/>
            <a:ext cx="548640" cy="274320"/>
          </a:xfrm>
          <a:prstGeom prst="rect">
            <a:avLst/>
          </a:prstGeom>
          <a:noFill/>
          <a:ln/>
        </p:spPr>
        <p:txBody>
          <a:bodyPr wrap="square" lIns="0" tIns="0" rIns="0" bIns="0" rtlCol="0" anchor="ctr"/>
          <a:lstStyle/>
          <a:p>
            <a:pPr algn="r" indent="0" marL="0">
              <a:buNone/>
            </a:pPr>
            <a:r>
              <a:rPr lang="en-US" sz="1000" dirty="0">
                <a:solidFill>
                  <a:srgbClr val="FFFFFF"/>
                </a:solidFill>
                <a:latin typeface="Arial" pitchFamily="34" charset="0"/>
                <a:ea typeface="Arial" pitchFamily="34" charset="-122"/>
                <a:cs typeface="Arial" pitchFamily="34" charset="-120"/>
              </a:rPr>
              <a:t>$4.25M</a:t>
            </a:r>
            <a:endParaRPr lang="en-US" sz="1000" dirty="0"/>
          </a:p>
        </p:txBody>
      </p:sp>
      <p:sp>
        <p:nvSpPr>
          <p:cNvPr id="34" name="Text 32"/>
          <p:cNvSpPr txBox="1"/>
          <p:nvPr/>
        </p:nvSpPr>
        <p:spPr>
          <a:xfrm>
            <a:off x="8046720" y="1856232"/>
            <a:ext cx="548640" cy="274320"/>
          </a:xfrm>
          <a:prstGeom prst="rect">
            <a:avLst/>
          </a:prstGeom>
          <a:noFill/>
          <a:ln/>
        </p:spPr>
        <p:txBody>
          <a:bodyPr wrap="square" lIns="0" tIns="0" rIns="0" bIns="0" rtlCol="0" anchor="ctr"/>
          <a:lstStyle/>
          <a:p>
            <a:pPr algn="r" indent="0" marL="0">
              <a:buNone/>
            </a:pPr>
            <a:r>
              <a:rPr lang="en-US" sz="1000" dirty="0">
                <a:solidFill>
                  <a:srgbClr val="76B900"/>
                </a:solidFill>
                <a:latin typeface="Arial" pitchFamily="34" charset="0"/>
                <a:ea typeface="Arial" pitchFamily="34" charset="-122"/>
                <a:cs typeface="Arial" pitchFamily="34" charset="-120"/>
              </a:rPr>
              <a:t>$4.41M</a:t>
            </a:r>
            <a:endParaRPr lang="en-US" sz="1000" dirty="0"/>
          </a:p>
        </p:txBody>
      </p:sp>
      <p:sp>
        <p:nvSpPr>
          <p:cNvPr id="35" name="Text 33"/>
          <p:cNvSpPr txBox="1"/>
          <p:nvPr/>
        </p:nvSpPr>
        <p:spPr>
          <a:xfrm>
            <a:off x="6400800" y="2157984"/>
            <a:ext cx="105156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CRE prices</a:t>
            </a:r>
            <a:endParaRPr lang="en-US" sz="1000" dirty="0"/>
          </a:p>
        </p:txBody>
      </p:sp>
      <p:sp>
        <p:nvSpPr>
          <p:cNvPr id="36" name="Text 34"/>
          <p:cNvSpPr txBox="1"/>
          <p:nvPr/>
        </p:nvSpPr>
        <p:spPr>
          <a:xfrm>
            <a:off x="7452360" y="2157984"/>
            <a:ext cx="548640" cy="274320"/>
          </a:xfrm>
          <a:prstGeom prst="rect">
            <a:avLst/>
          </a:prstGeom>
          <a:noFill/>
          <a:ln/>
        </p:spPr>
        <p:txBody>
          <a:bodyPr wrap="square" lIns="0" tIns="0" rIns="0" bIns="0" rtlCol="0" anchor="ctr"/>
          <a:lstStyle/>
          <a:p>
            <a:pPr algn="r" indent="0" marL="0">
              <a:buNone/>
            </a:pPr>
            <a:r>
              <a:rPr lang="en-US" sz="1000" dirty="0">
                <a:solidFill>
                  <a:srgbClr val="FFFFFF"/>
                </a:solidFill>
                <a:latin typeface="Arial" pitchFamily="34" charset="0"/>
                <a:ea typeface="Arial" pitchFamily="34" charset="-122"/>
                <a:cs typeface="Arial" pitchFamily="34" charset="-120"/>
              </a:rPr>
              <a:t>$3.07M</a:t>
            </a:r>
            <a:endParaRPr lang="en-US" sz="1000" dirty="0"/>
          </a:p>
        </p:txBody>
      </p:sp>
      <p:sp>
        <p:nvSpPr>
          <p:cNvPr id="37" name="Text 35"/>
          <p:cNvSpPr txBox="1"/>
          <p:nvPr/>
        </p:nvSpPr>
        <p:spPr>
          <a:xfrm>
            <a:off x="8046720" y="2157984"/>
            <a:ext cx="548640" cy="274320"/>
          </a:xfrm>
          <a:prstGeom prst="rect">
            <a:avLst/>
          </a:prstGeom>
          <a:noFill/>
          <a:ln/>
        </p:spPr>
        <p:txBody>
          <a:bodyPr wrap="square" lIns="0" tIns="0" rIns="0" bIns="0" rtlCol="0" anchor="ctr"/>
          <a:lstStyle/>
          <a:p>
            <a:pPr algn="r" indent="0" marL="0">
              <a:buNone/>
            </a:pPr>
            <a:r>
              <a:rPr lang="en-US" sz="1000" dirty="0">
                <a:solidFill>
                  <a:srgbClr val="76B900"/>
                </a:solidFill>
                <a:latin typeface="Arial" pitchFamily="34" charset="0"/>
                <a:ea typeface="Arial" pitchFamily="34" charset="-122"/>
                <a:cs typeface="Arial" pitchFamily="34" charset="-120"/>
              </a:rPr>
              <a:t>$2.94M</a:t>
            </a:r>
            <a:endParaRPr lang="en-US" sz="1000" dirty="0"/>
          </a:p>
        </p:txBody>
      </p:sp>
      <p:sp>
        <p:nvSpPr>
          <p:cNvPr id="38" name="Text 36"/>
          <p:cNvSpPr txBox="1"/>
          <p:nvPr/>
        </p:nvSpPr>
        <p:spPr>
          <a:xfrm>
            <a:off x="6400800" y="2560320"/>
            <a:ext cx="2194560" cy="1920240"/>
          </a:xfrm>
          <a:prstGeom prst="rect">
            <a:avLst/>
          </a:prstGeom>
          <a:noFill/>
          <a:ln/>
        </p:spPr>
        <p:txBody>
          <a:bodyPr wrap="square" lIns="0" tIns="0" rIns="0" bIns="0" rtlCol="0" anchor="t"/>
          <a:lstStyle/>
          <a:p>
            <a:pPr indent="0" marL="0">
              <a:spcAft>
                <a:spcPts val="500"/>
              </a:spcAft>
              <a:buNone/>
            </a:pPr>
            <a:r>
              <a:rPr lang="en-US" sz="1000" dirty="0">
                <a:solidFill>
                  <a:srgbClr val="C9D2DE"/>
                </a:solidFill>
                <a:latin typeface="Arial" pitchFamily="34" charset="0"/>
                <a:ea typeface="Arial" pitchFamily="34" charset="-122"/>
                <a:cs typeface="Arial" pitchFamily="34" charset="-120"/>
              </a:rPr>
              <a:t>Each step telescopes, so the walk sums exactly; the residual is real, vs an independent August run.</a:t>
            </a:r>
            <a:endParaRPr lang="en-US" sz="1000" dirty="0"/>
          </a:p>
          <a:p>
            <a:pPr indent="0" marL="0">
              <a:spcAft>
                <a:spcPts val="500"/>
              </a:spcAft>
              <a:buNone/>
            </a:pPr>
            <a:r>
              <a:rPr lang="en-US" sz="1000" dirty="0">
                <a:solidFill>
                  <a:srgbClr val="C9D2DE"/>
                </a:solidFill>
                <a:latin typeface="Arial" pitchFamily="34" charset="0"/>
                <a:ea typeface="Arial" pitchFamily="34" charset="-122"/>
                <a:cs typeface="Arial" pitchFamily="34" charset="-120"/>
              </a:rPr>
              <a:t>Reversed walk + exact Shapley (32 driver runs, 64 macro) show how much is interaction.</a:t>
            </a:r>
            <a:endParaRPr lang="en-US" sz="1000" dirty="0"/>
          </a:p>
          <a:p>
            <a:pPr indent="0" marL="0">
              <a:spcAft>
                <a:spcPts val="500"/>
              </a:spcAft>
              <a:buNone/>
            </a:pPr>
            <a:r>
              <a:rPr lang="en-US" sz="1000" b="1" dirty="0">
                <a:solidFill>
                  <a:srgbClr val="FFFFFF"/>
                </a:solidFill>
                <a:latin typeface="Arial" pitchFamily="34" charset="0"/>
                <a:ea typeface="Arial" pitchFamily="34" charset="-122"/>
                <a:cs typeface="Arial" pitchFamily="34" charset="-120"/>
              </a:rPr>
              <a:t>Agents report the driver with its robustness; the Reconciliation agent flags WARNING if methods disagree.</a:t>
            </a:r>
            <a:endParaRPr lang="en-US" sz="1000" dirty="0"/>
          </a:p>
        </p:txBody>
      </p:sp>
      <p:sp>
        <p:nvSpPr>
          <p:cNvPr id="39" name="Text 37"/>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Results are kept per loan and per step, so portfolio and borrower drill-downs are exact sums of the same numbers.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WHO READS WHAT</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Each agent gets only the inputs and tools its job needs</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234440"/>
                <a:gridCol w="2514600"/>
                <a:gridCol w="3977640"/>
                <a:gridCol w="502920"/>
              </a:tblGrid>
              <a:tr h="329184">
                <a:tc>
                  <a:txBody>
                    <a:bodyPr/>
                    <a:lstStyle/>
                    <a:p>
                      <a:pPr indent="0" marL="0">
                        <a:buNone/>
                      </a:pPr>
                      <a:r>
                        <a:rPr lang="en-US" sz="1000" b="1" dirty="0">
                          <a:solidFill>
                            <a:srgbClr val="1B2333"/>
                          </a:solidFill>
                          <a:latin typeface="Arial" pitchFamily="34" charset="0"/>
                          <a:ea typeface="Arial" pitchFamily="34" charset="-122"/>
                          <a:cs typeface="Arial" pitchFamily="34" charset="-120"/>
                        </a:rPr>
                        <a:t>Agent</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2F4F7"/>
                    </a:solidFill>
                  </a:tcPr>
                </a:tc>
                <a:tc>
                  <a:txBody>
                    <a:bodyPr/>
                    <a:lstStyle/>
                    <a:p>
                      <a:pPr indent="0" marL="0">
                        <a:buNone/>
                      </a:pPr>
                      <a:r>
                        <a:rPr lang="en-US" sz="1000" b="1" dirty="0">
                          <a:solidFill>
                            <a:srgbClr val="1B2333"/>
                          </a:solidFill>
                          <a:latin typeface="Arial" pitchFamily="34" charset="0"/>
                          <a:ea typeface="Arial" pitchFamily="34" charset="-122"/>
                          <a:cs typeface="Arial" pitchFamily="34" charset="-120"/>
                        </a:rPr>
                        <a:t>Reads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2F4F7"/>
                    </a:solidFill>
                  </a:tcPr>
                </a:tc>
                <a:tc>
                  <a:txBody>
                    <a:bodyPr/>
                    <a:lstStyle/>
                    <a:p>
                      <a:pPr indent="0" marL="0">
                        <a:buNone/>
                      </a:pPr>
                      <a:r>
                        <a:rPr lang="en-US" sz="1000" b="1" dirty="0">
                          <a:solidFill>
                            <a:srgbClr val="1B2333"/>
                          </a:solidFill>
                          <a:latin typeface="Arial" pitchFamily="34" charset="0"/>
                          <a:ea typeface="Arial" pitchFamily="34" charset="-122"/>
                          <a:cs typeface="Arial" pitchFamily="34" charset="-120"/>
                        </a:rPr>
                        <a:t>Key tools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2F4F7"/>
                    </a:solidFill>
                  </a:tcPr>
                </a:tc>
                <a:tc>
                  <a:txBody>
                    <a:bodyPr/>
                    <a:lstStyle/>
                    <a:p>
                      <a:pPr indent="0" marL="0">
                        <a:buNone/>
                      </a:pPr>
                      <a:r>
                        <a:rPr lang="en-US" sz="1000" b="1" dirty="0">
                          <a:solidFill>
                            <a:srgbClr val="1B2333"/>
                          </a:solidFill>
                          <a:latin typeface="Arial" pitchFamily="34" charset="0"/>
                          <a:ea typeface="Arial" pitchFamily="34" charset="-122"/>
                          <a:cs typeface="Arial" pitchFamily="34" charset="-120"/>
                        </a:rPr>
                        <a:t>Tools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2F4F7"/>
                    </a:solidFill>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Orchestrator</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the question; specialists' findings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ask_&lt;specialist&gt;, compare_allowance, attribution</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Portfolio</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balances, originations, exits, EAD</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calculate_balance_change, calculate_new_originations, calculate_paydowns, calculate_ead_change</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14</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Credit</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ratings, PD/LGD, DSCR, LTV, FICO, DPD</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calculate_pd_migration, calculate_rating_migration, identify_top_contributors, compare_borrower_periods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15</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Macro</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scenario paths, weights, sensitivities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compare_macro_scenarios, calculate_variable_attribution, run_scenario_analysis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14</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Model Risk</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model inventory, parameters, overlays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compare_model_versions, compare_model_parameters, compare_management_overlays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12</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Reconciliation</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booked allowance vs engine re-runs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reconcile_allowance_change, calculate_portfolio_attribution</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11</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Quant</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booked data, read-only sandbox</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describe_datasets, run_python_analysis</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Reporting</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tool outputs and call log</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build_attribution_workbook (Excel pack)</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000" b="1" dirty="0">
                          <a:solidFill>
                            <a:srgbClr val="4A7A00"/>
                          </a:solidFill>
                          <a:latin typeface="Arial" pitchFamily="34" charset="0"/>
                          <a:ea typeface="Arial" pitchFamily="34" charset="-122"/>
                          <a:cs typeface="Arial" pitchFamily="34" charset="-120"/>
                        </a:rPr>
                        <a:t>Regulatory</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1B2333"/>
                          </a:solidFill>
                          <a:latin typeface="Arial" pitchFamily="34" charset="0"/>
                          <a:ea typeface="Arial" pitchFamily="34" charset="-122"/>
                          <a:cs typeface="Arial" pitchFamily="34" charset="-120"/>
                        </a:rPr>
                        <a:t>local guidance library, page-cited</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000" dirty="0">
                          <a:solidFill>
                            <a:srgbClr val="5B6577"/>
                          </a:solidFill>
                          <a:latin typeface="Arial" pitchFamily="34" charset="0"/>
                          <a:ea typeface="Arial" pitchFamily="34" charset="-122"/>
                          <a:cs typeface="Arial" pitchFamily="34" charset="-120"/>
                        </a:rPr>
                        <a:t>search_regulation, get_regulatory_passage</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000" dirty="0">
                          <a:solidFill>
                            <a:srgbClr val="1B2333"/>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63500" marR="63500" marT="25400" marB="2540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bl>
          </a:graphicData>
        </a:graphic>
      </p:graphicFrame>
      <p:sp>
        <p:nvSpPr>
          <p:cNvPr id="5" name="Text 2"/>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Allow-lists in config/agents.yaml; a test keeps them in sync with the tools. All calls go through call_tool: validation, argument repair, provenance.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WHAT THE AGENTS FOUND</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Macro and credit deterioration drove 93% of the increase</a:t>
            </a:r>
            <a:endParaRPr lang="en-US" sz="2600" dirty="0"/>
          </a:p>
        </p:txBody>
      </p:sp>
      <p:sp>
        <p:nvSpPr>
          <p:cNvPr id="4" name="Shape 2"/>
          <p:cNvSpPr/>
          <p:nvPr/>
        </p:nvSpPr>
        <p:spPr>
          <a:xfrm>
            <a:off x="868680" y="4251960"/>
            <a:ext cx="4892040" cy="0"/>
          </a:xfrm>
          <a:prstGeom prst="line">
            <a:avLst/>
          </a:prstGeom>
          <a:noFill/>
          <a:ln w="9525">
            <a:solidFill>
              <a:srgbClr val="E5E8EE"/>
            </a:solidFill>
            <a:prstDash val="solid"/>
          </a:ln>
        </p:spPr>
      </p:sp>
      <p:sp>
        <p:nvSpPr>
          <p:cNvPr id="5" name="Text 3"/>
          <p:cNvSpPr txBox="1"/>
          <p:nvPr/>
        </p:nvSpPr>
        <p:spPr>
          <a:xfrm>
            <a:off x="274320" y="4151376"/>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$90M</a:t>
            </a:r>
            <a:endParaRPr lang="en-US" sz="900" dirty="0"/>
          </a:p>
        </p:txBody>
      </p:sp>
      <p:sp>
        <p:nvSpPr>
          <p:cNvPr id="6" name="Shape 4"/>
          <p:cNvSpPr/>
          <p:nvPr/>
        </p:nvSpPr>
        <p:spPr>
          <a:xfrm>
            <a:off x="868680" y="3820886"/>
            <a:ext cx="4892040" cy="0"/>
          </a:xfrm>
          <a:prstGeom prst="line">
            <a:avLst/>
          </a:prstGeom>
          <a:noFill/>
          <a:ln w="9525">
            <a:solidFill>
              <a:srgbClr val="E5E8EE"/>
            </a:solidFill>
            <a:prstDash val="solid"/>
          </a:ln>
        </p:spPr>
      </p:sp>
      <p:sp>
        <p:nvSpPr>
          <p:cNvPr id="7" name="Text 5"/>
          <p:cNvSpPr txBox="1"/>
          <p:nvPr/>
        </p:nvSpPr>
        <p:spPr>
          <a:xfrm>
            <a:off x="274320" y="3720302"/>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$95M</a:t>
            </a:r>
            <a:endParaRPr lang="en-US" sz="900" dirty="0"/>
          </a:p>
        </p:txBody>
      </p:sp>
      <p:sp>
        <p:nvSpPr>
          <p:cNvPr id="8" name="Shape 6"/>
          <p:cNvSpPr/>
          <p:nvPr/>
        </p:nvSpPr>
        <p:spPr>
          <a:xfrm>
            <a:off x="868680" y="3389811"/>
            <a:ext cx="4892040" cy="0"/>
          </a:xfrm>
          <a:prstGeom prst="line">
            <a:avLst/>
          </a:prstGeom>
          <a:noFill/>
          <a:ln w="9525">
            <a:solidFill>
              <a:srgbClr val="E5E8EE"/>
            </a:solidFill>
            <a:prstDash val="solid"/>
          </a:ln>
        </p:spPr>
      </p:sp>
      <p:sp>
        <p:nvSpPr>
          <p:cNvPr id="9" name="Text 7"/>
          <p:cNvSpPr txBox="1"/>
          <p:nvPr/>
        </p:nvSpPr>
        <p:spPr>
          <a:xfrm>
            <a:off x="274320" y="3289227"/>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$100M</a:t>
            </a:r>
            <a:endParaRPr lang="en-US" sz="900" dirty="0"/>
          </a:p>
        </p:txBody>
      </p:sp>
      <p:sp>
        <p:nvSpPr>
          <p:cNvPr id="10" name="Shape 8"/>
          <p:cNvSpPr/>
          <p:nvPr/>
        </p:nvSpPr>
        <p:spPr>
          <a:xfrm>
            <a:off x="868680" y="2958737"/>
            <a:ext cx="4892040" cy="0"/>
          </a:xfrm>
          <a:prstGeom prst="line">
            <a:avLst/>
          </a:prstGeom>
          <a:noFill/>
          <a:ln w="9525">
            <a:solidFill>
              <a:srgbClr val="E5E8EE"/>
            </a:solidFill>
            <a:prstDash val="solid"/>
          </a:ln>
        </p:spPr>
      </p:sp>
      <p:sp>
        <p:nvSpPr>
          <p:cNvPr id="11" name="Text 9"/>
          <p:cNvSpPr txBox="1"/>
          <p:nvPr/>
        </p:nvSpPr>
        <p:spPr>
          <a:xfrm>
            <a:off x="274320" y="2858153"/>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$105M</a:t>
            </a:r>
            <a:endParaRPr lang="en-US" sz="900" dirty="0"/>
          </a:p>
        </p:txBody>
      </p:sp>
      <p:sp>
        <p:nvSpPr>
          <p:cNvPr id="12" name="Shape 10"/>
          <p:cNvSpPr/>
          <p:nvPr/>
        </p:nvSpPr>
        <p:spPr>
          <a:xfrm>
            <a:off x="868680" y="2527663"/>
            <a:ext cx="4892040" cy="0"/>
          </a:xfrm>
          <a:prstGeom prst="line">
            <a:avLst/>
          </a:prstGeom>
          <a:noFill/>
          <a:ln w="9525">
            <a:solidFill>
              <a:srgbClr val="E5E8EE"/>
            </a:solidFill>
            <a:prstDash val="solid"/>
          </a:ln>
        </p:spPr>
      </p:sp>
      <p:sp>
        <p:nvSpPr>
          <p:cNvPr id="13" name="Text 11"/>
          <p:cNvSpPr txBox="1"/>
          <p:nvPr/>
        </p:nvSpPr>
        <p:spPr>
          <a:xfrm>
            <a:off x="274320" y="2427079"/>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$110M</a:t>
            </a:r>
            <a:endParaRPr lang="en-US" sz="900" dirty="0"/>
          </a:p>
        </p:txBody>
      </p:sp>
      <p:sp>
        <p:nvSpPr>
          <p:cNvPr id="14" name="Shape 12"/>
          <p:cNvSpPr/>
          <p:nvPr/>
        </p:nvSpPr>
        <p:spPr>
          <a:xfrm>
            <a:off x="868680" y="2096589"/>
            <a:ext cx="4892040" cy="0"/>
          </a:xfrm>
          <a:prstGeom prst="line">
            <a:avLst/>
          </a:prstGeom>
          <a:noFill/>
          <a:ln w="9525">
            <a:solidFill>
              <a:srgbClr val="E5E8EE"/>
            </a:solidFill>
            <a:prstDash val="solid"/>
          </a:ln>
        </p:spPr>
      </p:sp>
      <p:sp>
        <p:nvSpPr>
          <p:cNvPr id="15" name="Text 13"/>
          <p:cNvSpPr txBox="1"/>
          <p:nvPr/>
        </p:nvSpPr>
        <p:spPr>
          <a:xfrm>
            <a:off x="274320" y="1996005"/>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$115M</a:t>
            </a:r>
            <a:endParaRPr lang="en-US" sz="900" dirty="0"/>
          </a:p>
        </p:txBody>
      </p:sp>
      <p:sp>
        <p:nvSpPr>
          <p:cNvPr id="16" name="Shape 14"/>
          <p:cNvSpPr/>
          <p:nvPr/>
        </p:nvSpPr>
        <p:spPr>
          <a:xfrm>
            <a:off x="868680" y="1665514"/>
            <a:ext cx="4892040" cy="0"/>
          </a:xfrm>
          <a:prstGeom prst="line">
            <a:avLst/>
          </a:prstGeom>
          <a:noFill/>
          <a:ln w="9525">
            <a:solidFill>
              <a:srgbClr val="E5E8EE"/>
            </a:solidFill>
            <a:prstDash val="solid"/>
          </a:ln>
        </p:spPr>
      </p:sp>
      <p:sp>
        <p:nvSpPr>
          <p:cNvPr id="17" name="Text 15"/>
          <p:cNvSpPr txBox="1"/>
          <p:nvPr/>
        </p:nvSpPr>
        <p:spPr>
          <a:xfrm>
            <a:off x="274320" y="1564930"/>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$120M</a:t>
            </a:r>
            <a:endParaRPr lang="en-US" sz="900" dirty="0"/>
          </a:p>
        </p:txBody>
      </p:sp>
      <p:sp>
        <p:nvSpPr>
          <p:cNvPr id="18" name="Shape 16"/>
          <p:cNvSpPr/>
          <p:nvPr/>
        </p:nvSpPr>
        <p:spPr>
          <a:xfrm>
            <a:off x="868680" y="1234440"/>
            <a:ext cx="4892040" cy="0"/>
          </a:xfrm>
          <a:prstGeom prst="line">
            <a:avLst/>
          </a:prstGeom>
          <a:noFill/>
          <a:ln w="9525">
            <a:solidFill>
              <a:srgbClr val="E5E8EE"/>
            </a:solidFill>
            <a:prstDash val="solid"/>
          </a:ln>
        </p:spPr>
      </p:sp>
      <p:sp>
        <p:nvSpPr>
          <p:cNvPr id="19" name="Text 17"/>
          <p:cNvSpPr txBox="1"/>
          <p:nvPr/>
        </p:nvSpPr>
        <p:spPr>
          <a:xfrm>
            <a:off x="274320" y="1133856"/>
            <a:ext cx="548640" cy="201168"/>
          </a:xfrm>
          <a:prstGeom prst="rect">
            <a:avLst/>
          </a:prstGeom>
          <a:noFill/>
          <a:ln/>
        </p:spPr>
        <p:txBody>
          <a:bodyPr wrap="square" lIns="0" tIns="0" rIns="0" bIns="0" rtlCol="0" anchor="ctr"/>
          <a:lstStyle/>
          <a:p>
            <a:pPr algn="r" indent="0" marL="0">
              <a:buNone/>
            </a:pPr>
            <a:r>
              <a:rPr lang="en-US" sz="900" dirty="0">
                <a:solidFill>
                  <a:srgbClr val="5B6577"/>
                </a:solidFill>
                <a:latin typeface="Arial" pitchFamily="34" charset="0"/>
                <a:ea typeface="Arial" pitchFamily="34" charset="-122"/>
                <a:cs typeface="Arial" pitchFamily="34" charset="-120"/>
              </a:rPr>
              <a:t>$125M</a:t>
            </a:r>
            <a:endParaRPr lang="en-US" sz="900" dirty="0"/>
          </a:p>
        </p:txBody>
      </p:sp>
      <p:sp>
        <p:nvSpPr>
          <p:cNvPr id="20" name="Shape 18"/>
          <p:cNvSpPr/>
          <p:nvPr/>
        </p:nvSpPr>
        <p:spPr>
          <a:xfrm>
            <a:off x="984866" y="3470853"/>
            <a:ext cx="379133" cy="781107"/>
          </a:xfrm>
          <a:prstGeom prst="rect">
            <a:avLst/>
          </a:prstGeom>
          <a:solidFill>
            <a:srgbClr val="33415A"/>
          </a:solidFill>
          <a:ln w="12700">
            <a:solidFill>
              <a:srgbClr val="33415A"/>
            </a:solidFill>
            <a:prstDash val="solid"/>
          </a:ln>
        </p:spPr>
      </p:sp>
      <p:sp>
        <p:nvSpPr>
          <p:cNvPr id="21" name="Text 19"/>
          <p:cNvSpPr txBox="1"/>
          <p:nvPr/>
        </p:nvSpPr>
        <p:spPr>
          <a:xfrm>
            <a:off x="801986" y="3233109"/>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$99.06M</a:t>
            </a:r>
            <a:endParaRPr lang="en-US" sz="900" dirty="0"/>
          </a:p>
        </p:txBody>
      </p:sp>
      <p:sp>
        <p:nvSpPr>
          <p:cNvPr id="22" name="Text 20"/>
          <p:cNvSpPr txBox="1"/>
          <p:nvPr/>
        </p:nvSpPr>
        <p:spPr>
          <a:xfrm>
            <a:off x="801986"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Jul 31</a:t>
            </a:r>
            <a:endParaRPr lang="en-US" sz="1000" dirty="0"/>
          </a:p>
        </p:txBody>
      </p:sp>
      <p:sp>
        <p:nvSpPr>
          <p:cNvPr id="23" name="Shape 21"/>
          <p:cNvSpPr/>
          <p:nvPr/>
        </p:nvSpPr>
        <p:spPr>
          <a:xfrm>
            <a:off x="1596371" y="3470853"/>
            <a:ext cx="379133" cy="229332"/>
          </a:xfrm>
          <a:prstGeom prst="rect">
            <a:avLst/>
          </a:prstGeom>
          <a:solidFill>
            <a:srgbClr val="C8414F"/>
          </a:solidFill>
          <a:ln w="12700">
            <a:solidFill>
              <a:srgbClr val="C8414F"/>
            </a:solidFill>
            <a:prstDash val="solid"/>
          </a:ln>
        </p:spPr>
      </p:sp>
      <p:sp>
        <p:nvSpPr>
          <p:cNvPr id="24" name="Text 22"/>
          <p:cNvSpPr txBox="1"/>
          <p:nvPr/>
        </p:nvSpPr>
        <p:spPr>
          <a:xfrm>
            <a:off x="1413491" y="3233109"/>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−$2.66M</a:t>
            </a:r>
            <a:endParaRPr lang="en-US" sz="900" dirty="0"/>
          </a:p>
        </p:txBody>
      </p:sp>
      <p:sp>
        <p:nvSpPr>
          <p:cNvPr id="25" name="Text 23"/>
          <p:cNvSpPr txBox="1"/>
          <p:nvPr/>
        </p:nvSpPr>
        <p:spPr>
          <a:xfrm>
            <a:off x="1413491"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Runoff</a:t>
            </a:r>
            <a:endParaRPr lang="en-US" sz="1000" dirty="0"/>
          </a:p>
        </p:txBody>
      </p:sp>
      <p:sp>
        <p:nvSpPr>
          <p:cNvPr id="26" name="Shape 24"/>
          <p:cNvSpPr/>
          <p:nvPr/>
        </p:nvSpPr>
        <p:spPr>
          <a:xfrm>
            <a:off x="2207876" y="3511374"/>
            <a:ext cx="379133" cy="188811"/>
          </a:xfrm>
          <a:prstGeom prst="rect">
            <a:avLst/>
          </a:prstGeom>
          <a:solidFill>
            <a:srgbClr val="76B900"/>
          </a:solidFill>
          <a:ln w="12700">
            <a:solidFill>
              <a:srgbClr val="76B900"/>
            </a:solidFill>
            <a:prstDash val="solid"/>
          </a:ln>
        </p:spPr>
      </p:sp>
      <p:sp>
        <p:nvSpPr>
          <p:cNvPr id="27" name="Text 25"/>
          <p:cNvSpPr txBox="1"/>
          <p:nvPr/>
        </p:nvSpPr>
        <p:spPr>
          <a:xfrm>
            <a:off x="2024996" y="3273630"/>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+$2.19M</a:t>
            </a:r>
            <a:endParaRPr lang="en-US" sz="900" dirty="0"/>
          </a:p>
        </p:txBody>
      </p:sp>
      <p:sp>
        <p:nvSpPr>
          <p:cNvPr id="28" name="Text 26"/>
          <p:cNvSpPr txBox="1"/>
          <p:nvPr/>
        </p:nvSpPr>
        <p:spPr>
          <a:xfrm>
            <a:off x="2024996"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Growth</a:t>
            </a:r>
            <a:endParaRPr lang="en-US" sz="1000" dirty="0"/>
          </a:p>
        </p:txBody>
      </p:sp>
      <p:sp>
        <p:nvSpPr>
          <p:cNvPr id="29" name="Shape 27"/>
          <p:cNvSpPr/>
          <p:nvPr/>
        </p:nvSpPr>
        <p:spPr>
          <a:xfrm>
            <a:off x="2819381" y="2866487"/>
            <a:ext cx="379133" cy="644887"/>
          </a:xfrm>
          <a:prstGeom prst="rect">
            <a:avLst/>
          </a:prstGeom>
          <a:solidFill>
            <a:srgbClr val="76B900"/>
          </a:solidFill>
          <a:ln w="12700">
            <a:solidFill>
              <a:srgbClr val="76B900"/>
            </a:solidFill>
            <a:prstDash val="solid"/>
          </a:ln>
        </p:spPr>
      </p:sp>
      <p:sp>
        <p:nvSpPr>
          <p:cNvPr id="30" name="Text 28"/>
          <p:cNvSpPr txBox="1"/>
          <p:nvPr/>
        </p:nvSpPr>
        <p:spPr>
          <a:xfrm>
            <a:off x="2636501" y="2628743"/>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+$7.48M</a:t>
            </a:r>
            <a:endParaRPr lang="en-US" sz="900" dirty="0"/>
          </a:p>
        </p:txBody>
      </p:sp>
      <p:sp>
        <p:nvSpPr>
          <p:cNvPr id="31" name="Text 29"/>
          <p:cNvSpPr txBox="1"/>
          <p:nvPr/>
        </p:nvSpPr>
        <p:spPr>
          <a:xfrm>
            <a:off x="2636501"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Credit</a:t>
            </a:r>
            <a:endParaRPr lang="en-US" sz="1000" dirty="0"/>
          </a:p>
        </p:txBody>
      </p:sp>
      <p:sp>
        <p:nvSpPr>
          <p:cNvPr id="32" name="Shape 30"/>
          <p:cNvSpPr/>
          <p:nvPr/>
        </p:nvSpPr>
        <p:spPr>
          <a:xfrm>
            <a:off x="3430886" y="1975026"/>
            <a:ext cx="379133" cy="891462"/>
          </a:xfrm>
          <a:prstGeom prst="rect">
            <a:avLst/>
          </a:prstGeom>
          <a:solidFill>
            <a:srgbClr val="76B900"/>
          </a:solidFill>
          <a:ln w="12700">
            <a:solidFill>
              <a:srgbClr val="76B900"/>
            </a:solidFill>
            <a:prstDash val="solid"/>
          </a:ln>
        </p:spPr>
      </p:sp>
      <p:sp>
        <p:nvSpPr>
          <p:cNvPr id="33" name="Text 31"/>
          <p:cNvSpPr txBox="1"/>
          <p:nvPr/>
        </p:nvSpPr>
        <p:spPr>
          <a:xfrm>
            <a:off x="3248006" y="1737282"/>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+$10.34M</a:t>
            </a:r>
            <a:endParaRPr lang="en-US" sz="900" dirty="0"/>
          </a:p>
        </p:txBody>
      </p:sp>
      <p:sp>
        <p:nvSpPr>
          <p:cNvPr id="34" name="Text 32"/>
          <p:cNvSpPr txBox="1"/>
          <p:nvPr/>
        </p:nvSpPr>
        <p:spPr>
          <a:xfrm>
            <a:off x="3248006"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Macro</a:t>
            </a:r>
            <a:endParaRPr lang="en-US" sz="1000" dirty="0"/>
          </a:p>
        </p:txBody>
      </p:sp>
      <p:sp>
        <p:nvSpPr>
          <p:cNvPr id="35" name="Shape 33"/>
          <p:cNvSpPr/>
          <p:nvPr/>
        </p:nvSpPr>
        <p:spPr>
          <a:xfrm>
            <a:off x="4042391" y="1812942"/>
            <a:ext cx="379133" cy="162084"/>
          </a:xfrm>
          <a:prstGeom prst="rect">
            <a:avLst/>
          </a:prstGeom>
          <a:solidFill>
            <a:srgbClr val="76B900"/>
          </a:solidFill>
          <a:ln w="12700">
            <a:solidFill>
              <a:srgbClr val="76B900"/>
            </a:solidFill>
            <a:prstDash val="solid"/>
          </a:ln>
        </p:spPr>
      </p:sp>
      <p:sp>
        <p:nvSpPr>
          <p:cNvPr id="36" name="Text 34"/>
          <p:cNvSpPr txBox="1"/>
          <p:nvPr/>
        </p:nvSpPr>
        <p:spPr>
          <a:xfrm>
            <a:off x="3859511" y="1575198"/>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+$1.88M</a:t>
            </a:r>
            <a:endParaRPr lang="en-US" sz="900" dirty="0"/>
          </a:p>
        </p:txBody>
      </p:sp>
      <p:sp>
        <p:nvSpPr>
          <p:cNvPr id="37" name="Text 35"/>
          <p:cNvSpPr txBox="1"/>
          <p:nvPr/>
        </p:nvSpPr>
        <p:spPr>
          <a:xfrm>
            <a:off x="3859511"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Weights</a:t>
            </a:r>
            <a:endParaRPr lang="en-US" sz="1000" dirty="0"/>
          </a:p>
        </p:txBody>
      </p:sp>
      <p:sp>
        <p:nvSpPr>
          <p:cNvPr id="38" name="Shape 36"/>
          <p:cNvSpPr/>
          <p:nvPr/>
        </p:nvSpPr>
        <p:spPr>
          <a:xfrm>
            <a:off x="4653896" y="1812942"/>
            <a:ext cx="379133" cy="18288"/>
          </a:xfrm>
          <a:prstGeom prst="rect">
            <a:avLst/>
          </a:prstGeom>
          <a:solidFill>
            <a:srgbClr val="C7D0DC"/>
          </a:solidFill>
          <a:ln w="12700">
            <a:solidFill>
              <a:srgbClr val="C7D0DC"/>
            </a:solidFill>
            <a:prstDash val="solid"/>
          </a:ln>
        </p:spPr>
      </p:sp>
      <p:sp>
        <p:nvSpPr>
          <p:cNvPr id="39" name="Text 37"/>
          <p:cNvSpPr txBox="1"/>
          <p:nvPr/>
        </p:nvSpPr>
        <p:spPr>
          <a:xfrm>
            <a:off x="4471016" y="1575198"/>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$0.00M</a:t>
            </a:r>
            <a:endParaRPr lang="en-US" sz="900" dirty="0"/>
          </a:p>
        </p:txBody>
      </p:sp>
      <p:sp>
        <p:nvSpPr>
          <p:cNvPr id="40" name="Text 38"/>
          <p:cNvSpPr txBox="1"/>
          <p:nvPr/>
        </p:nvSpPr>
        <p:spPr>
          <a:xfrm>
            <a:off x="4471016"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Model</a:t>
            </a:r>
            <a:endParaRPr lang="en-US" sz="1000" dirty="0"/>
          </a:p>
        </p:txBody>
      </p:sp>
      <p:sp>
        <p:nvSpPr>
          <p:cNvPr id="41" name="Shape 39"/>
          <p:cNvSpPr/>
          <p:nvPr/>
        </p:nvSpPr>
        <p:spPr>
          <a:xfrm>
            <a:off x="5265401" y="1812080"/>
            <a:ext cx="379133" cy="2439880"/>
          </a:xfrm>
          <a:prstGeom prst="rect">
            <a:avLst/>
          </a:prstGeom>
          <a:solidFill>
            <a:srgbClr val="33415A"/>
          </a:solidFill>
          <a:ln w="12700">
            <a:solidFill>
              <a:srgbClr val="33415A"/>
            </a:solidFill>
            <a:prstDash val="solid"/>
          </a:ln>
        </p:spPr>
      </p:sp>
      <p:sp>
        <p:nvSpPr>
          <p:cNvPr id="42" name="Text 40"/>
          <p:cNvSpPr txBox="1"/>
          <p:nvPr/>
        </p:nvSpPr>
        <p:spPr>
          <a:xfrm>
            <a:off x="5082521" y="1574336"/>
            <a:ext cx="744893" cy="201168"/>
          </a:xfrm>
          <a:prstGeom prst="rect">
            <a:avLst/>
          </a:prstGeom>
          <a:noFill/>
          <a:ln/>
        </p:spPr>
        <p:txBody>
          <a:bodyPr wrap="square" lIns="0" tIns="0" rIns="0" bIns="0" rtlCol="0" anchor="b"/>
          <a:lstStyle/>
          <a:p>
            <a:pPr algn="ctr" indent="0" marL="0">
              <a:buNone/>
            </a:pPr>
            <a:r>
              <a:rPr lang="en-US" sz="900" b="1" dirty="0">
                <a:solidFill>
                  <a:srgbClr val="1B2333"/>
                </a:solidFill>
                <a:latin typeface="Arial" pitchFamily="34" charset="0"/>
                <a:ea typeface="Arial" pitchFamily="34" charset="-122"/>
                <a:cs typeface="Arial" pitchFamily="34" charset="-120"/>
              </a:rPr>
              <a:t>$118.30M</a:t>
            </a:r>
            <a:endParaRPr lang="en-US" sz="900" dirty="0"/>
          </a:p>
        </p:txBody>
      </p:sp>
      <p:sp>
        <p:nvSpPr>
          <p:cNvPr id="43" name="Text 41"/>
          <p:cNvSpPr txBox="1"/>
          <p:nvPr/>
        </p:nvSpPr>
        <p:spPr>
          <a:xfrm>
            <a:off x="5082521" y="4306824"/>
            <a:ext cx="744893" cy="228600"/>
          </a:xfrm>
          <a:prstGeom prst="rect">
            <a:avLst/>
          </a:prstGeom>
          <a:noFill/>
          <a:ln/>
        </p:spPr>
        <p:txBody>
          <a:bodyPr wrap="square" lIns="0" tIns="0" rIns="0" bIns="0" rtlCol="0" anchor="ctr"/>
          <a:lstStyle/>
          <a:p>
            <a:pPr algn="ctr" indent="0" marL="0">
              <a:buNone/>
            </a:pPr>
            <a:r>
              <a:rPr lang="en-US" sz="1000" dirty="0">
                <a:solidFill>
                  <a:srgbClr val="1B2333"/>
                </a:solidFill>
                <a:latin typeface="Arial" pitchFamily="34" charset="0"/>
                <a:ea typeface="Arial" pitchFamily="34" charset="-122"/>
                <a:cs typeface="Arial" pitchFamily="34" charset="-120"/>
              </a:rPr>
              <a:t>Aug 31</a:t>
            </a:r>
            <a:endParaRPr lang="en-US" sz="1000" dirty="0"/>
          </a:p>
        </p:txBody>
      </p:sp>
      <p:sp>
        <p:nvSpPr>
          <p:cNvPr id="44" name="Text 42"/>
          <p:cNvSpPr txBox="1"/>
          <p:nvPr/>
        </p:nvSpPr>
        <p:spPr>
          <a:xfrm>
            <a:off x="868680" y="4581144"/>
            <a:ext cx="2743200" cy="201168"/>
          </a:xfrm>
          <a:prstGeom prst="rect">
            <a:avLst/>
          </a:prstGeom>
          <a:noFill/>
          <a:ln/>
        </p:spPr>
        <p:txBody>
          <a:bodyPr wrap="square" lIns="0" tIns="0" rIns="0" bIns="0" rtlCol="0" anchor="ctr"/>
          <a:lstStyle/>
          <a:p>
            <a:pPr indent="0" marL="0">
              <a:buNone/>
            </a:pPr>
            <a:r>
              <a:rPr lang="en-US" sz="900" dirty="0">
                <a:solidFill>
                  <a:srgbClr val="5B6577"/>
                </a:solidFill>
                <a:latin typeface="Arial" pitchFamily="34" charset="0"/>
                <a:ea typeface="Arial" pitchFamily="34" charset="-122"/>
                <a:cs typeface="Arial" pitchFamily="34" charset="-120"/>
              </a:rPr>
              <a:t>Axis starts at $90M</a:t>
            </a:r>
            <a:endParaRPr lang="en-US" sz="900" dirty="0"/>
          </a:p>
        </p:txBody>
      </p:sp>
      <p:sp>
        <p:nvSpPr>
          <p:cNvPr id="45" name="Shape 43"/>
          <p:cNvSpPr/>
          <p:nvPr/>
        </p:nvSpPr>
        <p:spPr>
          <a:xfrm>
            <a:off x="6126480" y="1097280"/>
            <a:ext cx="2560320" cy="1325880"/>
          </a:xfrm>
          <a:prstGeom prst="roundRect">
            <a:avLst>
              <a:gd name="adj" fmla="val 5517"/>
            </a:avLst>
          </a:prstGeom>
          <a:solidFill>
            <a:srgbClr val="E8F3D2"/>
          </a:solidFill>
          <a:ln w="12700">
            <a:solidFill>
              <a:srgbClr val="E8F3D2"/>
            </a:solidFill>
            <a:prstDash val="solid"/>
          </a:ln>
        </p:spPr>
      </p:sp>
      <p:sp>
        <p:nvSpPr>
          <p:cNvPr id="46" name="Text 44"/>
          <p:cNvSpPr txBox="1"/>
          <p:nvPr/>
        </p:nvSpPr>
        <p:spPr>
          <a:xfrm>
            <a:off x="6263640" y="1170432"/>
            <a:ext cx="2286000" cy="1188720"/>
          </a:xfrm>
          <a:prstGeom prst="rect">
            <a:avLst/>
          </a:prstGeom>
          <a:noFill/>
          <a:ln/>
        </p:spPr>
        <p:txBody>
          <a:bodyPr wrap="square" lIns="0" tIns="0" rIns="0" bIns="0" rtlCol="0" anchor="t"/>
          <a:lstStyle/>
          <a:p>
            <a:pPr indent="0" marL="0">
              <a:buNone/>
            </a:pPr>
            <a:r>
              <a:rPr lang="en-US" sz="1500" b="1" dirty="0">
                <a:solidFill>
                  <a:srgbClr val="4A7A00"/>
                </a:solidFill>
                <a:latin typeface="Arial" pitchFamily="34" charset="0"/>
                <a:ea typeface="Arial" pitchFamily="34" charset="-122"/>
                <a:cs typeface="Arial" pitchFamily="34" charset="-120"/>
              </a:rPr>
              <a:t>Reconciliation: PASS</a:t>
            </a:r>
            <a:endParaRPr lang="en-US" sz="1500" dirty="0"/>
          </a:p>
          <a:p>
            <a:pPr indent="0" marL="0">
              <a:buNone/>
            </a:pPr>
            <a:r>
              <a:rPr lang="en-US" sz="1100" dirty="0">
                <a:solidFill>
                  <a:srgbClr val="1B2333"/>
                </a:solidFill>
                <a:latin typeface="Arial" pitchFamily="34" charset="0"/>
                <a:ea typeface="Arial" pitchFamily="34" charset="-122"/>
                <a:cs typeface="Arial" pitchFamily="34" charset="-120"/>
              </a:rPr>
              <a:t>Reported $19.24M · explained $19.24M · residual $0.00M (100.0%). Seven controls pass.</a:t>
            </a:r>
            <a:endParaRPr lang="en-US" sz="1500" dirty="0"/>
          </a:p>
        </p:txBody>
      </p:sp>
      <p:sp>
        <p:nvSpPr>
          <p:cNvPr id="47" name="Shape 45"/>
          <p:cNvSpPr/>
          <p:nvPr/>
        </p:nvSpPr>
        <p:spPr>
          <a:xfrm>
            <a:off x="6126480" y="2606040"/>
            <a:ext cx="2560320" cy="2011680"/>
          </a:xfrm>
          <a:prstGeom prst="roundRect">
            <a:avLst>
              <a:gd name="adj" fmla="val 3636"/>
            </a:avLst>
          </a:prstGeom>
          <a:solidFill>
            <a:srgbClr val="F2F4F7"/>
          </a:solidFill>
          <a:ln w="12700">
            <a:solidFill>
              <a:srgbClr val="F2F4F7"/>
            </a:solidFill>
            <a:prstDash val="solid"/>
          </a:ln>
        </p:spPr>
      </p:sp>
      <p:sp>
        <p:nvSpPr>
          <p:cNvPr id="48" name="Text 46"/>
          <p:cNvSpPr txBox="1"/>
          <p:nvPr/>
        </p:nvSpPr>
        <p:spPr>
          <a:xfrm>
            <a:off x="6263640" y="2697480"/>
            <a:ext cx="2286000" cy="1828800"/>
          </a:xfrm>
          <a:prstGeom prst="rect">
            <a:avLst/>
          </a:prstGeom>
          <a:noFill/>
          <a:ln/>
        </p:spPr>
        <p:txBody>
          <a:bodyPr wrap="square" lIns="0" tIns="0" rIns="0" bIns="0" rtlCol="0" anchor="t"/>
          <a:lstStyle/>
          <a:p>
            <a:pPr indent="0" marL="0">
              <a:spcAft>
                <a:spcPts val="600"/>
              </a:spcAft>
              <a:buNone/>
            </a:pPr>
            <a:r>
              <a:rPr lang="en-US" sz="1300" b="1" dirty="0">
                <a:solidFill>
                  <a:srgbClr val="1B2333"/>
                </a:solidFill>
                <a:latin typeface="Arial" pitchFamily="34" charset="0"/>
                <a:ea typeface="Arial" pitchFamily="34" charset="-122"/>
                <a:cs typeface="Arial" pitchFamily="34" charset="-120"/>
              </a:rPr>
              <a:t>Robust to order</a:t>
            </a:r>
            <a:endParaRPr lang="en-US" sz="1300" dirty="0"/>
          </a:p>
          <a:p>
            <a:pPr indent="0" marL="0">
              <a:spcAft>
                <a:spcPts val="600"/>
              </a:spcAft>
              <a:buNone/>
            </a:pPr>
            <a:r>
              <a:rPr lang="en-US" sz="1100" dirty="0">
                <a:solidFill>
                  <a:srgbClr val="5B6577"/>
                </a:solidFill>
                <a:latin typeface="Arial" pitchFamily="34" charset="0"/>
                <a:ea typeface="Arial" pitchFamily="34" charset="-122"/>
                <a:cs typeface="Arial" pitchFamily="34" charset="-120"/>
              </a:rPr>
              <a:t>Macro stays the primary driver under the forward walk, the reversed walk and exact Shapley over all driver groups.</a:t>
            </a:r>
            <a:endParaRPr lang="en-US" sz="1300" dirty="0"/>
          </a:p>
          <a:p>
            <a:pPr indent="0" marL="0">
              <a:spcAft>
                <a:spcPts val="600"/>
              </a:spcAft>
              <a:buNone/>
            </a:pPr>
            <a:r>
              <a:rPr lang="en-US" sz="1100" dirty="0">
                <a:solidFill>
                  <a:srgbClr val="5B6577"/>
                </a:solidFill>
                <a:latin typeface="Arial" pitchFamily="34" charset="0"/>
                <a:ea typeface="Arial" pitchFamily="34" charset="-122"/>
                <a:cs typeface="Arial" pitchFamily="34" charset="-120"/>
              </a:rPr>
              <a:t>Model versions: $0.00M. The whole methodology bucket is the scenario-weight change.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DRILL-DOWN</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From portfolio to borrower, matching the hidden ground truth</a:t>
            </a:r>
            <a:endParaRPr lang="en-US" sz="2600" dirty="0"/>
          </a:p>
        </p:txBody>
      </p:sp>
      <p:sp>
        <p:nvSpPr>
          <p:cNvPr id="4" name="Shape 2"/>
          <p:cNvSpPr/>
          <p:nvPr/>
        </p:nvSpPr>
        <p:spPr>
          <a:xfrm>
            <a:off x="457200" y="1143000"/>
            <a:ext cx="4023360" cy="1417320"/>
          </a:xfrm>
          <a:prstGeom prst="roundRect">
            <a:avLst>
              <a:gd name="adj" fmla="val 5161"/>
            </a:avLst>
          </a:prstGeom>
          <a:solidFill>
            <a:srgbClr val="F2F4F7"/>
          </a:solidFill>
          <a:ln w="12700">
            <a:solidFill>
              <a:srgbClr val="F2F4F7"/>
            </a:solidFill>
            <a:prstDash val="solid"/>
          </a:ln>
        </p:spPr>
      </p:sp>
      <p:sp>
        <p:nvSpPr>
          <p:cNvPr id="5" name="Text 3"/>
          <p:cNvSpPr txBox="1"/>
          <p:nvPr/>
        </p:nvSpPr>
        <p:spPr>
          <a:xfrm>
            <a:off x="640080" y="1252728"/>
            <a:ext cx="1737360" cy="274320"/>
          </a:xfrm>
          <a:prstGeom prst="rect">
            <a:avLst/>
          </a:prstGeom>
          <a:noFill/>
          <a:ln/>
        </p:spPr>
        <p:txBody>
          <a:bodyPr wrap="square" lIns="0" tIns="0" rIns="0" bIns="0" rtlCol="0" anchor="ctr"/>
          <a:lstStyle/>
          <a:p>
            <a:pPr indent="0" marL="0">
              <a:buNone/>
            </a:pPr>
            <a:r>
              <a:rPr lang="en-US" sz="1100" b="1" dirty="0">
                <a:solidFill>
                  <a:srgbClr val="5B6577"/>
                </a:solidFill>
                <a:latin typeface="Arial" pitchFamily="34" charset="0"/>
                <a:ea typeface="Arial" pitchFamily="34" charset="-122"/>
                <a:cs typeface="Arial" pitchFamily="34" charset="-120"/>
              </a:rPr>
              <a:t>CRE</a:t>
            </a:r>
            <a:endParaRPr lang="en-US" sz="1100" dirty="0"/>
          </a:p>
        </p:txBody>
      </p:sp>
      <p:sp>
        <p:nvSpPr>
          <p:cNvPr id="6" name="Text 4"/>
          <p:cNvSpPr txBox="1"/>
          <p:nvPr/>
        </p:nvSpPr>
        <p:spPr>
          <a:xfrm>
            <a:off x="640080" y="1527048"/>
            <a:ext cx="3657600" cy="502920"/>
          </a:xfrm>
          <a:prstGeom prst="rect">
            <a:avLst/>
          </a:prstGeom>
          <a:noFill/>
          <a:ln/>
        </p:spPr>
        <p:txBody>
          <a:bodyPr wrap="square" lIns="0" tIns="0" rIns="0" bIns="0" rtlCol="0" anchor="ctr"/>
          <a:lstStyle/>
          <a:p>
            <a:pPr indent="0" marL="0">
              <a:buNone/>
            </a:pPr>
            <a:r>
              <a:rPr lang="en-US" sz="2600" b="1" dirty="0">
                <a:solidFill>
                  <a:srgbClr val="4A7A00"/>
                </a:solidFill>
                <a:latin typeface="Arial" pitchFamily="34" charset="0"/>
                <a:ea typeface="Arial" pitchFamily="34" charset="-122"/>
                <a:cs typeface="Arial" pitchFamily="34" charset="-120"/>
              </a:rPr>
              <a:t>+$13.89M</a:t>
            </a:r>
            <a:endParaRPr lang="en-US" sz="2600" dirty="0"/>
          </a:p>
        </p:txBody>
      </p:sp>
      <p:sp>
        <p:nvSpPr>
          <p:cNvPr id="7" name="Text 5"/>
          <p:cNvSpPr txBox="1"/>
          <p:nvPr/>
        </p:nvSpPr>
        <p:spPr>
          <a:xfrm>
            <a:off x="640080" y="2039112"/>
            <a:ext cx="3657600" cy="4572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72% of the change: macro +$5.69M, credit +$5.13M</a:t>
            </a:r>
            <a:endParaRPr lang="en-US" sz="1100" dirty="0"/>
          </a:p>
        </p:txBody>
      </p:sp>
      <p:sp>
        <p:nvSpPr>
          <p:cNvPr id="8" name="Shape 6"/>
          <p:cNvSpPr/>
          <p:nvPr/>
        </p:nvSpPr>
        <p:spPr>
          <a:xfrm>
            <a:off x="4663440" y="1143000"/>
            <a:ext cx="4023360" cy="1417320"/>
          </a:xfrm>
          <a:prstGeom prst="roundRect">
            <a:avLst>
              <a:gd name="adj" fmla="val 5161"/>
            </a:avLst>
          </a:prstGeom>
          <a:solidFill>
            <a:srgbClr val="F2F4F7"/>
          </a:solidFill>
          <a:ln w="12700">
            <a:solidFill>
              <a:srgbClr val="F2F4F7"/>
            </a:solidFill>
            <a:prstDash val="solid"/>
          </a:ln>
        </p:spPr>
      </p:sp>
      <p:sp>
        <p:nvSpPr>
          <p:cNvPr id="9" name="Text 7"/>
          <p:cNvSpPr txBox="1"/>
          <p:nvPr/>
        </p:nvSpPr>
        <p:spPr>
          <a:xfrm>
            <a:off x="4846320" y="1252728"/>
            <a:ext cx="1737360" cy="274320"/>
          </a:xfrm>
          <a:prstGeom prst="rect">
            <a:avLst/>
          </a:prstGeom>
          <a:noFill/>
          <a:ln/>
        </p:spPr>
        <p:txBody>
          <a:bodyPr wrap="square" lIns="0" tIns="0" rIns="0" bIns="0" rtlCol="0" anchor="ctr"/>
          <a:lstStyle/>
          <a:p>
            <a:pPr indent="0" marL="0">
              <a:buNone/>
            </a:pPr>
            <a:r>
              <a:rPr lang="en-US" sz="1100" b="1" dirty="0">
                <a:solidFill>
                  <a:srgbClr val="5B6577"/>
                </a:solidFill>
                <a:latin typeface="Arial" pitchFamily="34" charset="0"/>
                <a:ea typeface="Arial" pitchFamily="34" charset="-122"/>
                <a:cs typeface="Arial" pitchFamily="34" charset="-120"/>
              </a:rPr>
              <a:t>Unemployment</a:t>
            </a:r>
            <a:endParaRPr lang="en-US" sz="1100" dirty="0"/>
          </a:p>
        </p:txBody>
      </p:sp>
      <p:sp>
        <p:nvSpPr>
          <p:cNvPr id="10" name="Text 8"/>
          <p:cNvSpPr txBox="1"/>
          <p:nvPr/>
        </p:nvSpPr>
        <p:spPr>
          <a:xfrm>
            <a:off x="4846320" y="1527048"/>
            <a:ext cx="3657600" cy="502920"/>
          </a:xfrm>
          <a:prstGeom prst="rect">
            <a:avLst/>
          </a:prstGeom>
          <a:noFill/>
          <a:ln/>
        </p:spPr>
        <p:txBody>
          <a:bodyPr wrap="square" lIns="0" tIns="0" rIns="0" bIns="0" rtlCol="0" anchor="ctr"/>
          <a:lstStyle/>
          <a:p>
            <a:pPr indent="0" marL="0">
              <a:buNone/>
            </a:pPr>
            <a:r>
              <a:rPr lang="en-US" sz="2600" b="1" dirty="0">
                <a:solidFill>
                  <a:srgbClr val="4A7A00"/>
                </a:solidFill>
                <a:latin typeface="Arial" pitchFamily="34" charset="0"/>
                <a:ea typeface="Arial" pitchFamily="34" charset="-122"/>
                <a:cs typeface="Arial" pitchFamily="34" charset="-120"/>
              </a:rPr>
              <a:t>+$4.41M</a:t>
            </a:r>
            <a:endParaRPr lang="en-US" sz="2600" dirty="0"/>
          </a:p>
        </p:txBody>
      </p:sp>
      <p:sp>
        <p:nvSpPr>
          <p:cNvPr id="11" name="Text 9"/>
          <p:cNvSpPr txBox="1"/>
          <p:nvPr/>
        </p:nvSpPr>
        <p:spPr>
          <a:xfrm>
            <a:off x="4846320" y="2039112"/>
            <a:ext cx="3657600" cy="4572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largest macro variable (Shapley share of the $10.34M macro effect); CRE prices lead inside CRE</a:t>
            </a:r>
            <a:endParaRPr lang="en-US" sz="1100" dirty="0"/>
          </a:p>
        </p:txBody>
      </p:sp>
      <p:sp>
        <p:nvSpPr>
          <p:cNvPr id="12" name="Shape 10"/>
          <p:cNvSpPr/>
          <p:nvPr/>
        </p:nvSpPr>
        <p:spPr>
          <a:xfrm>
            <a:off x="457200" y="2743200"/>
            <a:ext cx="4023360" cy="1417320"/>
          </a:xfrm>
          <a:prstGeom prst="roundRect">
            <a:avLst>
              <a:gd name="adj" fmla="val 5161"/>
            </a:avLst>
          </a:prstGeom>
          <a:solidFill>
            <a:srgbClr val="F2F4F7"/>
          </a:solidFill>
          <a:ln w="12700">
            <a:solidFill>
              <a:srgbClr val="F2F4F7"/>
            </a:solidFill>
            <a:prstDash val="solid"/>
          </a:ln>
        </p:spPr>
      </p:sp>
      <p:sp>
        <p:nvSpPr>
          <p:cNvPr id="13" name="Text 11"/>
          <p:cNvSpPr txBox="1"/>
          <p:nvPr/>
        </p:nvSpPr>
        <p:spPr>
          <a:xfrm>
            <a:off x="640080" y="2852928"/>
            <a:ext cx="1737360" cy="274320"/>
          </a:xfrm>
          <a:prstGeom prst="rect">
            <a:avLst/>
          </a:prstGeom>
          <a:noFill/>
          <a:ln/>
        </p:spPr>
        <p:txBody>
          <a:bodyPr wrap="square" lIns="0" tIns="0" rIns="0" bIns="0" rtlCol="0" anchor="ctr"/>
          <a:lstStyle/>
          <a:p>
            <a:pPr indent="0" marL="0">
              <a:buNone/>
            </a:pPr>
            <a:r>
              <a:rPr lang="en-US" sz="1100" b="1" dirty="0">
                <a:solidFill>
                  <a:srgbClr val="5B6577"/>
                </a:solidFill>
                <a:latin typeface="Arial" pitchFamily="34" charset="0"/>
                <a:ea typeface="Arial" pitchFamily="34" charset="-122"/>
                <a:cs typeface="Arial" pitchFamily="34" charset="-120"/>
              </a:rPr>
              <a:t>CP_040408</a:t>
            </a:r>
            <a:endParaRPr lang="en-US" sz="1100" dirty="0"/>
          </a:p>
        </p:txBody>
      </p:sp>
      <p:sp>
        <p:nvSpPr>
          <p:cNvPr id="14" name="Text 12"/>
          <p:cNvSpPr txBox="1"/>
          <p:nvPr/>
        </p:nvSpPr>
        <p:spPr>
          <a:xfrm>
            <a:off x="640080" y="3127248"/>
            <a:ext cx="3657600" cy="502920"/>
          </a:xfrm>
          <a:prstGeom prst="rect">
            <a:avLst/>
          </a:prstGeom>
          <a:noFill/>
          <a:ln/>
        </p:spPr>
        <p:txBody>
          <a:bodyPr wrap="square" lIns="0" tIns="0" rIns="0" bIns="0" rtlCol="0" anchor="ctr"/>
          <a:lstStyle/>
          <a:p>
            <a:pPr indent="0" marL="0">
              <a:buNone/>
            </a:pPr>
            <a:r>
              <a:rPr lang="en-US" sz="2600" b="1" dirty="0">
                <a:solidFill>
                  <a:srgbClr val="4A7A00"/>
                </a:solidFill>
                <a:latin typeface="Arial" pitchFamily="34" charset="0"/>
                <a:ea typeface="Arial" pitchFamily="34" charset="-122"/>
                <a:cs typeface="Arial" pitchFamily="34" charset="-120"/>
              </a:rPr>
              <a:t>1.8% → 8.1%</a:t>
            </a:r>
            <a:endParaRPr lang="en-US" sz="2600" dirty="0"/>
          </a:p>
        </p:txBody>
      </p:sp>
      <p:sp>
        <p:nvSpPr>
          <p:cNvPr id="15" name="Text 13"/>
          <p:cNvSpPr txBox="1"/>
          <p:nvPr/>
        </p:nvSpPr>
        <p:spPr>
          <a:xfrm>
            <a:off x="640080" y="3639312"/>
            <a:ext cx="3657600" cy="4572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12-month PD of the top borrower: BB+ → B+, DSCR 1.33 → 1.16, LTV 0.68 → 0.74, watchlist</a:t>
            </a:r>
            <a:endParaRPr lang="en-US" sz="1100" dirty="0"/>
          </a:p>
        </p:txBody>
      </p:sp>
      <p:sp>
        <p:nvSpPr>
          <p:cNvPr id="16" name="Shape 14"/>
          <p:cNvSpPr/>
          <p:nvPr/>
        </p:nvSpPr>
        <p:spPr>
          <a:xfrm>
            <a:off x="4663440" y="2743200"/>
            <a:ext cx="4023360" cy="1417320"/>
          </a:xfrm>
          <a:prstGeom prst="roundRect">
            <a:avLst>
              <a:gd name="adj" fmla="val 5161"/>
            </a:avLst>
          </a:prstGeom>
          <a:solidFill>
            <a:srgbClr val="F2F4F7"/>
          </a:solidFill>
          <a:ln w="12700">
            <a:solidFill>
              <a:srgbClr val="F2F4F7"/>
            </a:solidFill>
            <a:prstDash val="solid"/>
          </a:ln>
        </p:spPr>
      </p:sp>
      <p:sp>
        <p:nvSpPr>
          <p:cNvPr id="17" name="Text 15"/>
          <p:cNvSpPr txBox="1"/>
          <p:nvPr/>
        </p:nvSpPr>
        <p:spPr>
          <a:xfrm>
            <a:off x="4846320" y="2852928"/>
            <a:ext cx="1737360" cy="274320"/>
          </a:xfrm>
          <a:prstGeom prst="rect">
            <a:avLst/>
          </a:prstGeom>
          <a:noFill/>
          <a:ln/>
        </p:spPr>
        <p:txBody>
          <a:bodyPr wrap="square" lIns="0" tIns="0" rIns="0" bIns="0" rtlCol="0" anchor="ctr"/>
          <a:lstStyle/>
          <a:p>
            <a:pPr indent="0" marL="0">
              <a:buNone/>
            </a:pPr>
            <a:r>
              <a:rPr lang="en-US" sz="1100" b="1" dirty="0">
                <a:solidFill>
                  <a:srgbClr val="5B6577"/>
                </a:solidFill>
                <a:latin typeface="Arial" pitchFamily="34" charset="0"/>
                <a:ea typeface="Arial" pitchFamily="34" charset="-122"/>
                <a:cs typeface="Arial" pitchFamily="34" charset="-120"/>
              </a:rPr>
              <a:t>CRE_PD_v4</a:t>
            </a:r>
            <a:endParaRPr lang="en-US" sz="1100" dirty="0"/>
          </a:p>
        </p:txBody>
      </p:sp>
      <p:sp>
        <p:nvSpPr>
          <p:cNvPr id="18" name="Text 16"/>
          <p:cNvSpPr txBox="1"/>
          <p:nvPr/>
        </p:nvSpPr>
        <p:spPr>
          <a:xfrm>
            <a:off x="4846320" y="3127248"/>
            <a:ext cx="3657600" cy="502920"/>
          </a:xfrm>
          <a:prstGeom prst="rect">
            <a:avLst/>
          </a:prstGeom>
          <a:noFill/>
          <a:ln/>
        </p:spPr>
        <p:txBody>
          <a:bodyPr wrap="square" lIns="0" tIns="0" rIns="0" bIns="0" rtlCol="0" anchor="ctr"/>
          <a:lstStyle/>
          <a:p>
            <a:pPr indent="0" marL="0">
              <a:buNone/>
            </a:pPr>
            <a:r>
              <a:rPr lang="en-US" sz="2600" b="1" dirty="0">
                <a:solidFill>
                  <a:srgbClr val="4A7A00"/>
                </a:solidFill>
                <a:latin typeface="Arial" pitchFamily="34" charset="0"/>
                <a:ea typeface="Arial" pitchFamily="34" charset="-122"/>
                <a:cs typeface="Arial" pitchFamily="34" charset="-120"/>
              </a:rPr>
              <a:t>No change</a:t>
            </a:r>
            <a:endParaRPr lang="en-US" sz="2600" dirty="0"/>
          </a:p>
        </p:txBody>
      </p:sp>
      <p:sp>
        <p:nvSpPr>
          <p:cNvPr id="19" name="Text 17"/>
          <p:cNvSpPr txBox="1"/>
          <p:nvPr/>
        </p:nvSpPr>
        <p:spPr>
          <a:xfrm>
            <a:off x="4846320" y="3639312"/>
            <a:ext cx="3657600" cy="4572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same PD and LGD models both months; severe weight 10% → 12% added $1.88M</a:t>
            </a:r>
            <a:endParaRPr lang="en-US" sz="1100" dirty="0"/>
          </a:p>
        </p:txBody>
      </p:sp>
      <p:sp>
        <p:nvSpPr>
          <p:cNvPr id="20" name="Text 18"/>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Ground truth check:  </a:t>
            </a:r>
            <a:pPr indent="0" marL="0">
              <a:buNone/>
            </a:pPr>
            <a:r>
              <a:rPr lang="en-US" sz="1100" dirty="0">
                <a:solidFill>
                  <a:srgbClr val="4A7A00"/>
                </a:solidFill>
                <a:latin typeface="Arial" pitchFamily="34" charset="0"/>
                <a:ea typeface="Arial" pitchFamily="34" charset="-122"/>
                <a:cs typeface="Arial" pitchFamily="34" charset="-120"/>
              </a:rPr>
              <a:t>primary driver macro ✓   portfolio CRE ✓   variable unemployment ✓   model changed: no ✓   largest borrower CP_040408 ✓</a:t>
            </a:r>
            <a:endParaRPr lang="en-US" sz="1100" dirty="0"/>
          </a:p>
        </p:txBody>
      </p:sp>
      <p:sp>
        <p:nvSpPr>
          <p:cNvPr id="21" name="Text 19"/>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Ground truth is stored apart from the tools; a test checks that no tool or agent can read it.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HOW WE SCORE IT</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15 validation questions, one verifier, same tools for every model</a:t>
            </a:r>
            <a:endParaRPr lang="en-US" sz="2600" dirty="0"/>
          </a:p>
        </p:txBody>
      </p:sp>
      <p:sp>
        <p:nvSpPr>
          <p:cNvPr id="4" name="Text 2"/>
          <p:cNvSpPr txBox="1"/>
          <p:nvPr/>
        </p:nvSpPr>
        <p:spPr>
          <a:xfrm>
            <a:off x="457200" y="1143000"/>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01  </a:t>
            </a:r>
            <a:pPr indent="0" marL="0">
              <a:buNone/>
            </a:pPr>
            <a:r>
              <a:rPr lang="en-US" sz="1100" dirty="0">
                <a:solidFill>
                  <a:srgbClr val="1B2333"/>
                </a:solidFill>
                <a:latin typeface="Arial" pitchFamily="34" charset="0"/>
                <a:ea typeface="Arial" pitchFamily="34" charset="-122"/>
                <a:cs typeface="Arial" pitchFamily="34" charset="-120"/>
              </a:rPr>
              <a:t>July allowance</a:t>
            </a:r>
            <a:endParaRPr lang="en-US" sz="1100" dirty="0"/>
          </a:p>
        </p:txBody>
      </p:sp>
      <p:sp>
        <p:nvSpPr>
          <p:cNvPr id="5" name="Text 3"/>
          <p:cNvSpPr txBox="1"/>
          <p:nvPr/>
        </p:nvSpPr>
        <p:spPr>
          <a:xfrm>
            <a:off x="457200" y="1490472"/>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02  </a:t>
            </a:r>
            <a:pPr indent="0" marL="0">
              <a:buNone/>
            </a:pPr>
            <a:r>
              <a:rPr lang="en-US" sz="1100" dirty="0">
                <a:solidFill>
                  <a:srgbClr val="1B2333"/>
                </a:solidFill>
                <a:latin typeface="Arial" pitchFamily="34" charset="0"/>
                <a:ea typeface="Arial" pitchFamily="34" charset="-122"/>
                <a:cs typeface="Arial" pitchFamily="34" charset="-120"/>
              </a:rPr>
              <a:t>August allowance</a:t>
            </a:r>
            <a:endParaRPr lang="en-US" sz="1100" dirty="0"/>
          </a:p>
        </p:txBody>
      </p:sp>
      <p:sp>
        <p:nvSpPr>
          <p:cNvPr id="6" name="Text 4"/>
          <p:cNvSpPr txBox="1"/>
          <p:nvPr/>
        </p:nvSpPr>
        <p:spPr>
          <a:xfrm>
            <a:off x="457200" y="1837944"/>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03  </a:t>
            </a:r>
            <a:pPr indent="0" marL="0">
              <a:buNone/>
            </a:pPr>
            <a:r>
              <a:rPr lang="en-US" sz="1100" dirty="0">
                <a:solidFill>
                  <a:srgbClr val="1B2333"/>
                </a:solidFill>
                <a:latin typeface="Arial" pitchFamily="34" charset="0"/>
                <a:ea typeface="Arial" pitchFamily="34" charset="-122"/>
                <a:cs typeface="Arial" pitchFamily="34" charset="-120"/>
              </a:rPr>
              <a:t>Dollar change</a:t>
            </a:r>
            <a:endParaRPr lang="en-US" sz="1100" dirty="0"/>
          </a:p>
        </p:txBody>
      </p:sp>
      <p:sp>
        <p:nvSpPr>
          <p:cNvPr id="7" name="Text 5"/>
          <p:cNvSpPr txBox="1"/>
          <p:nvPr/>
        </p:nvSpPr>
        <p:spPr>
          <a:xfrm>
            <a:off x="457200" y="2185416"/>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04  </a:t>
            </a:r>
            <a:pPr indent="0" marL="0">
              <a:buNone/>
            </a:pPr>
            <a:r>
              <a:rPr lang="en-US" sz="1100" dirty="0">
                <a:solidFill>
                  <a:srgbClr val="1B2333"/>
                </a:solidFill>
                <a:latin typeface="Arial" pitchFamily="34" charset="0"/>
                <a:ea typeface="Arial" pitchFamily="34" charset="-122"/>
                <a:cs typeface="Arial" pitchFamily="34" charset="-120"/>
              </a:rPr>
              <a:t>Percent change</a:t>
            </a:r>
            <a:endParaRPr lang="en-US" sz="1100" dirty="0"/>
          </a:p>
        </p:txBody>
      </p:sp>
      <p:sp>
        <p:nvSpPr>
          <p:cNvPr id="8" name="Text 6"/>
          <p:cNvSpPr txBox="1"/>
          <p:nvPr/>
        </p:nvSpPr>
        <p:spPr>
          <a:xfrm>
            <a:off x="457200" y="2532888"/>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05  </a:t>
            </a:r>
            <a:pPr indent="0" marL="0">
              <a:buNone/>
            </a:pPr>
            <a:r>
              <a:rPr lang="en-US" sz="1100" dirty="0">
                <a:solidFill>
                  <a:srgbClr val="1B2333"/>
                </a:solidFill>
                <a:latin typeface="Arial" pitchFamily="34" charset="0"/>
                <a:ea typeface="Arial" pitchFamily="34" charset="-122"/>
                <a:cs typeface="Arial" pitchFamily="34" charset="-120"/>
              </a:rPr>
              <a:t>Major drivers</a:t>
            </a:r>
            <a:endParaRPr lang="en-US" sz="1100" dirty="0"/>
          </a:p>
        </p:txBody>
      </p:sp>
      <p:sp>
        <p:nvSpPr>
          <p:cNvPr id="9" name="Text 7"/>
          <p:cNvSpPr txBox="1"/>
          <p:nvPr/>
        </p:nvSpPr>
        <p:spPr>
          <a:xfrm>
            <a:off x="457200" y="2880360"/>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06  </a:t>
            </a:r>
            <a:pPr indent="0" marL="0">
              <a:buNone/>
            </a:pPr>
            <a:r>
              <a:rPr lang="en-US" sz="1100" dirty="0">
                <a:solidFill>
                  <a:srgbClr val="1B2333"/>
                </a:solidFill>
                <a:latin typeface="Arial" pitchFamily="34" charset="0"/>
                <a:ea typeface="Arial" pitchFamily="34" charset="-122"/>
                <a:cs typeface="Arial" pitchFamily="34" charset="-120"/>
              </a:rPr>
              <a:t>Top portfolio</a:t>
            </a:r>
            <a:endParaRPr lang="en-US" sz="1100" dirty="0"/>
          </a:p>
        </p:txBody>
      </p:sp>
      <p:sp>
        <p:nvSpPr>
          <p:cNvPr id="10" name="Text 8"/>
          <p:cNvSpPr txBox="1"/>
          <p:nvPr/>
        </p:nvSpPr>
        <p:spPr>
          <a:xfrm>
            <a:off x="457200" y="3227832"/>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07  </a:t>
            </a:r>
            <a:pPr indent="0" marL="0">
              <a:buNone/>
            </a:pPr>
            <a:r>
              <a:rPr lang="en-US" sz="1100" dirty="0">
                <a:solidFill>
                  <a:srgbClr val="1B2333"/>
                </a:solidFill>
                <a:latin typeface="Arial" pitchFamily="34" charset="0"/>
                <a:ea typeface="Arial" pitchFamily="34" charset="-122"/>
                <a:cs typeface="Arial" pitchFamily="34" charset="-120"/>
              </a:rPr>
              <a:t>Top borrowers</a:t>
            </a:r>
            <a:endParaRPr lang="en-US" sz="1100" dirty="0"/>
          </a:p>
        </p:txBody>
      </p:sp>
      <p:sp>
        <p:nvSpPr>
          <p:cNvPr id="11" name="Text 9"/>
          <p:cNvSpPr txBox="1"/>
          <p:nvPr/>
        </p:nvSpPr>
        <p:spPr>
          <a:xfrm>
            <a:off x="457200" y="3575304"/>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08  </a:t>
            </a:r>
            <a:pPr indent="0" marL="0">
              <a:buNone/>
            </a:pPr>
            <a:r>
              <a:rPr lang="en-US" sz="1100" dirty="0">
                <a:solidFill>
                  <a:srgbClr val="1B2333"/>
                </a:solidFill>
                <a:latin typeface="Arial" pitchFamily="34" charset="0"/>
                <a:ea typeface="Arial" pitchFamily="34" charset="-122"/>
                <a:cs typeface="Arial" pitchFamily="34" charset="-120"/>
              </a:rPr>
              <a:t>Did PD rise?</a:t>
            </a:r>
            <a:endParaRPr lang="en-US" sz="1100" dirty="0"/>
          </a:p>
        </p:txBody>
      </p:sp>
      <p:sp>
        <p:nvSpPr>
          <p:cNvPr id="12" name="Text 10"/>
          <p:cNvSpPr txBox="1"/>
          <p:nvPr/>
        </p:nvSpPr>
        <p:spPr>
          <a:xfrm>
            <a:off x="2651760" y="1143000"/>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09  </a:t>
            </a:r>
            <a:pPr indent="0" marL="0">
              <a:buNone/>
            </a:pPr>
            <a:r>
              <a:rPr lang="en-US" sz="1100" dirty="0">
                <a:solidFill>
                  <a:srgbClr val="1B2333"/>
                </a:solidFill>
                <a:latin typeface="Arial" pitchFamily="34" charset="0"/>
                <a:ea typeface="Arial" pitchFamily="34" charset="-122"/>
                <a:cs typeface="Arial" pitchFamily="34" charset="-120"/>
              </a:rPr>
              <a:t>Did LGD rise?</a:t>
            </a:r>
            <a:endParaRPr lang="en-US" sz="1100" dirty="0"/>
          </a:p>
        </p:txBody>
      </p:sp>
      <p:sp>
        <p:nvSpPr>
          <p:cNvPr id="13" name="Text 11"/>
          <p:cNvSpPr txBox="1"/>
          <p:nvPr/>
        </p:nvSpPr>
        <p:spPr>
          <a:xfrm>
            <a:off x="2651760" y="1490472"/>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10  </a:t>
            </a:r>
            <a:pPr indent="0" marL="0">
              <a:buNone/>
            </a:pPr>
            <a:r>
              <a:rPr lang="en-US" sz="1100" dirty="0">
                <a:solidFill>
                  <a:srgbClr val="1B2333"/>
                </a:solidFill>
                <a:latin typeface="Arial" pitchFamily="34" charset="0"/>
                <a:ea typeface="Arial" pitchFamily="34" charset="-122"/>
                <a:cs typeface="Arial" pitchFamily="34" charset="-120"/>
              </a:rPr>
              <a:t>Did exposure grow?</a:t>
            </a:r>
            <a:endParaRPr lang="en-US" sz="1100" dirty="0"/>
          </a:p>
        </p:txBody>
      </p:sp>
      <p:sp>
        <p:nvSpPr>
          <p:cNvPr id="14" name="Text 12"/>
          <p:cNvSpPr txBox="1"/>
          <p:nvPr/>
        </p:nvSpPr>
        <p:spPr>
          <a:xfrm>
            <a:off x="2651760" y="1837944"/>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11  </a:t>
            </a:r>
            <a:pPr indent="0" marL="0">
              <a:buNone/>
            </a:pPr>
            <a:r>
              <a:rPr lang="en-US" sz="1100" dirty="0">
                <a:solidFill>
                  <a:srgbClr val="1B2333"/>
                </a:solidFill>
                <a:latin typeface="Arial" pitchFamily="34" charset="0"/>
                <a:ea typeface="Arial" pitchFamily="34" charset="-122"/>
                <a:cs typeface="Arial" pitchFamily="34" charset="-120"/>
              </a:rPr>
              <a:t>Top macro variable</a:t>
            </a:r>
            <a:endParaRPr lang="en-US" sz="1100" dirty="0"/>
          </a:p>
        </p:txBody>
      </p:sp>
      <p:sp>
        <p:nvSpPr>
          <p:cNvPr id="15" name="Text 13"/>
          <p:cNvSpPr txBox="1"/>
          <p:nvPr/>
        </p:nvSpPr>
        <p:spPr>
          <a:xfrm>
            <a:off x="2651760" y="2185416"/>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12  </a:t>
            </a:r>
            <a:pPr indent="0" marL="0">
              <a:buNone/>
            </a:pPr>
            <a:r>
              <a:rPr lang="en-US" sz="1100" dirty="0">
                <a:solidFill>
                  <a:srgbClr val="1B2333"/>
                </a:solidFill>
                <a:latin typeface="Arial" pitchFamily="34" charset="0"/>
                <a:ea typeface="Arial" pitchFamily="34" charset="-122"/>
                <a:cs typeface="Arial" pitchFamily="34" charset="-120"/>
              </a:rPr>
              <a:t>Scenario weights</a:t>
            </a:r>
            <a:endParaRPr lang="en-US" sz="1100" dirty="0"/>
          </a:p>
        </p:txBody>
      </p:sp>
      <p:sp>
        <p:nvSpPr>
          <p:cNvPr id="16" name="Text 14"/>
          <p:cNvSpPr txBox="1"/>
          <p:nvPr/>
        </p:nvSpPr>
        <p:spPr>
          <a:xfrm>
            <a:off x="2651760" y="2532888"/>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13  </a:t>
            </a:r>
            <a:pPr indent="0" marL="0">
              <a:buNone/>
            </a:pPr>
            <a:r>
              <a:rPr lang="en-US" sz="1100" dirty="0">
                <a:solidFill>
                  <a:srgbClr val="1B2333"/>
                </a:solidFill>
                <a:latin typeface="Arial" pitchFamily="34" charset="0"/>
                <a:ea typeface="Arial" pitchFamily="34" charset="-122"/>
                <a:cs typeface="Arial" pitchFamily="34" charset="-120"/>
              </a:rPr>
              <a:t>Model change?</a:t>
            </a:r>
            <a:endParaRPr lang="en-US" sz="1100" dirty="0"/>
          </a:p>
        </p:txBody>
      </p:sp>
      <p:sp>
        <p:nvSpPr>
          <p:cNvPr id="17" name="Text 15"/>
          <p:cNvSpPr txBox="1"/>
          <p:nvPr/>
        </p:nvSpPr>
        <p:spPr>
          <a:xfrm>
            <a:off x="2651760" y="2880360"/>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14  </a:t>
            </a:r>
            <a:pPr indent="0" marL="0">
              <a:buNone/>
            </a:pPr>
            <a:r>
              <a:rPr lang="en-US" sz="1100" dirty="0">
                <a:solidFill>
                  <a:srgbClr val="1B2333"/>
                </a:solidFill>
                <a:latin typeface="Arial" pitchFamily="34" charset="0"/>
                <a:ea typeface="Arial" pitchFamily="34" charset="-122"/>
                <a:cs typeface="Arial" pitchFamily="34" charset="-120"/>
              </a:rPr>
              <a:t>What happened in CRE?</a:t>
            </a:r>
            <a:endParaRPr lang="en-US" sz="1100" dirty="0"/>
          </a:p>
        </p:txBody>
      </p:sp>
      <p:sp>
        <p:nvSpPr>
          <p:cNvPr id="18" name="Text 16"/>
          <p:cNvSpPr txBox="1"/>
          <p:nvPr/>
        </p:nvSpPr>
        <p:spPr>
          <a:xfrm>
            <a:off x="2651760" y="3227832"/>
            <a:ext cx="2103120" cy="310896"/>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15  </a:t>
            </a:r>
            <a:pPr indent="0" marL="0">
              <a:buNone/>
            </a:pPr>
            <a:r>
              <a:rPr lang="en-US" sz="1100" dirty="0">
                <a:solidFill>
                  <a:srgbClr val="1B2333"/>
                </a:solidFill>
                <a:latin typeface="Arial" pitchFamily="34" charset="0"/>
                <a:ea typeface="Arial" pitchFamily="34" charset="-122"/>
                <a:cs typeface="Arial" pitchFamily="34" charset="-120"/>
              </a:rPr>
              <a:t>Does it reconcile?</a:t>
            </a:r>
            <a:endParaRPr lang="en-US" sz="1100" dirty="0"/>
          </a:p>
        </p:txBody>
      </p:sp>
      <p:sp>
        <p:nvSpPr>
          <p:cNvPr id="19" name="Shape 17"/>
          <p:cNvSpPr/>
          <p:nvPr/>
        </p:nvSpPr>
        <p:spPr>
          <a:xfrm>
            <a:off x="4937760" y="1143000"/>
            <a:ext cx="3749040" cy="1691640"/>
          </a:xfrm>
          <a:prstGeom prst="roundRect">
            <a:avLst>
              <a:gd name="adj" fmla="val 4324"/>
            </a:avLst>
          </a:prstGeom>
          <a:solidFill>
            <a:srgbClr val="F2F4F7"/>
          </a:solidFill>
          <a:ln w="12700">
            <a:solidFill>
              <a:srgbClr val="F2F4F7"/>
            </a:solidFill>
            <a:prstDash val="solid"/>
          </a:ln>
        </p:spPr>
      </p:sp>
      <p:sp>
        <p:nvSpPr>
          <p:cNvPr id="20" name="Text 18"/>
          <p:cNvSpPr txBox="1"/>
          <p:nvPr/>
        </p:nvSpPr>
        <p:spPr>
          <a:xfrm>
            <a:off x="5120640" y="1216152"/>
            <a:ext cx="3383280" cy="274320"/>
          </a:xfrm>
          <a:prstGeom prst="rect">
            <a:avLst/>
          </a:prstGeom>
          <a:noFill/>
          <a:ln/>
        </p:spPr>
        <p:txBody>
          <a:bodyPr wrap="square" lIns="0" tIns="0" rIns="0" bIns="0" rtlCol="0" anchor="ctr"/>
          <a:lstStyle/>
          <a:p>
            <a:pPr indent="0" marL="0">
              <a:buNone/>
            </a:pPr>
            <a:r>
              <a:rPr lang="en-US" sz="1200" b="1" dirty="0">
                <a:solidFill>
                  <a:srgbClr val="1B2333"/>
                </a:solidFill>
                <a:latin typeface="Arial" pitchFamily="34" charset="0"/>
                <a:ea typeface="Arial" pitchFamily="34" charset="-122"/>
                <a:cs typeface="Arial" pitchFamily="34" charset="-120"/>
              </a:rPr>
              <a:t>NeMo Gym verifier reward (0–1)</a:t>
            </a:r>
            <a:endParaRPr lang="en-US" sz="1200" dirty="0"/>
          </a:p>
        </p:txBody>
      </p:sp>
      <p:sp>
        <p:nvSpPr>
          <p:cNvPr id="21" name="Text 19"/>
          <p:cNvSpPr txBox="1"/>
          <p:nvPr/>
        </p:nvSpPr>
        <p:spPr>
          <a:xfrm>
            <a:off x="5120640" y="1554480"/>
            <a:ext cx="1920240" cy="228600"/>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Correctness vs ground truth</a:t>
            </a:r>
            <a:endParaRPr lang="en-US" sz="1000" dirty="0"/>
          </a:p>
        </p:txBody>
      </p:sp>
      <p:sp>
        <p:nvSpPr>
          <p:cNvPr id="22" name="Shape 20"/>
          <p:cNvSpPr/>
          <p:nvPr/>
        </p:nvSpPr>
        <p:spPr>
          <a:xfrm>
            <a:off x="7040880" y="1600200"/>
            <a:ext cx="1280160" cy="137160"/>
          </a:xfrm>
          <a:prstGeom prst="rect">
            <a:avLst/>
          </a:prstGeom>
          <a:solidFill>
            <a:srgbClr val="76B900"/>
          </a:solidFill>
          <a:ln w="12700">
            <a:solidFill>
              <a:srgbClr val="76B900"/>
            </a:solidFill>
            <a:prstDash val="solid"/>
          </a:ln>
        </p:spPr>
      </p:sp>
      <p:sp>
        <p:nvSpPr>
          <p:cNvPr id="23" name="Text 21"/>
          <p:cNvSpPr txBox="1"/>
          <p:nvPr/>
        </p:nvSpPr>
        <p:spPr>
          <a:xfrm>
            <a:off x="8366760" y="1554480"/>
            <a:ext cx="320040" cy="228600"/>
          </a:xfrm>
          <a:prstGeom prst="rect">
            <a:avLst/>
          </a:prstGeom>
          <a:noFill/>
          <a:ln/>
        </p:spPr>
        <p:txBody>
          <a:bodyPr wrap="square" lIns="0" tIns="0" rIns="0" bIns="0" rtlCol="0" anchor="ctr"/>
          <a:lstStyle/>
          <a:p>
            <a:pPr indent="0" marL="0">
              <a:buNone/>
            </a:pPr>
            <a:r>
              <a:rPr lang="en-US" sz="900" dirty="0">
                <a:solidFill>
                  <a:srgbClr val="5B6577"/>
                </a:solidFill>
                <a:latin typeface="Arial" pitchFamily="34" charset="0"/>
                <a:ea typeface="Arial" pitchFamily="34" charset="-122"/>
                <a:cs typeface="Arial" pitchFamily="34" charset="-120"/>
              </a:rPr>
              <a:t>0.55</a:t>
            </a:r>
            <a:endParaRPr lang="en-US" sz="900" dirty="0"/>
          </a:p>
        </p:txBody>
      </p:sp>
      <p:sp>
        <p:nvSpPr>
          <p:cNvPr id="24" name="Text 22"/>
          <p:cNvSpPr txBox="1"/>
          <p:nvPr/>
        </p:nvSpPr>
        <p:spPr>
          <a:xfrm>
            <a:off x="5120640" y="1801368"/>
            <a:ext cx="1920240" cy="228600"/>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Numeric grounding</a:t>
            </a:r>
            <a:endParaRPr lang="en-US" sz="1000" dirty="0"/>
          </a:p>
        </p:txBody>
      </p:sp>
      <p:sp>
        <p:nvSpPr>
          <p:cNvPr id="25" name="Shape 23"/>
          <p:cNvSpPr/>
          <p:nvPr/>
        </p:nvSpPr>
        <p:spPr>
          <a:xfrm>
            <a:off x="7040880" y="1847088"/>
            <a:ext cx="465513" cy="137160"/>
          </a:xfrm>
          <a:prstGeom prst="rect">
            <a:avLst/>
          </a:prstGeom>
          <a:solidFill>
            <a:srgbClr val="76B900"/>
          </a:solidFill>
          <a:ln w="12700">
            <a:solidFill>
              <a:srgbClr val="76B900"/>
            </a:solidFill>
            <a:prstDash val="solid"/>
          </a:ln>
        </p:spPr>
      </p:sp>
      <p:sp>
        <p:nvSpPr>
          <p:cNvPr id="26" name="Text 24"/>
          <p:cNvSpPr txBox="1"/>
          <p:nvPr/>
        </p:nvSpPr>
        <p:spPr>
          <a:xfrm>
            <a:off x="8366760" y="1801368"/>
            <a:ext cx="320040" cy="228600"/>
          </a:xfrm>
          <a:prstGeom prst="rect">
            <a:avLst/>
          </a:prstGeom>
          <a:noFill/>
          <a:ln/>
        </p:spPr>
        <p:txBody>
          <a:bodyPr wrap="square" lIns="0" tIns="0" rIns="0" bIns="0" rtlCol="0" anchor="ctr"/>
          <a:lstStyle/>
          <a:p>
            <a:pPr indent="0" marL="0">
              <a:buNone/>
            </a:pPr>
            <a:r>
              <a:rPr lang="en-US" sz="900" dirty="0">
                <a:solidFill>
                  <a:srgbClr val="5B6577"/>
                </a:solidFill>
                <a:latin typeface="Arial" pitchFamily="34" charset="0"/>
                <a:ea typeface="Arial" pitchFamily="34" charset="-122"/>
                <a:cs typeface="Arial" pitchFamily="34" charset="-120"/>
              </a:rPr>
              <a:t>0.20</a:t>
            </a:r>
            <a:endParaRPr lang="en-US" sz="900" dirty="0"/>
          </a:p>
        </p:txBody>
      </p:sp>
      <p:sp>
        <p:nvSpPr>
          <p:cNvPr id="27" name="Text 25"/>
          <p:cNvSpPr txBox="1"/>
          <p:nvPr/>
        </p:nvSpPr>
        <p:spPr>
          <a:xfrm>
            <a:off x="5120640" y="2048256"/>
            <a:ext cx="1920240" cy="228600"/>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Tool selection</a:t>
            </a:r>
            <a:endParaRPr lang="en-US" sz="1000" dirty="0"/>
          </a:p>
        </p:txBody>
      </p:sp>
      <p:sp>
        <p:nvSpPr>
          <p:cNvPr id="28" name="Shape 26"/>
          <p:cNvSpPr/>
          <p:nvPr/>
        </p:nvSpPr>
        <p:spPr>
          <a:xfrm>
            <a:off x="7040880" y="2093976"/>
            <a:ext cx="232756" cy="137160"/>
          </a:xfrm>
          <a:prstGeom prst="rect">
            <a:avLst/>
          </a:prstGeom>
          <a:solidFill>
            <a:srgbClr val="76B900"/>
          </a:solidFill>
          <a:ln w="12700">
            <a:solidFill>
              <a:srgbClr val="76B900"/>
            </a:solidFill>
            <a:prstDash val="solid"/>
          </a:ln>
        </p:spPr>
      </p:sp>
      <p:sp>
        <p:nvSpPr>
          <p:cNvPr id="29" name="Text 27"/>
          <p:cNvSpPr txBox="1"/>
          <p:nvPr/>
        </p:nvSpPr>
        <p:spPr>
          <a:xfrm>
            <a:off x="8366760" y="2048256"/>
            <a:ext cx="320040" cy="228600"/>
          </a:xfrm>
          <a:prstGeom prst="rect">
            <a:avLst/>
          </a:prstGeom>
          <a:noFill/>
          <a:ln/>
        </p:spPr>
        <p:txBody>
          <a:bodyPr wrap="square" lIns="0" tIns="0" rIns="0" bIns="0" rtlCol="0" anchor="ctr"/>
          <a:lstStyle/>
          <a:p>
            <a:pPr indent="0" marL="0">
              <a:buNone/>
            </a:pPr>
            <a:r>
              <a:rPr lang="en-US" sz="900" dirty="0">
                <a:solidFill>
                  <a:srgbClr val="5B6577"/>
                </a:solidFill>
                <a:latin typeface="Arial" pitchFamily="34" charset="0"/>
                <a:ea typeface="Arial" pitchFamily="34" charset="-122"/>
                <a:cs typeface="Arial" pitchFamily="34" charset="-120"/>
              </a:rPr>
              <a:t>0.10</a:t>
            </a:r>
            <a:endParaRPr lang="en-US" sz="900" dirty="0"/>
          </a:p>
        </p:txBody>
      </p:sp>
      <p:sp>
        <p:nvSpPr>
          <p:cNvPr id="30" name="Text 28"/>
          <p:cNvSpPr txBox="1"/>
          <p:nvPr/>
        </p:nvSpPr>
        <p:spPr>
          <a:xfrm>
            <a:off x="5120640" y="2295144"/>
            <a:ext cx="1920240" cy="228600"/>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Call validity</a:t>
            </a:r>
            <a:endParaRPr lang="en-US" sz="1000" dirty="0"/>
          </a:p>
        </p:txBody>
      </p:sp>
      <p:sp>
        <p:nvSpPr>
          <p:cNvPr id="31" name="Shape 29"/>
          <p:cNvSpPr/>
          <p:nvPr/>
        </p:nvSpPr>
        <p:spPr>
          <a:xfrm>
            <a:off x="7040880" y="2340864"/>
            <a:ext cx="232756" cy="137160"/>
          </a:xfrm>
          <a:prstGeom prst="rect">
            <a:avLst/>
          </a:prstGeom>
          <a:solidFill>
            <a:srgbClr val="76B900"/>
          </a:solidFill>
          <a:ln w="12700">
            <a:solidFill>
              <a:srgbClr val="76B900"/>
            </a:solidFill>
            <a:prstDash val="solid"/>
          </a:ln>
        </p:spPr>
      </p:sp>
      <p:sp>
        <p:nvSpPr>
          <p:cNvPr id="32" name="Text 30"/>
          <p:cNvSpPr txBox="1"/>
          <p:nvPr/>
        </p:nvSpPr>
        <p:spPr>
          <a:xfrm>
            <a:off x="8366760" y="2295144"/>
            <a:ext cx="320040" cy="228600"/>
          </a:xfrm>
          <a:prstGeom prst="rect">
            <a:avLst/>
          </a:prstGeom>
          <a:noFill/>
          <a:ln/>
        </p:spPr>
        <p:txBody>
          <a:bodyPr wrap="square" lIns="0" tIns="0" rIns="0" bIns="0" rtlCol="0" anchor="ctr"/>
          <a:lstStyle/>
          <a:p>
            <a:pPr indent="0" marL="0">
              <a:buNone/>
            </a:pPr>
            <a:r>
              <a:rPr lang="en-US" sz="900" dirty="0">
                <a:solidFill>
                  <a:srgbClr val="5B6577"/>
                </a:solidFill>
                <a:latin typeface="Arial" pitchFamily="34" charset="0"/>
                <a:ea typeface="Arial" pitchFamily="34" charset="-122"/>
                <a:cs typeface="Arial" pitchFamily="34" charset="-120"/>
              </a:rPr>
              <a:t>0.10</a:t>
            </a:r>
            <a:endParaRPr lang="en-US" sz="900" dirty="0"/>
          </a:p>
        </p:txBody>
      </p:sp>
      <p:sp>
        <p:nvSpPr>
          <p:cNvPr id="33" name="Text 31"/>
          <p:cNvSpPr txBox="1"/>
          <p:nvPr/>
        </p:nvSpPr>
        <p:spPr>
          <a:xfrm>
            <a:off x="5120640" y="2542032"/>
            <a:ext cx="1920240" cy="228600"/>
          </a:xfrm>
          <a:prstGeom prst="rect">
            <a:avLst/>
          </a:prstGeom>
          <a:noFill/>
          <a:ln/>
        </p:spPr>
        <p:txBody>
          <a:bodyPr wrap="square" lIns="0" tIns="0" rIns="0" bIns="0" rtlCol="0" anchor="ctr"/>
          <a:lstStyle/>
          <a:p>
            <a:pPr indent="0" marL="0">
              <a:buNone/>
            </a:pPr>
            <a:r>
              <a:rPr lang="en-US" sz="1000" dirty="0">
                <a:solidFill>
                  <a:srgbClr val="1B2333"/>
                </a:solidFill>
                <a:latin typeface="Arial" pitchFamily="34" charset="0"/>
                <a:ea typeface="Arial" pitchFamily="34" charset="-122"/>
                <a:cs typeface="Arial" pitchFamily="34" charset="-120"/>
              </a:rPr>
              <a:t>Efficiency</a:t>
            </a:r>
            <a:endParaRPr lang="en-US" sz="1000" dirty="0"/>
          </a:p>
        </p:txBody>
      </p:sp>
      <p:sp>
        <p:nvSpPr>
          <p:cNvPr id="34" name="Shape 32"/>
          <p:cNvSpPr/>
          <p:nvPr/>
        </p:nvSpPr>
        <p:spPr>
          <a:xfrm>
            <a:off x="7040880" y="2587752"/>
            <a:ext cx="116378" cy="137160"/>
          </a:xfrm>
          <a:prstGeom prst="rect">
            <a:avLst/>
          </a:prstGeom>
          <a:solidFill>
            <a:srgbClr val="76B900"/>
          </a:solidFill>
          <a:ln w="12700">
            <a:solidFill>
              <a:srgbClr val="76B900"/>
            </a:solidFill>
            <a:prstDash val="solid"/>
          </a:ln>
        </p:spPr>
      </p:sp>
      <p:sp>
        <p:nvSpPr>
          <p:cNvPr id="35" name="Text 33"/>
          <p:cNvSpPr txBox="1"/>
          <p:nvPr/>
        </p:nvSpPr>
        <p:spPr>
          <a:xfrm>
            <a:off x="8366760" y="2542032"/>
            <a:ext cx="320040" cy="228600"/>
          </a:xfrm>
          <a:prstGeom prst="rect">
            <a:avLst/>
          </a:prstGeom>
          <a:noFill/>
          <a:ln/>
        </p:spPr>
        <p:txBody>
          <a:bodyPr wrap="square" lIns="0" tIns="0" rIns="0" bIns="0" rtlCol="0" anchor="ctr"/>
          <a:lstStyle/>
          <a:p>
            <a:pPr indent="0" marL="0">
              <a:buNone/>
            </a:pPr>
            <a:r>
              <a:rPr lang="en-US" sz="900" dirty="0">
                <a:solidFill>
                  <a:srgbClr val="5B6577"/>
                </a:solidFill>
                <a:latin typeface="Arial" pitchFamily="34" charset="0"/>
                <a:ea typeface="Arial" pitchFamily="34" charset="-122"/>
                <a:cs typeface="Arial" pitchFamily="34" charset="-120"/>
              </a:rPr>
              <a:t>0.05</a:t>
            </a:r>
            <a:endParaRPr lang="en-US" sz="900" dirty="0"/>
          </a:p>
        </p:txBody>
      </p:sp>
      <p:sp>
        <p:nvSpPr>
          <p:cNvPr id="36" name="Shape 34"/>
          <p:cNvSpPr/>
          <p:nvPr/>
        </p:nvSpPr>
        <p:spPr>
          <a:xfrm>
            <a:off x="4937760" y="3017520"/>
            <a:ext cx="3749040" cy="1417320"/>
          </a:xfrm>
          <a:prstGeom prst="roundRect">
            <a:avLst>
              <a:gd name="adj" fmla="val 5161"/>
            </a:avLst>
          </a:prstGeom>
          <a:solidFill>
            <a:srgbClr val="0E1726"/>
          </a:solidFill>
          <a:ln w="12700">
            <a:solidFill>
              <a:srgbClr val="0E1726"/>
            </a:solidFill>
            <a:prstDash val="solid"/>
          </a:ln>
        </p:spPr>
      </p:sp>
      <p:sp>
        <p:nvSpPr>
          <p:cNvPr id="37" name="Text 35"/>
          <p:cNvSpPr txBox="1"/>
          <p:nvPr/>
        </p:nvSpPr>
        <p:spPr>
          <a:xfrm>
            <a:off x="5120640" y="3090672"/>
            <a:ext cx="3383280" cy="256032"/>
          </a:xfrm>
          <a:prstGeom prst="rect">
            <a:avLst/>
          </a:prstGeom>
          <a:noFill/>
          <a:ln/>
        </p:spPr>
        <p:txBody>
          <a:bodyPr wrap="square" lIns="0" tIns="0" rIns="0" bIns="0" rtlCol="0" anchor="ctr"/>
          <a:lstStyle/>
          <a:p>
            <a:pPr indent="0" marL="0">
              <a:buNone/>
            </a:pPr>
            <a:r>
              <a:rPr lang="en-US" sz="1000" b="1" spc="100" kern="0" dirty="0">
                <a:solidFill>
                  <a:srgbClr val="76B900"/>
                </a:solidFill>
                <a:latin typeface="Arial" pitchFamily="34" charset="0"/>
                <a:ea typeface="Arial" pitchFamily="34" charset="-122"/>
                <a:cs typeface="Arial" pitchFamily="34" charset="-120"/>
              </a:rPr>
              <a:t>LOCAL NEMOTRON TEAM · 16 GB LAPTOP</a:t>
            </a:r>
            <a:endParaRPr lang="en-US" sz="1000" dirty="0"/>
          </a:p>
        </p:txBody>
      </p:sp>
      <p:sp>
        <p:nvSpPr>
          <p:cNvPr id="38" name="Text 36"/>
          <p:cNvSpPr txBox="1"/>
          <p:nvPr/>
        </p:nvSpPr>
        <p:spPr>
          <a:xfrm>
            <a:off x="5120640" y="3364992"/>
            <a:ext cx="3383280" cy="594360"/>
          </a:xfrm>
          <a:prstGeom prst="rect">
            <a:avLst/>
          </a:prstGeom>
          <a:noFill/>
          <a:ln/>
        </p:spPr>
        <p:txBody>
          <a:bodyPr wrap="square" lIns="0" tIns="0" rIns="0" bIns="0" rtlCol="0" anchor="ctr"/>
          <a:lstStyle/>
          <a:p>
            <a:pPr indent="0" marL="0">
              <a:buNone/>
            </a:pPr>
            <a:r>
              <a:rPr lang="en-US" sz="3400" b="1" dirty="0">
                <a:solidFill>
                  <a:srgbClr val="76B900"/>
                </a:solidFill>
                <a:latin typeface="Arial" pitchFamily="34" charset="0"/>
                <a:ea typeface="Arial" pitchFamily="34" charset="-122"/>
                <a:cs typeface="Arial" pitchFamily="34" charset="-120"/>
              </a:rPr>
              <a:t>0.892</a:t>
            </a:r>
            <a:pPr indent="0" marL="0">
              <a:buNone/>
            </a:pPr>
            <a:r>
              <a:rPr lang="en-US" sz="1400" b="1" dirty="0">
                <a:solidFill>
                  <a:srgbClr val="FFFFFF"/>
                </a:solidFill>
                <a:latin typeface="Arial" pitchFamily="34" charset="0"/>
                <a:ea typeface="Arial" pitchFamily="34" charset="-122"/>
                <a:cs typeface="Arial" pitchFamily="34" charset="-120"/>
              </a:rPr>
              <a:t>   89% of frontier</a:t>
            </a:r>
            <a:endParaRPr lang="en-US" sz="3400" dirty="0"/>
          </a:p>
        </p:txBody>
      </p:sp>
      <p:sp>
        <p:nvSpPr>
          <p:cNvPr id="39" name="Text 37"/>
          <p:cNvSpPr txBox="1"/>
          <p:nvPr/>
        </p:nvSpPr>
        <p:spPr>
          <a:xfrm>
            <a:off x="5120640" y="3977640"/>
            <a:ext cx="3383280" cy="365760"/>
          </a:xfrm>
          <a:prstGeom prst="rect">
            <a:avLst/>
          </a:prstGeom>
          <a:noFill/>
          <a:ln/>
        </p:spPr>
        <p:txBody>
          <a:bodyPr wrap="square" lIns="0" tIns="0" rIns="0" bIns="0" rtlCol="0" anchor="ctr"/>
          <a:lstStyle/>
          <a:p>
            <a:pPr indent="0" marL="0">
              <a:buNone/>
            </a:pPr>
            <a:r>
              <a:rPr lang="en-US" sz="1100" dirty="0">
                <a:solidFill>
                  <a:srgbClr val="C9D2DE"/>
                </a:solidFill>
                <a:latin typeface="Arial" pitchFamily="34" charset="0"/>
                <a:ea typeface="Arial" pitchFamily="34" charset="-122"/>
                <a:cs typeface="Arial" pitchFamily="34" charset="-120"/>
              </a:rPr>
              <a:t>10 / 15 fully right · 0 failed runs · Nemotron 3 Nano 4B on Ollama</a:t>
            </a:r>
            <a:endParaRPr lang="en-US" sz="1100" dirty="0"/>
          </a:p>
        </p:txBody>
      </p:sp>
      <p:sp>
        <p:nvSpPr>
          <p:cNvPr id="40" name="Text 38"/>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A give-up scores 0. Team score credits specialists' tool calls from the call log (first scored 0.832). Frontier: Claude Opus 5.5, identical prompt, tools, data, verifier.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RESULTS</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A 3B-active Nemotron reaches 98% of frontier quality with the same tools</a:t>
            </a:r>
            <a:endParaRPr lang="en-US" sz="2600" dirty="0"/>
          </a:p>
        </p:txBody>
      </p:sp>
      <p:sp>
        <p:nvSpPr>
          <p:cNvPr id="4" name="Text 2"/>
          <p:cNvSpPr txBox="1"/>
          <p:nvPr/>
        </p:nvSpPr>
        <p:spPr>
          <a:xfrm>
            <a:off x="457200" y="1097280"/>
            <a:ext cx="3566160" cy="50292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Frontier reference: Claude Opus 5.5</a:t>
            </a:r>
            <a:endParaRPr lang="en-US" sz="1100" dirty="0"/>
          </a:p>
          <a:p>
            <a:pPr indent="0" marL="0">
              <a:buNone/>
            </a:pPr>
            <a:r>
              <a:rPr lang="en-US" sz="900" dirty="0">
                <a:solidFill>
                  <a:srgbClr val="5B6577"/>
                </a:solidFill>
                <a:latin typeface="Arial" pitchFamily="34" charset="0"/>
                <a:ea typeface="Arial" pitchFamily="34" charset="-122"/>
                <a:cs typeface="Arial" pitchFamily="34" charset="-120"/>
              </a:rPr>
              <a:t>single agent · all 15 questions</a:t>
            </a:r>
            <a:endParaRPr lang="en-US" sz="1100" dirty="0"/>
          </a:p>
        </p:txBody>
      </p:sp>
      <p:sp>
        <p:nvSpPr>
          <p:cNvPr id="5" name="Shape 3"/>
          <p:cNvSpPr/>
          <p:nvPr/>
        </p:nvSpPr>
        <p:spPr>
          <a:xfrm>
            <a:off x="4114800" y="1188720"/>
            <a:ext cx="3828959" cy="320040"/>
          </a:xfrm>
          <a:prstGeom prst="rect">
            <a:avLst/>
          </a:prstGeom>
          <a:solidFill>
            <a:srgbClr val="0E1726"/>
          </a:solidFill>
          <a:ln w="12700">
            <a:solidFill>
              <a:srgbClr val="0E1726"/>
            </a:solidFill>
            <a:prstDash val="solid"/>
          </a:ln>
        </p:spPr>
      </p:sp>
      <p:sp>
        <p:nvSpPr>
          <p:cNvPr id="6" name="Text 4"/>
          <p:cNvSpPr txBox="1"/>
          <p:nvPr/>
        </p:nvSpPr>
        <p:spPr>
          <a:xfrm>
            <a:off x="8016911" y="1188720"/>
            <a:ext cx="548640" cy="32004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0.997</a:t>
            </a:r>
            <a:endParaRPr lang="en-US" sz="1100" dirty="0"/>
          </a:p>
        </p:txBody>
      </p:sp>
      <p:sp>
        <p:nvSpPr>
          <p:cNvPr id="7" name="Text 5"/>
          <p:cNvSpPr txBox="1"/>
          <p:nvPr/>
        </p:nvSpPr>
        <p:spPr>
          <a:xfrm>
            <a:off x="457200" y="1609344"/>
            <a:ext cx="3566160" cy="50292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Nemotron 3.5 Lightning (30B, ~3B active)</a:t>
            </a:r>
            <a:endParaRPr lang="en-US" sz="1100" dirty="0"/>
          </a:p>
          <a:p>
            <a:pPr indent="0" marL="0">
              <a:buNone/>
            </a:pPr>
            <a:r>
              <a:rPr lang="en-US" sz="900" dirty="0">
                <a:solidFill>
                  <a:srgbClr val="5B6577"/>
                </a:solidFill>
                <a:latin typeface="Arial" pitchFamily="34" charset="0"/>
                <a:ea typeface="Arial" pitchFamily="34" charset="-122"/>
                <a:cs typeface="Arial" pitchFamily="34" charset="-120"/>
              </a:rPr>
              <a:t>single agent · Brev A100 · all 15</a:t>
            </a:r>
            <a:endParaRPr lang="en-US" sz="1100" dirty="0"/>
          </a:p>
        </p:txBody>
      </p:sp>
      <p:sp>
        <p:nvSpPr>
          <p:cNvPr id="8" name="Shape 6"/>
          <p:cNvSpPr/>
          <p:nvPr/>
        </p:nvSpPr>
        <p:spPr>
          <a:xfrm>
            <a:off x="4114800" y="1700784"/>
            <a:ext cx="3752149" cy="320040"/>
          </a:xfrm>
          <a:prstGeom prst="rect">
            <a:avLst/>
          </a:prstGeom>
          <a:solidFill>
            <a:srgbClr val="76B900"/>
          </a:solidFill>
          <a:ln w="12700">
            <a:solidFill>
              <a:srgbClr val="76B900"/>
            </a:solidFill>
            <a:prstDash val="solid"/>
          </a:ln>
        </p:spPr>
      </p:sp>
      <p:sp>
        <p:nvSpPr>
          <p:cNvPr id="9" name="Text 7"/>
          <p:cNvSpPr txBox="1"/>
          <p:nvPr/>
        </p:nvSpPr>
        <p:spPr>
          <a:xfrm>
            <a:off x="7940101" y="1700784"/>
            <a:ext cx="548640" cy="32004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0.977</a:t>
            </a:r>
            <a:endParaRPr lang="en-US" sz="1100" dirty="0"/>
          </a:p>
        </p:txBody>
      </p:sp>
      <p:sp>
        <p:nvSpPr>
          <p:cNvPr id="10" name="Text 8"/>
          <p:cNvSpPr txBox="1"/>
          <p:nvPr/>
        </p:nvSpPr>
        <p:spPr>
          <a:xfrm>
            <a:off x="457200" y="2121408"/>
            <a:ext cx="3566160" cy="50292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Same model, held-out story (property shock)</a:t>
            </a:r>
            <a:endParaRPr lang="en-US" sz="1100" dirty="0"/>
          </a:p>
          <a:p>
            <a:pPr indent="0" marL="0">
              <a:buNone/>
            </a:pPr>
            <a:r>
              <a:rPr lang="en-US" sz="900" dirty="0">
                <a:solidFill>
                  <a:srgbClr val="5B6577"/>
                </a:solidFill>
                <a:latin typeface="Arial" pitchFamily="34" charset="0"/>
                <a:ea typeface="Arial" pitchFamily="34" charset="-122"/>
                <a:cs typeface="Arial" pitchFamily="34" charset="-120"/>
              </a:rPr>
              <a:t>different correct answers · all 15</a:t>
            </a:r>
            <a:endParaRPr lang="en-US" sz="1100" dirty="0"/>
          </a:p>
        </p:txBody>
      </p:sp>
      <p:sp>
        <p:nvSpPr>
          <p:cNvPr id="11" name="Shape 9"/>
          <p:cNvSpPr/>
          <p:nvPr/>
        </p:nvSpPr>
        <p:spPr>
          <a:xfrm>
            <a:off x="4114800" y="2212848"/>
            <a:ext cx="3683020" cy="320040"/>
          </a:xfrm>
          <a:prstGeom prst="rect">
            <a:avLst/>
          </a:prstGeom>
          <a:solidFill>
            <a:srgbClr val="76B900"/>
          </a:solidFill>
          <a:ln w="12700">
            <a:solidFill>
              <a:srgbClr val="76B900"/>
            </a:solidFill>
            <a:prstDash val="solid"/>
          </a:ln>
        </p:spPr>
      </p:sp>
      <p:sp>
        <p:nvSpPr>
          <p:cNvPr id="12" name="Text 10"/>
          <p:cNvSpPr txBox="1"/>
          <p:nvPr/>
        </p:nvSpPr>
        <p:spPr>
          <a:xfrm>
            <a:off x="7870972" y="2212848"/>
            <a:ext cx="548640" cy="32004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0.959</a:t>
            </a:r>
            <a:endParaRPr lang="en-US" sz="1100" dirty="0"/>
          </a:p>
        </p:txBody>
      </p:sp>
      <p:sp>
        <p:nvSpPr>
          <p:cNvPr id="13" name="Text 11"/>
          <p:cNvSpPr txBox="1"/>
          <p:nvPr/>
        </p:nvSpPr>
        <p:spPr>
          <a:xfrm>
            <a:off x="457200" y="2633472"/>
            <a:ext cx="3566160" cy="50292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 RiskLens LoRA, reasoning off, held-out story</a:t>
            </a:r>
            <a:endParaRPr lang="en-US" sz="1100" dirty="0"/>
          </a:p>
          <a:p>
            <a:pPr indent="0" marL="0">
              <a:buNone/>
            </a:pPr>
            <a:r>
              <a:rPr lang="en-US" sz="900" dirty="0">
                <a:solidFill>
                  <a:srgbClr val="5B6577"/>
                </a:solidFill>
                <a:latin typeface="Arial" pitchFamily="34" charset="0"/>
                <a:ea typeface="Arial" pitchFamily="34" charset="-122"/>
                <a:cs typeface="Arial" pitchFamily="34" charset="-120"/>
              </a:rPr>
              <a:t>base without LoRA: 0.751 · 60 episodes</a:t>
            </a:r>
            <a:endParaRPr lang="en-US" sz="1100" dirty="0"/>
          </a:p>
        </p:txBody>
      </p:sp>
      <p:sp>
        <p:nvSpPr>
          <p:cNvPr id="14" name="Shape 12"/>
          <p:cNvSpPr/>
          <p:nvPr/>
        </p:nvSpPr>
        <p:spPr>
          <a:xfrm>
            <a:off x="4114800" y="2724912"/>
            <a:ext cx="3606211" cy="320040"/>
          </a:xfrm>
          <a:prstGeom prst="rect">
            <a:avLst/>
          </a:prstGeom>
          <a:solidFill>
            <a:srgbClr val="4A7A00"/>
          </a:solidFill>
          <a:ln w="12700">
            <a:solidFill>
              <a:srgbClr val="4A7A00"/>
            </a:solidFill>
            <a:prstDash val="solid"/>
          </a:ln>
        </p:spPr>
      </p:sp>
      <p:sp>
        <p:nvSpPr>
          <p:cNvPr id="15" name="Text 13"/>
          <p:cNvSpPr txBox="1"/>
          <p:nvPr/>
        </p:nvSpPr>
        <p:spPr>
          <a:xfrm>
            <a:off x="7794163" y="2724912"/>
            <a:ext cx="548640" cy="32004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0.939</a:t>
            </a:r>
            <a:endParaRPr lang="en-US" sz="1100" dirty="0"/>
          </a:p>
        </p:txBody>
      </p:sp>
      <p:sp>
        <p:nvSpPr>
          <p:cNvPr id="16" name="Text 14"/>
          <p:cNvSpPr txBox="1"/>
          <p:nvPr/>
        </p:nvSpPr>
        <p:spPr>
          <a:xfrm>
            <a:off x="457200" y="3145536"/>
            <a:ext cx="3566160" cy="50292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Nemotron 3 Nano 4B, laptop, single agent</a:t>
            </a:r>
            <a:endParaRPr lang="en-US" sz="1100" dirty="0"/>
          </a:p>
          <a:p>
            <a:pPr indent="0" marL="0">
              <a:buNone/>
            </a:pPr>
            <a:r>
              <a:rPr lang="en-US" sz="900" dirty="0">
                <a:solidFill>
                  <a:srgbClr val="5B6577"/>
                </a:solidFill>
                <a:latin typeface="Arial" pitchFamily="34" charset="0"/>
                <a:ea typeface="Arial" pitchFamily="34" charset="-122"/>
                <a:cs typeface="Arial" pitchFamily="34" charset="-120"/>
              </a:rPr>
              <a:t>Ollama · M4 16 GB · all 15 · 89 s/question</a:t>
            </a:r>
            <a:endParaRPr lang="en-US" sz="1100" dirty="0"/>
          </a:p>
        </p:txBody>
      </p:sp>
      <p:sp>
        <p:nvSpPr>
          <p:cNvPr id="17" name="Shape 15"/>
          <p:cNvSpPr/>
          <p:nvPr/>
        </p:nvSpPr>
        <p:spPr>
          <a:xfrm>
            <a:off x="4114800" y="3236976"/>
            <a:ext cx="3448751" cy="320040"/>
          </a:xfrm>
          <a:prstGeom prst="rect">
            <a:avLst/>
          </a:prstGeom>
          <a:solidFill>
            <a:srgbClr val="5E8C2A"/>
          </a:solidFill>
          <a:ln w="12700">
            <a:solidFill>
              <a:srgbClr val="5E8C2A"/>
            </a:solidFill>
            <a:prstDash val="solid"/>
          </a:ln>
        </p:spPr>
      </p:sp>
      <p:sp>
        <p:nvSpPr>
          <p:cNvPr id="18" name="Text 16"/>
          <p:cNvSpPr txBox="1"/>
          <p:nvPr/>
        </p:nvSpPr>
        <p:spPr>
          <a:xfrm>
            <a:off x="7636703" y="3236976"/>
            <a:ext cx="548640" cy="32004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0.898</a:t>
            </a:r>
            <a:endParaRPr lang="en-US" sz="1100" dirty="0"/>
          </a:p>
        </p:txBody>
      </p:sp>
      <p:sp>
        <p:nvSpPr>
          <p:cNvPr id="19" name="Text 17"/>
          <p:cNvSpPr txBox="1"/>
          <p:nvPr/>
        </p:nvSpPr>
        <p:spPr>
          <a:xfrm>
            <a:off x="457200" y="3657600"/>
            <a:ext cx="3566160" cy="50292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Nemotron 3 Nano 4B, laptop, agent team</a:t>
            </a:r>
            <a:endParaRPr lang="en-US" sz="1100" dirty="0"/>
          </a:p>
          <a:p>
            <a:pPr indent="0" marL="0">
              <a:buNone/>
            </a:pPr>
            <a:r>
              <a:rPr lang="en-US" sz="900" dirty="0">
                <a:solidFill>
                  <a:srgbClr val="5B6577"/>
                </a:solidFill>
                <a:latin typeface="Arial" pitchFamily="34" charset="0"/>
                <a:ea typeface="Arial" pitchFamily="34" charset="-122"/>
                <a:cs typeface="Arial" pitchFamily="34" charset="-120"/>
              </a:rPr>
              <a:t>orchestrator + specialists · all 15 · 192 s/question</a:t>
            </a:r>
            <a:endParaRPr lang="en-US" sz="1100" dirty="0"/>
          </a:p>
        </p:txBody>
      </p:sp>
      <p:sp>
        <p:nvSpPr>
          <p:cNvPr id="20" name="Shape 18"/>
          <p:cNvSpPr/>
          <p:nvPr/>
        </p:nvSpPr>
        <p:spPr>
          <a:xfrm>
            <a:off x="4114800" y="3749040"/>
            <a:ext cx="3425708" cy="320040"/>
          </a:xfrm>
          <a:prstGeom prst="rect">
            <a:avLst/>
          </a:prstGeom>
          <a:solidFill>
            <a:srgbClr val="5E8C2A"/>
          </a:solidFill>
          <a:ln w="12700">
            <a:solidFill>
              <a:srgbClr val="5E8C2A"/>
            </a:solidFill>
            <a:prstDash val="solid"/>
          </a:ln>
        </p:spPr>
      </p:sp>
      <p:sp>
        <p:nvSpPr>
          <p:cNvPr id="21" name="Text 19"/>
          <p:cNvSpPr txBox="1"/>
          <p:nvPr/>
        </p:nvSpPr>
        <p:spPr>
          <a:xfrm>
            <a:off x="7613660" y="3749040"/>
            <a:ext cx="548640" cy="320040"/>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0.892</a:t>
            </a:r>
            <a:endParaRPr lang="en-US" sz="1100" dirty="0"/>
          </a:p>
        </p:txBody>
      </p:sp>
      <p:sp>
        <p:nvSpPr>
          <p:cNvPr id="22" name="Text 20"/>
          <p:cNvSpPr txBox="1"/>
          <p:nvPr/>
        </p:nvSpPr>
        <p:spPr>
          <a:xfrm>
            <a:off x="457200" y="4224528"/>
            <a:ext cx="8229600" cy="457200"/>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Lightning: 98% of frontier on one GPU. </a:t>
            </a:r>
            <a:pPr indent="0" marL="0">
              <a:buNone/>
            </a:pPr>
            <a:r>
              <a:rPr lang="en-US" sz="1100" dirty="0">
                <a:solidFill>
                  <a:srgbClr val="1B2333"/>
                </a:solidFill>
                <a:latin typeface="Arial" pitchFamily="34" charset="0"/>
                <a:ea typeface="Arial" pitchFamily="34" charset="-122"/>
                <a:cs typeface="Arial" pitchFamily="34" charset="-120"/>
              </a:rPr>
              <a:t>A 4B on a 16 GB laptop: 90%. Same 15 questions, tools and verifier; nothing leaves the machine.</a:t>
            </a:r>
            <a:endParaRPr lang="en-US" sz="1100" dirty="0"/>
          </a:p>
        </p:txBody>
      </p:sp>
      <p:sp>
        <p:nvSpPr>
          <p:cNvPr id="23" name="Text 21"/>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Bar length = mean verifier reward (0–1). Held-out and LoRA rows use the property-shock story, which has different correct answers.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TOOL-CALLING RELIABILITY</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Errors happen. The system recovers and shows its work</a:t>
            </a:r>
            <a:endParaRPr lang="en-US" sz="2600" dirty="0"/>
          </a:p>
        </p:txBody>
      </p:sp>
      <p:sp>
        <p:nvSpPr>
          <p:cNvPr id="4" name="Text 2"/>
          <p:cNvSpPr txBox="1"/>
          <p:nvPr/>
        </p:nvSpPr>
        <p:spPr>
          <a:xfrm>
            <a:off x="457200" y="1143000"/>
            <a:ext cx="1920240" cy="640080"/>
          </a:xfrm>
          <a:prstGeom prst="rect">
            <a:avLst/>
          </a:prstGeom>
          <a:noFill/>
          <a:ln/>
        </p:spPr>
        <p:txBody>
          <a:bodyPr wrap="square" lIns="0" tIns="0" rIns="0" bIns="0" rtlCol="0" anchor="ctr"/>
          <a:lstStyle/>
          <a:p>
            <a:pPr indent="0" marL="0">
              <a:buNone/>
            </a:pPr>
            <a:r>
              <a:rPr lang="en-US" sz="3400" b="1" dirty="0">
                <a:solidFill>
                  <a:srgbClr val="4A7A00"/>
                </a:solidFill>
                <a:latin typeface="Arial" pitchFamily="34" charset="0"/>
                <a:ea typeface="Arial" pitchFamily="34" charset="-122"/>
                <a:cs typeface="Arial" pitchFamily="34" charset="-120"/>
              </a:rPr>
              <a:t>1.00</a:t>
            </a:r>
            <a:endParaRPr lang="en-US" sz="3400" dirty="0"/>
          </a:p>
        </p:txBody>
      </p:sp>
      <p:sp>
        <p:nvSpPr>
          <p:cNvPr id="5" name="Text 3"/>
          <p:cNvSpPr txBox="1"/>
          <p:nvPr/>
        </p:nvSpPr>
        <p:spPr>
          <a:xfrm>
            <a:off x="457200" y="1783080"/>
            <a:ext cx="1920240" cy="32004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tool selection</a:t>
            </a:r>
            <a:endParaRPr lang="en-US" sz="1200" dirty="0"/>
          </a:p>
        </p:txBody>
      </p:sp>
      <p:sp>
        <p:nvSpPr>
          <p:cNvPr id="6" name="Text 4"/>
          <p:cNvSpPr txBox="1"/>
          <p:nvPr/>
        </p:nvSpPr>
        <p:spPr>
          <a:xfrm>
            <a:off x="2560320" y="1143000"/>
            <a:ext cx="1920240" cy="640080"/>
          </a:xfrm>
          <a:prstGeom prst="rect">
            <a:avLst/>
          </a:prstGeom>
          <a:noFill/>
          <a:ln/>
        </p:spPr>
        <p:txBody>
          <a:bodyPr wrap="square" lIns="0" tIns="0" rIns="0" bIns="0" rtlCol="0" anchor="ctr"/>
          <a:lstStyle/>
          <a:p>
            <a:pPr indent="0" marL="0">
              <a:buNone/>
            </a:pPr>
            <a:r>
              <a:rPr lang="en-US" sz="3400" b="1" dirty="0">
                <a:solidFill>
                  <a:srgbClr val="4A7A00"/>
                </a:solidFill>
                <a:latin typeface="Arial" pitchFamily="34" charset="0"/>
                <a:ea typeface="Arial" pitchFamily="34" charset="-122"/>
                <a:cs typeface="Arial" pitchFamily="34" charset="-120"/>
              </a:rPr>
              <a:t>0.974</a:t>
            </a:r>
            <a:endParaRPr lang="en-US" sz="3400" dirty="0"/>
          </a:p>
        </p:txBody>
      </p:sp>
      <p:sp>
        <p:nvSpPr>
          <p:cNvPr id="7" name="Text 5"/>
          <p:cNvSpPr txBox="1"/>
          <p:nvPr/>
        </p:nvSpPr>
        <p:spPr>
          <a:xfrm>
            <a:off x="2560320" y="1783080"/>
            <a:ext cx="1920240" cy="32004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numeric grounding</a:t>
            </a:r>
            <a:endParaRPr lang="en-US" sz="1200" dirty="0"/>
          </a:p>
        </p:txBody>
      </p:sp>
      <p:sp>
        <p:nvSpPr>
          <p:cNvPr id="8" name="Text 6"/>
          <p:cNvSpPr txBox="1"/>
          <p:nvPr/>
        </p:nvSpPr>
        <p:spPr>
          <a:xfrm>
            <a:off x="4663440" y="1143000"/>
            <a:ext cx="1920240" cy="640080"/>
          </a:xfrm>
          <a:prstGeom prst="rect">
            <a:avLst/>
          </a:prstGeom>
          <a:noFill/>
          <a:ln/>
        </p:spPr>
        <p:txBody>
          <a:bodyPr wrap="square" lIns="0" tIns="0" rIns="0" bIns="0" rtlCol="0" anchor="ctr"/>
          <a:lstStyle/>
          <a:p>
            <a:pPr indent="0" marL="0">
              <a:buNone/>
            </a:pPr>
            <a:r>
              <a:rPr lang="en-US" sz="3400" b="1" dirty="0">
                <a:solidFill>
                  <a:srgbClr val="4A7A00"/>
                </a:solidFill>
                <a:latin typeface="Arial" pitchFamily="34" charset="0"/>
                <a:ea typeface="Arial" pitchFamily="34" charset="-122"/>
                <a:cs typeface="Arial" pitchFamily="34" charset="-120"/>
              </a:rPr>
              <a:t>0.944</a:t>
            </a:r>
            <a:endParaRPr lang="en-US" sz="3400" dirty="0"/>
          </a:p>
        </p:txBody>
      </p:sp>
      <p:sp>
        <p:nvSpPr>
          <p:cNvPr id="9" name="Text 7"/>
          <p:cNvSpPr txBox="1"/>
          <p:nvPr/>
        </p:nvSpPr>
        <p:spPr>
          <a:xfrm>
            <a:off x="4663440" y="1783080"/>
            <a:ext cx="1920240" cy="32004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call validity</a:t>
            </a:r>
            <a:endParaRPr lang="en-US" sz="1200" dirty="0"/>
          </a:p>
        </p:txBody>
      </p:sp>
      <p:sp>
        <p:nvSpPr>
          <p:cNvPr id="10" name="Text 8"/>
          <p:cNvSpPr txBox="1"/>
          <p:nvPr/>
        </p:nvSpPr>
        <p:spPr>
          <a:xfrm>
            <a:off x="6766560" y="1143000"/>
            <a:ext cx="1920240" cy="640080"/>
          </a:xfrm>
          <a:prstGeom prst="rect">
            <a:avLst/>
          </a:prstGeom>
          <a:noFill/>
          <a:ln/>
        </p:spPr>
        <p:txBody>
          <a:bodyPr wrap="square" lIns="0" tIns="0" rIns="0" bIns="0" rtlCol="0" anchor="ctr"/>
          <a:lstStyle/>
          <a:p>
            <a:pPr indent="0" marL="0">
              <a:buNone/>
            </a:pPr>
            <a:r>
              <a:rPr lang="en-US" sz="3400" b="1" dirty="0">
                <a:solidFill>
                  <a:srgbClr val="4A7A00"/>
                </a:solidFill>
                <a:latin typeface="Arial" pitchFamily="34" charset="0"/>
                <a:ea typeface="Arial" pitchFamily="34" charset="-122"/>
                <a:cs typeface="Arial" pitchFamily="34" charset="-120"/>
              </a:rPr>
              <a:t>2 / 2</a:t>
            </a:r>
            <a:endParaRPr lang="en-US" sz="3400" dirty="0"/>
          </a:p>
        </p:txBody>
      </p:sp>
      <p:sp>
        <p:nvSpPr>
          <p:cNvPr id="11" name="Text 9"/>
          <p:cNvSpPr txBox="1"/>
          <p:nvPr/>
        </p:nvSpPr>
        <p:spPr>
          <a:xfrm>
            <a:off x="6766560" y="1783080"/>
            <a:ext cx="1920240" cy="32004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failed calls recovered on retry</a:t>
            </a:r>
            <a:endParaRPr lang="en-US" sz="1200" dirty="0"/>
          </a:p>
        </p:txBody>
      </p:sp>
      <p:sp>
        <p:nvSpPr>
          <p:cNvPr id="12" name="Text 10"/>
          <p:cNvSpPr txBox="1"/>
          <p:nvPr/>
        </p:nvSpPr>
        <p:spPr>
          <a:xfrm>
            <a:off x="457200" y="2148840"/>
            <a:ext cx="8229600" cy="274320"/>
          </a:xfrm>
          <a:prstGeom prst="rect">
            <a:avLst/>
          </a:prstGeom>
          <a:noFill/>
          <a:ln/>
        </p:spPr>
        <p:txBody>
          <a:bodyPr wrap="square" lIns="0" tIns="0" rIns="0" bIns="0" rtlCol="0" anchor="ctr"/>
          <a:lstStyle/>
          <a:p>
            <a:pPr indent="0" marL="0">
              <a:buNone/>
            </a:pPr>
            <a:r>
              <a:rPr lang="en-US" sz="1000" dirty="0">
                <a:solidFill>
                  <a:srgbClr val="5B6577"/>
                </a:solidFill>
                <a:latin typeface="Arial" pitchFamily="34" charset="0"/>
                <a:ea typeface="Arial" pitchFamily="34" charset="-122"/>
                <a:cs typeface="Arial" pitchFamily="34" charset="-120"/>
              </a:rPr>
              <a:t>Nemotron 3.5 Lightning in NeMo Gym, 15 questions, 23 tool calls.</a:t>
            </a:r>
            <a:endParaRPr lang="en-US" sz="1000" dirty="0"/>
          </a:p>
        </p:txBody>
      </p:sp>
      <p:sp>
        <p:nvSpPr>
          <p:cNvPr id="13" name="Shape 11"/>
          <p:cNvSpPr/>
          <p:nvPr/>
        </p:nvSpPr>
        <p:spPr>
          <a:xfrm>
            <a:off x="457200" y="2606040"/>
            <a:ext cx="4023360" cy="2011680"/>
          </a:xfrm>
          <a:prstGeom prst="roundRect">
            <a:avLst>
              <a:gd name="adj" fmla="val 3636"/>
            </a:avLst>
          </a:prstGeom>
          <a:solidFill>
            <a:srgbClr val="F2F4F7"/>
          </a:solidFill>
          <a:ln w="12700">
            <a:solidFill>
              <a:srgbClr val="F2F4F7"/>
            </a:solidFill>
            <a:prstDash val="solid"/>
          </a:ln>
        </p:spPr>
      </p:sp>
      <p:sp>
        <p:nvSpPr>
          <p:cNvPr id="14" name="Text 12"/>
          <p:cNvSpPr txBox="1"/>
          <p:nvPr/>
        </p:nvSpPr>
        <p:spPr>
          <a:xfrm>
            <a:off x="640080" y="2697480"/>
            <a:ext cx="3749040" cy="1828800"/>
          </a:xfrm>
          <a:prstGeom prst="rect">
            <a:avLst/>
          </a:prstGeom>
          <a:noFill/>
          <a:ln/>
        </p:spPr>
        <p:txBody>
          <a:bodyPr wrap="square" lIns="0" tIns="0" rIns="0" bIns="0" rtlCol="0" anchor="t"/>
          <a:lstStyle/>
          <a:p>
            <a:pPr indent="0" marL="0">
              <a:spcAft>
                <a:spcPts val="400"/>
              </a:spcAft>
              <a:buNone/>
            </a:pPr>
            <a:r>
              <a:rPr lang="en-US" sz="1300" b="1" dirty="0">
                <a:solidFill>
                  <a:srgbClr val="1B2333"/>
                </a:solidFill>
                <a:latin typeface="Arial" pitchFamily="34" charset="0"/>
                <a:ea typeface="Arial" pitchFamily="34" charset="-122"/>
                <a:cs typeface="Arial" pitchFamily="34" charset="-120"/>
              </a:rPr>
              <a:t>Built into every call</a:t>
            </a:r>
            <a:endParaRPr lang="en-US" sz="1100" dirty="0"/>
          </a:p>
          <a:p>
            <a:pPr marL="152400" indent="-152400">
              <a:spcAft>
                <a:spcPts val="400"/>
              </a:spcAft>
              <a:buSzPct val="100000"/>
              <a:buChar char="•"/>
            </a:pPr>
            <a:r>
              <a:rPr lang="en-US" sz="1100" dirty="0">
                <a:solidFill>
                  <a:srgbClr val="5B6577"/>
                </a:solidFill>
                <a:latin typeface="Arial" pitchFamily="34" charset="0"/>
                <a:ea typeface="Arial" pitchFamily="34" charset="-122"/>
                <a:cs typeface="Arial" pitchFamily="34" charset="-120"/>
              </a:rPr>
              <a:t>Dates and names normalised; JSON-string arguments repaired</a:t>
            </a:r>
            <a:endParaRPr lang="en-US" sz="1100" dirty="0"/>
          </a:p>
          <a:p>
            <a:pPr marL="152400" indent="-152400">
              <a:spcAft>
                <a:spcPts val="400"/>
              </a:spcAft>
              <a:buSzPct val="100000"/>
              <a:buChar char="•"/>
            </a:pPr>
            <a:r>
              <a:rPr lang="en-US" sz="1100" dirty="0">
                <a:solidFill>
                  <a:srgbClr val="5B6577"/>
                </a:solidFill>
                <a:latin typeface="Arial" pitchFamily="34" charset="0"/>
                <a:ea typeface="Arial" pitchFamily="34" charset="-122"/>
                <a:cs typeface="Arial" pitchFamily="34" charset="-120"/>
              </a:rPr>
              <a:t>Typed errors with a hint the model uses to retry</a:t>
            </a:r>
            <a:endParaRPr lang="en-US" sz="1100" dirty="0"/>
          </a:p>
          <a:p>
            <a:pPr marL="152400" indent="-152400">
              <a:spcAft>
                <a:spcPts val="400"/>
              </a:spcAft>
              <a:buSzPct val="100000"/>
              <a:buChar char="•"/>
            </a:pPr>
            <a:r>
              <a:rPr lang="en-US" sz="1100" dirty="0">
                <a:solidFill>
                  <a:srgbClr val="5B6577"/>
                </a:solidFill>
                <a:latin typeface="Arial" pitchFamily="34" charset="0"/>
                <a:ea typeface="Arial" pitchFamily="34" charset="-122"/>
                <a:cs typeface="Arial" pitchFamily="34" charset="-120"/>
              </a:rPr>
              <a:t>Every figure in the answer checked against tool outputs</a:t>
            </a:r>
            <a:endParaRPr lang="en-US" sz="1100" dirty="0"/>
          </a:p>
          <a:p>
            <a:pPr marL="152400" indent="-152400">
              <a:spcAft>
                <a:spcPts val="400"/>
              </a:spcAft>
              <a:buSzPct val="100000"/>
              <a:buChar char="•"/>
            </a:pPr>
            <a:r>
              <a:rPr lang="en-US" sz="1100" dirty="0">
                <a:solidFill>
                  <a:srgbClr val="5B6577"/>
                </a:solidFill>
                <a:latin typeface="Arial" pitchFamily="34" charset="0"/>
                <a:ea typeface="Arial" pitchFamily="34" charset="-122"/>
                <a:cs typeface="Arial" pitchFamily="34" charset="-120"/>
              </a:rPr>
              <a:t>Provenance: call_id, parameters, timestamp, result hash</a:t>
            </a:r>
            <a:endParaRPr lang="en-US" sz="1100" dirty="0"/>
          </a:p>
        </p:txBody>
      </p:sp>
      <p:sp>
        <p:nvSpPr>
          <p:cNvPr id="15" name="Shape 13"/>
          <p:cNvSpPr/>
          <p:nvPr/>
        </p:nvSpPr>
        <p:spPr>
          <a:xfrm>
            <a:off x="4663440" y="2606040"/>
            <a:ext cx="4023360" cy="2011680"/>
          </a:xfrm>
          <a:prstGeom prst="roundRect">
            <a:avLst>
              <a:gd name="adj" fmla="val 3636"/>
            </a:avLst>
          </a:prstGeom>
          <a:solidFill>
            <a:srgbClr val="F2F4F7"/>
          </a:solidFill>
          <a:ln w="12700">
            <a:solidFill>
              <a:srgbClr val="F2F4F7"/>
            </a:solidFill>
            <a:prstDash val="solid"/>
          </a:ln>
        </p:spPr>
      </p:sp>
      <p:sp>
        <p:nvSpPr>
          <p:cNvPr id="16" name="Text 14"/>
          <p:cNvSpPr txBox="1"/>
          <p:nvPr/>
        </p:nvSpPr>
        <p:spPr>
          <a:xfrm>
            <a:off x="4846320" y="2697480"/>
            <a:ext cx="3749040" cy="1828800"/>
          </a:xfrm>
          <a:prstGeom prst="rect">
            <a:avLst/>
          </a:prstGeom>
          <a:noFill/>
          <a:ln/>
        </p:spPr>
        <p:txBody>
          <a:bodyPr wrap="square" lIns="0" tIns="0" rIns="0" bIns="0" rtlCol="0" anchor="t"/>
          <a:lstStyle/>
          <a:p>
            <a:pPr indent="0" marL="0">
              <a:spcAft>
                <a:spcPts val="400"/>
              </a:spcAft>
              <a:buNone/>
            </a:pPr>
            <a:r>
              <a:rPr lang="en-US" sz="1300" b="1" dirty="0">
                <a:solidFill>
                  <a:srgbClr val="1B2333"/>
                </a:solidFill>
                <a:latin typeface="Arial" pitchFamily="34" charset="0"/>
                <a:ea typeface="Arial" pitchFamily="34" charset="-122"/>
                <a:cs typeface="Arial" pitchFamily="34" charset="-120"/>
              </a:rPr>
              <a:t>What the laptop 4B taught us</a:t>
            </a:r>
            <a:endParaRPr lang="en-US" sz="1100" dirty="0"/>
          </a:p>
          <a:p>
            <a:pPr marL="152400" indent="-152400">
              <a:spcAft>
                <a:spcPts val="400"/>
              </a:spcAft>
              <a:buSzPct val="100000"/>
              <a:buChar char="•"/>
            </a:pPr>
            <a:r>
              <a:rPr lang="en-US" sz="1100" dirty="0">
                <a:solidFill>
                  <a:srgbClr val="5B6577"/>
                </a:solidFill>
                <a:latin typeface="Arial" pitchFamily="34" charset="0"/>
                <a:ea typeface="Arial" pitchFamily="34" charset="-122"/>
                <a:cs typeface="Arial" pitchFamily="34" charset="-120"/>
              </a:rPr>
              <a:t>Ollama's 4k default context silently cut the 11.8k-token prompt; with 32k and a warm-up the 4B scores 0.898 on all 15</a:t>
            </a:r>
            <a:endParaRPr lang="en-US" sz="1100" dirty="0"/>
          </a:p>
          <a:p>
            <a:pPr marL="152400" indent="-152400">
              <a:spcAft>
                <a:spcPts val="400"/>
              </a:spcAft>
              <a:buSzPct val="100000"/>
              <a:buChar char="•"/>
            </a:pPr>
            <a:r>
              <a:rPr lang="en-US" sz="1100" dirty="0">
                <a:solidFill>
                  <a:srgbClr val="5B6577"/>
                </a:solidFill>
                <a:latin typeface="Arial" pitchFamily="34" charset="0"/>
                <a:ea typeface="Arial" pitchFamily="34" charset="-122"/>
                <a:cs typeface="Arial" pitchFamily="34" charset="-120"/>
              </a:rPr>
              <a:t>One give-up: tool calls written as text; now scored 0, not 0.988</a:t>
            </a:r>
            <a:endParaRPr lang="en-US" sz="1100" dirty="0"/>
          </a:p>
          <a:p>
            <a:pPr marL="152400" indent="-152400">
              <a:spcAft>
                <a:spcPts val="400"/>
              </a:spcAft>
              <a:buSzPct val="100000"/>
              <a:buChar char="•"/>
            </a:pPr>
            <a:r>
              <a:rPr lang="en-US" sz="1100" dirty="0">
                <a:solidFill>
                  <a:srgbClr val="5B6577"/>
                </a:solidFill>
                <a:latin typeface="Arial" pitchFamily="34" charset="0"/>
                <a:ea typeface="Arial" pitchFamily="34" charset="-122"/>
                <a:cs typeface="Arial" pitchFamily="34" charset="-120"/>
              </a:rPr>
              <a:t>~89 s per question on an M4, almost all model time: speed is the next gap</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MULTI-AGENT TRACK</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On a laptop 4B, the team ties the single agent and wins the hard questions</a:t>
            </a:r>
            <a:endParaRPr lang="en-US" sz="2600" dirty="0"/>
          </a:p>
        </p:txBody>
      </p:sp>
      <p:sp>
        <p:nvSpPr>
          <p:cNvPr id="4" name="Text 2"/>
          <p:cNvSpPr txBox="1"/>
          <p:nvPr/>
        </p:nvSpPr>
        <p:spPr>
          <a:xfrm>
            <a:off x="457200" y="1097280"/>
            <a:ext cx="1920240" cy="548640"/>
          </a:xfrm>
          <a:prstGeom prst="rect">
            <a:avLst/>
          </a:prstGeom>
          <a:noFill/>
          <a:ln/>
        </p:spPr>
        <p:txBody>
          <a:bodyPr wrap="square" lIns="0" tIns="0" rIns="0" bIns="0" rtlCol="0" anchor="ctr"/>
          <a:lstStyle/>
          <a:p>
            <a:pPr indent="0" marL="0">
              <a:buNone/>
            </a:pPr>
            <a:r>
              <a:rPr lang="en-US" sz="3000" b="1" dirty="0">
                <a:solidFill>
                  <a:srgbClr val="4A7A00"/>
                </a:solidFill>
                <a:latin typeface="Arial" pitchFamily="34" charset="0"/>
                <a:ea typeface="Arial" pitchFamily="34" charset="-122"/>
                <a:cs typeface="Arial" pitchFamily="34" charset="-120"/>
              </a:rPr>
              <a:t>0.892</a:t>
            </a:r>
            <a:endParaRPr lang="en-US" sz="3000" dirty="0"/>
          </a:p>
        </p:txBody>
      </p:sp>
      <p:sp>
        <p:nvSpPr>
          <p:cNvPr id="5" name="Text 3"/>
          <p:cNvSpPr txBox="1"/>
          <p:nvPr/>
        </p:nvSpPr>
        <p:spPr>
          <a:xfrm>
            <a:off x="457200" y="1645920"/>
            <a:ext cx="1920240" cy="2743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team, mean reward</a:t>
            </a:r>
            <a:endParaRPr lang="en-US" sz="1200" dirty="0"/>
          </a:p>
        </p:txBody>
      </p:sp>
      <p:sp>
        <p:nvSpPr>
          <p:cNvPr id="6" name="Text 4"/>
          <p:cNvSpPr txBox="1"/>
          <p:nvPr/>
        </p:nvSpPr>
        <p:spPr>
          <a:xfrm>
            <a:off x="2560320" y="1097280"/>
            <a:ext cx="1920240" cy="548640"/>
          </a:xfrm>
          <a:prstGeom prst="rect">
            <a:avLst/>
          </a:prstGeom>
          <a:noFill/>
          <a:ln/>
        </p:spPr>
        <p:txBody>
          <a:bodyPr wrap="square" lIns="0" tIns="0" rIns="0" bIns="0" rtlCol="0" anchor="ctr"/>
          <a:lstStyle/>
          <a:p>
            <a:pPr indent="0" marL="0">
              <a:buNone/>
            </a:pPr>
            <a:r>
              <a:rPr lang="en-US" sz="3000" b="1" dirty="0">
                <a:solidFill>
                  <a:srgbClr val="4A7A00"/>
                </a:solidFill>
                <a:latin typeface="Arial" pitchFamily="34" charset="0"/>
                <a:ea typeface="Arial" pitchFamily="34" charset="-122"/>
                <a:cs typeface="Arial" pitchFamily="34" charset="-120"/>
              </a:rPr>
              <a:t>0.898</a:t>
            </a:r>
            <a:endParaRPr lang="en-US" sz="3000" dirty="0"/>
          </a:p>
        </p:txBody>
      </p:sp>
      <p:sp>
        <p:nvSpPr>
          <p:cNvPr id="7" name="Text 5"/>
          <p:cNvSpPr txBox="1"/>
          <p:nvPr/>
        </p:nvSpPr>
        <p:spPr>
          <a:xfrm>
            <a:off x="2560320" y="1645920"/>
            <a:ext cx="1920240" cy="2743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single agent</a:t>
            </a:r>
            <a:endParaRPr lang="en-US" sz="1200" dirty="0"/>
          </a:p>
        </p:txBody>
      </p:sp>
      <p:sp>
        <p:nvSpPr>
          <p:cNvPr id="8" name="Text 6"/>
          <p:cNvSpPr txBox="1"/>
          <p:nvPr/>
        </p:nvSpPr>
        <p:spPr>
          <a:xfrm>
            <a:off x="4663440" y="1097280"/>
            <a:ext cx="1920240" cy="548640"/>
          </a:xfrm>
          <a:prstGeom prst="rect">
            <a:avLst/>
          </a:prstGeom>
          <a:noFill/>
          <a:ln/>
        </p:spPr>
        <p:txBody>
          <a:bodyPr wrap="square" lIns="0" tIns="0" rIns="0" bIns="0" rtlCol="0" anchor="ctr"/>
          <a:lstStyle/>
          <a:p>
            <a:pPr indent="0" marL="0">
              <a:buNone/>
            </a:pPr>
            <a:r>
              <a:rPr lang="en-US" sz="3000" b="1" dirty="0">
                <a:solidFill>
                  <a:srgbClr val="4A7A00"/>
                </a:solidFill>
                <a:latin typeface="Arial" pitchFamily="34" charset="0"/>
                <a:ea typeface="Arial" pitchFamily="34" charset="-122"/>
                <a:cs typeface="Arial" pitchFamily="34" charset="-120"/>
              </a:rPr>
              <a:t>10 / 15</a:t>
            </a:r>
            <a:endParaRPr lang="en-US" sz="3000" dirty="0"/>
          </a:p>
        </p:txBody>
      </p:sp>
      <p:sp>
        <p:nvSpPr>
          <p:cNvPr id="9" name="Text 7"/>
          <p:cNvSpPr txBox="1"/>
          <p:nvPr/>
        </p:nvSpPr>
        <p:spPr>
          <a:xfrm>
            <a:off x="4663440" y="1645920"/>
            <a:ext cx="1920240" cy="2743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fully right, both</a:t>
            </a:r>
            <a:endParaRPr lang="en-US" sz="1200" dirty="0"/>
          </a:p>
        </p:txBody>
      </p:sp>
      <p:sp>
        <p:nvSpPr>
          <p:cNvPr id="10" name="Text 8"/>
          <p:cNvSpPr txBox="1"/>
          <p:nvPr/>
        </p:nvSpPr>
        <p:spPr>
          <a:xfrm>
            <a:off x="6766560" y="1097280"/>
            <a:ext cx="1920240" cy="548640"/>
          </a:xfrm>
          <a:prstGeom prst="rect">
            <a:avLst/>
          </a:prstGeom>
          <a:noFill/>
          <a:ln/>
        </p:spPr>
        <p:txBody>
          <a:bodyPr wrap="square" lIns="0" tIns="0" rIns="0" bIns="0" rtlCol="0" anchor="ctr"/>
          <a:lstStyle/>
          <a:p>
            <a:pPr indent="0" marL="0">
              <a:buNone/>
            </a:pPr>
            <a:r>
              <a:rPr lang="en-US" sz="3000" b="1" dirty="0">
                <a:solidFill>
                  <a:srgbClr val="C8414F"/>
                </a:solidFill>
                <a:latin typeface="Arial" pitchFamily="34" charset="0"/>
                <a:ea typeface="Arial" pitchFamily="34" charset="-122"/>
                <a:cs typeface="Arial" pitchFamily="34" charset="-120"/>
              </a:rPr>
              <a:t>192 s</a:t>
            </a:r>
            <a:endParaRPr lang="en-US" sz="3000" dirty="0"/>
          </a:p>
        </p:txBody>
      </p:sp>
      <p:sp>
        <p:nvSpPr>
          <p:cNvPr id="11" name="Text 9"/>
          <p:cNvSpPr txBox="1"/>
          <p:nvPr/>
        </p:nvSpPr>
        <p:spPr>
          <a:xfrm>
            <a:off x="6766560" y="1645920"/>
            <a:ext cx="1920240" cy="274320"/>
          </a:xfrm>
          <a:prstGeom prst="rect">
            <a:avLst/>
          </a:prstGeom>
          <a:noFill/>
          <a:ln/>
        </p:spPr>
        <p:txBody>
          <a:bodyPr wrap="square" lIns="0" tIns="0" rIns="0" bIns="0" rtlCol="0" anchor="ctr"/>
          <a:lstStyle/>
          <a:p>
            <a:pPr indent="0" marL="0">
              <a:buNone/>
            </a:pPr>
            <a:r>
              <a:rPr lang="en-US" sz="1200" dirty="0">
                <a:solidFill>
                  <a:srgbClr val="1B2333"/>
                </a:solidFill>
                <a:latin typeface="Arial" pitchFamily="34" charset="0"/>
                <a:ea typeface="Arial" pitchFamily="34" charset="-122"/>
                <a:cs typeface="Arial" pitchFamily="34" charset="-120"/>
              </a:rPr>
              <a:t>vs 89 s per question</a:t>
            </a:r>
            <a:endParaRPr lang="en-US" sz="1200" dirty="0"/>
          </a:p>
        </p:txBody>
      </p:sp>
      <p:sp>
        <p:nvSpPr>
          <p:cNvPr id="12" name="Shape 10"/>
          <p:cNvSpPr/>
          <p:nvPr/>
        </p:nvSpPr>
        <p:spPr>
          <a:xfrm>
            <a:off x="457200" y="2103120"/>
            <a:ext cx="4023360" cy="1965960"/>
          </a:xfrm>
          <a:prstGeom prst="roundRect">
            <a:avLst>
              <a:gd name="adj" fmla="val 3721"/>
            </a:avLst>
          </a:prstGeom>
          <a:solidFill>
            <a:srgbClr val="E8F3D2"/>
          </a:solidFill>
          <a:ln w="12700">
            <a:solidFill>
              <a:srgbClr val="E8F3D2"/>
            </a:solidFill>
            <a:prstDash val="solid"/>
          </a:ln>
        </p:spPr>
      </p:sp>
      <p:sp>
        <p:nvSpPr>
          <p:cNvPr id="13" name="Text 11"/>
          <p:cNvSpPr txBox="1"/>
          <p:nvPr/>
        </p:nvSpPr>
        <p:spPr>
          <a:xfrm>
            <a:off x="640080" y="2194560"/>
            <a:ext cx="3657600" cy="1783080"/>
          </a:xfrm>
          <a:prstGeom prst="rect">
            <a:avLst/>
          </a:prstGeom>
          <a:noFill/>
          <a:ln/>
        </p:spPr>
        <p:txBody>
          <a:bodyPr wrap="square" lIns="0" tIns="0" rIns="0" bIns="0" rtlCol="0" anchor="t"/>
          <a:lstStyle/>
          <a:p>
            <a:pPr indent="0" marL="0">
              <a:spcAft>
                <a:spcPts val="400"/>
              </a:spcAft>
              <a:buNone/>
            </a:pPr>
            <a:r>
              <a:rPr lang="en-US" sz="1300" b="1" dirty="0">
                <a:solidFill>
                  <a:srgbClr val="4A7A00"/>
                </a:solidFill>
                <a:latin typeface="Arial" pitchFamily="34" charset="0"/>
                <a:ea typeface="Arial" pitchFamily="34" charset="-122"/>
                <a:cs typeface="Arial" pitchFamily="34" charset="-120"/>
              </a:rPr>
              <a:t>Team won the analytical questions</a:t>
            </a:r>
            <a:endParaRPr lang="en-US" sz="1200" dirty="0"/>
          </a:p>
          <a:p>
            <a:pPr marL="152400" indent="-152400">
              <a:spcAft>
                <a:spcPts val="400"/>
              </a:spcAft>
              <a:buSzPct val="100000"/>
              <a:buChar char="•"/>
            </a:pPr>
            <a:r>
              <a:rPr lang="en-US" sz="1200" dirty="0">
                <a:solidFill>
                  <a:srgbClr val="1B2333"/>
                </a:solidFill>
                <a:latin typeface="Arial" pitchFamily="34" charset="0"/>
                <a:ea typeface="Arial" pitchFamily="34" charset="-122"/>
                <a:cs typeface="Arial" pitchFamily="34" charset="-120"/>
              </a:rPr>
              <a:t>Reconciliation: 1.00 vs 0.59</a:t>
            </a:r>
            <a:endParaRPr lang="en-US" sz="1200" dirty="0"/>
          </a:p>
          <a:p>
            <a:pPr marL="152400" indent="-152400">
              <a:spcAft>
                <a:spcPts val="400"/>
              </a:spcAft>
              <a:buSzPct val="100000"/>
              <a:buChar char="•"/>
            </a:pPr>
            <a:r>
              <a:rPr lang="en-US" sz="1200" dirty="0">
                <a:solidFill>
                  <a:srgbClr val="1B2333"/>
                </a:solidFill>
                <a:latin typeface="Arial" pitchFamily="34" charset="0"/>
                <a:ea typeface="Arial" pitchFamily="34" charset="-122"/>
                <a:cs typeface="Arial" pitchFamily="34" charset="-120"/>
              </a:rPr>
              <a:t>Major drivers: 0.86 vs 0.74</a:t>
            </a:r>
            <a:endParaRPr lang="en-US" sz="1200" dirty="0"/>
          </a:p>
          <a:p>
            <a:pPr marL="152400" indent="-152400">
              <a:spcAft>
                <a:spcPts val="400"/>
              </a:spcAft>
              <a:buSzPct val="100000"/>
              <a:buChar char="•"/>
            </a:pPr>
            <a:r>
              <a:rPr lang="en-US" sz="1200" dirty="0">
                <a:solidFill>
                  <a:srgbClr val="1B2333"/>
                </a:solidFill>
                <a:latin typeface="Arial" pitchFamily="34" charset="0"/>
                <a:ea typeface="Arial" pitchFamily="34" charset="-122"/>
                <a:cs typeface="Arial" pitchFamily="34" charset="-120"/>
              </a:rPr>
              <a:t>What happened in CRE: 0.82 vs 0.72</a:t>
            </a:r>
            <a:endParaRPr lang="en-US" sz="1200" dirty="0"/>
          </a:p>
          <a:p>
            <a:pPr marL="152400" indent="-152400">
              <a:spcAft>
                <a:spcPts val="400"/>
              </a:spcAft>
              <a:buSzPct val="100000"/>
              <a:buChar char="•"/>
            </a:pPr>
            <a:r>
              <a:rPr lang="en-US" sz="1200" dirty="0">
                <a:solidFill>
                  <a:srgbClr val="1B2333"/>
                </a:solidFill>
                <a:latin typeface="Arial" pitchFamily="34" charset="0"/>
                <a:ea typeface="Arial" pitchFamily="34" charset="-122"/>
                <a:cs typeface="Arial" pitchFamily="34" charset="-120"/>
              </a:rPr>
              <a:t>Specialist prompts 3.5–5k tokens and 11–15 tools vs ~11.8k and 33</a:t>
            </a:r>
            <a:endParaRPr lang="en-US" sz="1200" dirty="0"/>
          </a:p>
        </p:txBody>
      </p:sp>
      <p:sp>
        <p:nvSpPr>
          <p:cNvPr id="14" name="Shape 12"/>
          <p:cNvSpPr/>
          <p:nvPr/>
        </p:nvSpPr>
        <p:spPr>
          <a:xfrm>
            <a:off x="4663440" y="2103120"/>
            <a:ext cx="4023360" cy="1965960"/>
          </a:xfrm>
          <a:prstGeom prst="roundRect">
            <a:avLst>
              <a:gd name="adj" fmla="val 3721"/>
            </a:avLst>
          </a:prstGeom>
          <a:solidFill>
            <a:srgbClr val="F2F4F7"/>
          </a:solidFill>
          <a:ln w="12700">
            <a:solidFill>
              <a:srgbClr val="F2F4F7"/>
            </a:solidFill>
            <a:prstDash val="solid"/>
          </a:ln>
        </p:spPr>
      </p:sp>
      <p:sp>
        <p:nvSpPr>
          <p:cNvPr id="15" name="Text 13"/>
          <p:cNvSpPr txBox="1"/>
          <p:nvPr/>
        </p:nvSpPr>
        <p:spPr>
          <a:xfrm>
            <a:off x="4846320" y="2194560"/>
            <a:ext cx="3657600" cy="1783080"/>
          </a:xfrm>
          <a:prstGeom prst="rect">
            <a:avLst/>
          </a:prstGeom>
          <a:noFill/>
          <a:ln/>
        </p:spPr>
        <p:txBody>
          <a:bodyPr wrap="square" lIns="0" tIns="0" rIns="0" bIns="0" rtlCol="0" anchor="t"/>
          <a:lstStyle/>
          <a:p>
            <a:pPr indent="0" marL="0">
              <a:spcAft>
                <a:spcPts val="400"/>
              </a:spcAft>
              <a:buNone/>
            </a:pPr>
            <a:r>
              <a:rPr lang="en-US" sz="1300" b="1" dirty="0">
                <a:solidFill>
                  <a:srgbClr val="1B2333"/>
                </a:solidFill>
                <a:latin typeface="Arial" pitchFamily="34" charset="0"/>
                <a:ea typeface="Arial" pitchFamily="34" charset="-122"/>
                <a:cs typeface="Arial" pitchFamily="34" charset="-120"/>
              </a:rPr>
              <a:t>Team lost on a long hand-off</a:t>
            </a:r>
            <a:endParaRPr lang="en-US" sz="1200" dirty="0"/>
          </a:p>
          <a:p>
            <a:pPr marL="152400" indent="-152400">
              <a:spcAft>
                <a:spcPts val="400"/>
              </a:spcAft>
              <a:buSzPct val="100000"/>
              <a:buChar char="•"/>
            </a:pPr>
            <a:r>
              <a:rPr lang="en-US" sz="1200" dirty="0">
                <a:solidFill>
                  <a:srgbClr val="5B6577"/>
                </a:solidFill>
                <a:latin typeface="Arial" pitchFamily="34" charset="0"/>
                <a:ea typeface="Arial" pitchFamily="34" charset="-122"/>
                <a:cs typeface="Arial" pitchFamily="34" charset="-120"/>
              </a:rPr>
              <a:t>Top borrowers: 0.35 vs 1.00 (853 s, the slowest delegation)</a:t>
            </a:r>
            <a:endParaRPr lang="en-US" sz="1200" dirty="0"/>
          </a:p>
          <a:p>
            <a:pPr marL="152400" indent="-152400">
              <a:spcAft>
                <a:spcPts val="400"/>
              </a:spcAft>
              <a:buSzPct val="100000"/>
              <a:buChar char="•"/>
            </a:pPr>
            <a:r>
              <a:rPr lang="en-US" sz="1200" dirty="0">
                <a:solidFill>
                  <a:srgbClr val="5B6577"/>
                </a:solidFill>
                <a:latin typeface="Arial" pitchFamily="34" charset="0"/>
                <a:ea typeface="Arial" pitchFamily="34" charset="-122"/>
                <a:cs typeface="Arial" pitchFamily="34" charset="-120"/>
              </a:rPr>
              <a:t>Model change: 0.90 vs 1.00</a:t>
            </a:r>
            <a:endParaRPr lang="en-US" sz="1200" dirty="0"/>
          </a:p>
          <a:p>
            <a:pPr marL="152400" indent="-152400">
              <a:spcAft>
                <a:spcPts val="400"/>
              </a:spcAft>
              <a:buSzPct val="100000"/>
              <a:buChar char="•"/>
            </a:pPr>
            <a:r>
              <a:rPr lang="en-US" sz="1200" dirty="0">
                <a:solidFill>
                  <a:srgbClr val="5B6577"/>
                </a:solidFill>
                <a:latin typeface="Arial" pitchFamily="34" charset="0"/>
                <a:ea typeface="Arial" pitchFamily="34" charset="-122"/>
                <a:cs typeface="Arial" pitchFamily="34" charset="-120"/>
              </a:rPr>
              <a:t>Each delegation is another local model call: about 2× the time on a laptop</a:t>
            </a:r>
            <a:endParaRPr lang="en-US" sz="1200" dirty="0"/>
          </a:p>
        </p:txBody>
      </p:sp>
      <p:sp>
        <p:nvSpPr>
          <p:cNvPr id="16" name="Text 14"/>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100" i="1" dirty="0">
                <a:solidFill>
                  <a:srgbClr val="5B6577"/>
                </a:solidFill>
                <a:latin typeface="Arial" pitchFamily="34" charset="0"/>
                <a:ea typeface="Arial" pitchFamily="34" charset="-122"/>
                <a:cs typeface="Arial" pitchFamily="34" charset="-120"/>
              </a:rPr>
              <a:t>Next: route simple lookups to one specialist directly, keep the team for drivers, CRE and reconciliation, and run it on vLLM instead of a laptop.</a:t>
            </a:r>
            <a:endParaRPr lang="en-US" sz="1100" dirty="0"/>
          </a:p>
        </p:txBody>
      </p:sp>
      <p:sp>
        <p:nvSpPr>
          <p:cNvPr id="17" name="Text 15"/>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Same model (Nemotron 3 Nano 4B, 32k, Ollama, M4 16 GB), same 15 questions and verifier. Team score credits specialists' tool calls from the call log.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NEMO GYM: REFEREE AND COACH</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One Gym environment scores every model, then turns good runs into training data</a:t>
            </a:r>
            <a:endParaRPr lang="en-US" sz="2600" dirty="0"/>
          </a:p>
        </p:txBody>
      </p:sp>
      <p:sp>
        <p:nvSpPr>
          <p:cNvPr id="4" name="Text 2"/>
          <p:cNvSpPr txBox="1"/>
          <p:nvPr/>
        </p:nvSpPr>
        <p:spPr>
          <a:xfrm>
            <a:off x="457200" y="1097280"/>
            <a:ext cx="8229600" cy="256032"/>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REFEREE  </a:t>
            </a:r>
            <a:pPr indent="0" marL="0">
              <a:buNone/>
            </a:pPr>
            <a:r>
              <a:rPr lang="en-US" sz="1100" dirty="0">
                <a:solidFill>
                  <a:srgbClr val="5B6577"/>
                </a:solidFill>
                <a:latin typeface="Arial" pitchFamily="34" charset="0"/>
                <a:ea typeface="Arial" pitchFamily="34" charset="-122"/>
                <a:cs typeface="Arial" pitchFamily="34" charset="-120"/>
              </a:rPr>
              <a:t>the same test for every model</a:t>
            </a:r>
            <a:endParaRPr lang="en-US" sz="1100" dirty="0"/>
          </a:p>
        </p:txBody>
      </p:sp>
      <p:sp>
        <p:nvSpPr>
          <p:cNvPr id="5" name="Shape 3"/>
          <p:cNvSpPr/>
          <p:nvPr/>
        </p:nvSpPr>
        <p:spPr>
          <a:xfrm>
            <a:off x="457200" y="1417320"/>
            <a:ext cx="1828800" cy="777240"/>
          </a:xfrm>
          <a:prstGeom prst="roundRect">
            <a:avLst>
              <a:gd name="adj" fmla="val 7059"/>
            </a:avLst>
          </a:prstGeom>
          <a:solidFill>
            <a:srgbClr val="F2F4F7"/>
          </a:solidFill>
          <a:ln w="12700">
            <a:solidFill>
              <a:srgbClr val="F2F4F7"/>
            </a:solidFill>
            <a:prstDash val="solid"/>
          </a:ln>
        </p:spPr>
      </p:sp>
      <p:sp>
        <p:nvSpPr>
          <p:cNvPr id="6" name="Text 4"/>
          <p:cNvSpPr txBox="1"/>
          <p:nvPr/>
        </p:nvSpPr>
        <p:spPr>
          <a:xfrm>
            <a:off x="548640" y="1417320"/>
            <a:ext cx="1645920" cy="777240"/>
          </a:xfrm>
          <a:prstGeom prst="rect">
            <a:avLst/>
          </a:prstGeom>
          <a:noFill/>
          <a:ln/>
        </p:spPr>
        <p:txBody>
          <a:bodyPr wrap="square" lIns="0" tIns="0" rIns="0" bIns="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Model under test</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any endpoint: vLLM, Ollama, NVIDIA API</a:t>
            </a:r>
            <a:endParaRPr lang="en-US" sz="1100" dirty="0"/>
          </a:p>
        </p:txBody>
      </p:sp>
      <p:sp>
        <p:nvSpPr>
          <p:cNvPr id="7" name="Shape 5"/>
          <p:cNvSpPr/>
          <p:nvPr/>
        </p:nvSpPr>
        <p:spPr>
          <a:xfrm>
            <a:off x="2304288" y="1805940"/>
            <a:ext cx="265176" cy="0"/>
          </a:xfrm>
          <a:prstGeom prst="line">
            <a:avLst/>
          </a:prstGeom>
          <a:noFill/>
          <a:ln w="19050">
            <a:solidFill>
              <a:srgbClr val="9AA4B2"/>
            </a:solidFill>
            <a:prstDash val="solid"/>
            <a:tailEnd type="triangle"/>
          </a:ln>
        </p:spPr>
      </p:sp>
      <p:sp>
        <p:nvSpPr>
          <p:cNvPr id="8" name="Shape 6"/>
          <p:cNvSpPr/>
          <p:nvPr/>
        </p:nvSpPr>
        <p:spPr>
          <a:xfrm>
            <a:off x="2587752" y="1417320"/>
            <a:ext cx="1828800" cy="777240"/>
          </a:xfrm>
          <a:prstGeom prst="roundRect">
            <a:avLst>
              <a:gd name="adj" fmla="val 7059"/>
            </a:avLst>
          </a:prstGeom>
          <a:solidFill>
            <a:srgbClr val="F2F4F7"/>
          </a:solidFill>
          <a:ln w="12700">
            <a:solidFill>
              <a:srgbClr val="F2F4F7"/>
            </a:solidFill>
            <a:prstDash val="solid"/>
          </a:ln>
        </p:spPr>
      </p:sp>
      <p:sp>
        <p:nvSpPr>
          <p:cNvPr id="9" name="Text 7"/>
          <p:cNvSpPr txBox="1"/>
          <p:nvPr/>
        </p:nvSpPr>
        <p:spPr>
          <a:xfrm>
            <a:off x="2679192" y="1417320"/>
            <a:ext cx="1645920" cy="777240"/>
          </a:xfrm>
          <a:prstGeom prst="rect">
            <a:avLst/>
          </a:prstGeom>
          <a:noFill/>
          <a:ln/>
        </p:spPr>
        <p:txBody>
          <a:bodyPr wrap="square" lIns="0" tIns="0" rIns="0" bIns="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RiskLens environment</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33 tools as POST endpoints, same seeded bank</a:t>
            </a:r>
            <a:endParaRPr lang="en-US" sz="1100" dirty="0"/>
          </a:p>
        </p:txBody>
      </p:sp>
      <p:sp>
        <p:nvSpPr>
          <p:cNvPr id="10" name="Shape 8"/>
          <p:cNvSpPr/>
          <p:nvPr/>
        </p:nvSpPr>
        <p:spPr>
          <a:xfrm>
            <a:off x="4434840" y="1805940"/>
            <a:ext cx="265176" cy="0"/>
          </a:xfrm>
          <a:prstGeom prst="line">
            <a:avLst/>
          </a:prstGeom>
          <a:noFill/>
          <a:ln w="19050">
            <a:solidFill>
              <a:srgbClr val="9AA4B2"/>
            </a:solidFill>
            <a:prstDash val="solid"/>
            <a:tailEnd type="triangle"/>
          </a:ln>
        </p:spPr>
      </p:sp>
      <p:sp>
        <p:nvSpPr>
          <p:cNvPr id="11" name="Shape 9"/>
          <p:cNvSpPr/>
          <p:nvPr/>
        </p:nvSpPr>
        <p:spPr>
          <a:xfrm>
            <a:off x="4718304" y="1417320"/>
            <a:ext cx="1828800" cy="777240"/>
          </a:xfrm>
          <a:prstGeom prst="roundRect">
            <a:avLst>
              <a:gd name="adj" fmla="val 7059"/>
            </a:avLst>
          </a:prstGeom>
          <a:solidFill>
            <a:srgbClr val="0E1726"/>
          </a:solidFill>
          <a:ln w="12700">
            <a:solidFill>
              <a:srgbClr val="0E1726"/>
            </a:solidFill>
            <a:prstDash val="solid"/>
          </a:ln>
        </p:spPr>
      </p:sp>
      <p:sp>
        <p:nvSpPr>
          <p:cNvPr id="12" name="Text 10"/>
          <p:cNvSpPr txBox="1"/>
          <p:nvPr/>
        </p:nvSpPr>
        <p:spPr>
          <a:xfrm>
            <a:off x="4809744" y="1417320"/>
            <a:ext cx="164592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/verify</a:t>
            </a:r>
            <a:endParaRPr lang="en-US" sz="1100" dirty="0"/>
          </a:p>
          <a:p>
            <a:pPr algn="ctr" indent="0" marL="0">
              <a:buNone/>
            </a:pPr>
            <a:r>
              <a:rPr lang="en-US" sz="900" dirty="0">
                <a:solidFill>
                  <a:srgbClr val="C9D2DE"/>
                </a:solidFill>
                <a:latin typeface="Arial" pitchFamily="34" charset="0"/>
                <a:ea typeface="Arial" pitchFamily="34" charset="-122"/>
                <a:cs typeface="Arial" pitchFamily="34" charset="-120"/>
              </a:rPr>
              <a:t>checks the answer against hidden ground truth</a:t>
            </a:r>
            <a:endParaRPr lang="en-US" sz="1100" dirty="0"/>
          </a:p>
        </p:txBody>
      </p:sp>
      <p:sp>
        <p:nvSpPr>
          <p:cNvPr id="13" name="Shape 11"/>
          <p:cNvSpPr/>
          <p:nvPr/>
        </p:nvSpPr>
        <p:spPr>
          <a:xfrm>
            <a:off x="6565392" y="1805940"/>
            <a:ext cx="265176" cy="0"/>
          </a:xfrm>
          <a:prstGeom prst="line">
            <a:avLst/>
          </a:prstGeom>
          <a:noFill/>
          <a:ln w="19050">
            <a:solidFill>
              <a:srgbClr val="9AA4B2"/>
            </a:solidFill>
            <a:prstDash val="solid"/>
            <a:tailEnd type="triangle"/>
          </a:ln>
        </p:spPr>
      </p:sp>
      <p:sp>
        <p:nvSpPr>
          <p:cNvPr id="14" name="Shape 12"/>
          <p:cNvSpPr/>
          <p:nvPr/>
        </p:nvSpPr>
        <p:spPr>
          <a:xfrm>
            <a:off x="6848856" y="1417320"/>
            <a:ext cx="1828800" cy="777240"/>
          </a:xfrm>
          <a:prstGeom prst="roundRect">
            <a:avLst>
              <a:gd name="adj" fmla="val 7059"/>
            </a:avLst>
          </a:prstGeom>
          <a:solidFill>
            <a:srgbClr val="E8F3D2"/>
          </a:solidFill>
          <a:ln w="12700">
            <a:solidFill>
              <a:srgbClr val="E8F3D2"/>
            </a:solidFill>
            <a:prstDash val="solid"/>
          </a:ln>
        </p:spPr>
      </p:sp>
      <p:sp>
        <p:nvSpPr>
          <p:cNvPr id="15" name="Text 13"/>
          <p:cNvSpPr txBox="1"/>
          <p:nvPr/>
        </p:nvSpPr>
        <p:spPr>
          <a:xfrm>
            <a:off x="6940296" y="1417320"/>
            <a:ext cx="1645920" cy="777240"/>
          </a:xfrm>
          <a:prstGeom prst="rect">
            <a:avLst/>
          </a:prstGeom>
          <a:noFill/>
          <a:ln/>
        </p:spPr>
        <p:txBody>
          <a:bodyPr wrap="square" lIns="0" tIns="0" rIns="0" bIns="0" rtlCol="0" anchor="ctr"/>
          <a:lstStyle/>
          <a:p>
            <a:pPr algn="ctr" indent="0" marL="0">
              <a:buNone/>
            </a:pPr>
            <a:r>
              <a:rPr lang="en-US" sz="1100" b="1" dirty="0">
                <a:solidFill>
                  <a:srgbClr val="4A7A00"/>
                </a:solidFill>
                <a:latin typeface="Arial" pitchFamily="34" charset="0"/>
                <a:ea typeface="Arial" pitchFamily="34" charset="-122"/>
                <a:cs typeface="Arial" pitchFamily="34" charset="-120"/>
              </a:rPr>
              <a:t>Reward 0–1</a:t>
            </a:r>
            <a:endParaRPr lang="en-US" sz="1100" dirty="0"/>
          </a:p>
          <a:p>
            <a:pPr algn="ctr" indent="0" marL="0">
              <a:buNone/>
            </a:pPr>
            <a:r>
              <a:rPr lang="en-US" sz="900" dirty="0">
                <a:solidFill>
                  <a:srgbClr val="1B2333"/>
                </a:solidFill>
                <a:latin typeface="Arial" pitchFamily="34" charset="0"/>
                <a:ea typeface="Arial" pitchFamily="34" charset="-122"/>
                <a:cs typeface="Arial" pitchFamily="34" charset="-120"/>
              </a:rPr>
              <a:t>correct · grounded · right tool · valid call · efficient</a:t>
            </a:r>
            <a:endParaRPr lang="en-US" sz="1100" dirty="0"/>
          </a:p>
        </p:txBody>
      </p:sp>
      <p:sp>
        <p:nvSpPr>
          <p:cNvPr id="16" name="Text 14"/>
          <p:cNvSpPr txBox="1"/>
          <p:nvPr/>
        </p:nvSpPr>
        <p:spPr>
          <a:xfrm>
            <a:off x="457200" y="2286000"/>
            <a:ext cx="8229600" cy="256032"/>
          </a:xfrm>
          <a:prstGeom prst="rect">
            <a:avLst/>
          </a:prstGeom>
          <a:noFill/>
          <a:ln/>
        </p:spPr>
        <p:txBody>
          <a:bodyPr wrap="square" lIns="0" tIns="0" rIns="0" bIns="0" rtlCol="0" anchor="ctr"/>
          <a:lstStyle/>
          <a:p>
            <a:pPr indent="0" marL="0">
              <a:buNone/>
            </a:pPr>
            <a:r>
              <a:rPr lang="en-US" sz="1100" b="1" dirty="0">
                <a:solidFill>
                  <a:srgbClr val="1B2333"/>
                </a:solidFill>
                <a:latin typeface="Arial" pitchFamily="34" charset="0"/>
                <a:ea typeface="Arial" pitchFamily="34" charset="-122"/>
                <a:cs typeface="Arial" pitchFamily="34" charset="-120"/>
              </a:rPr>
              <a:t>Same verifier, all 15 questions:  </a:t>
            </a:r>
            <a:pPr indent="0" marL="0">
              <a:buNone/>
            </a:pPr>
            <a:r>
              <a:rPr lang="en-US" sz="1100" dirty="0">
                <a:solidFill>
                  <a:srgbClr val="5B6577"/>
                </a:solidFill>
                <a:latin typeface="Arial" pitchFamily="34" charset="0"/>
                <a:ea typeface="Arial" pitchFamily="34" charset="-122"/>
                <a:cs typeface="Arial" pitchFamily="34" charset="-120"/>
              </a:rPr>
              <a:t>frontier 0.997 · Nemotron Lightning 0.977 (in Gym) · 4B laptop 0.898 single / 0.892 team (demo app)</a:t>
            </a:r>
            <a:endParaRPr lang="en-US" sz="1100" dirty="0"/>
          </a:p>
        </p:txBody>
      </p:sp>
      <p:sp>
        <p:nvSpPr>
          <p:cNvPr id="17" name="Text 15"/>
          <p:cNvSpPr txBox="1"/>
          <p:nvPr/>
        </p:nvSpPr>
        <p:spPr>
          <a:xfrm>
            <a:off x="457200" y="2743200"/>
            <a:ext cx="8229600" cy="256032"/>
          </a:xfrm>
          <a:prstGeom prst="rect">
            <a:avLst/>
          </a:prstGeom>
          <a:noFill/>
          <a:ln/>
        </p:spPr>
        <p:txBody>
          <a:bodyPr wrap="square" lIns="0" tIns="0" rIns="0" bIns="0" rtlCol="0" anchor="ctr"/>
          <a:lstStyle/>
          <a:p>
            <a:pPr indent="0" marL="0">
              <a:buNone/>
            </a:pPr>
            <a:r>
              <a:rPr lang="en-US" sz="1100" b="1" dirty="0">
                <a:solidFill>
                  <a:srgbClr val="4A7A00"/>
                </a:solidFill>
                <a:latin typeface="Arial" pitchFamily="34" charset="0"/>
                <a:ea typeface="Arial" pitchFamily="34" charset="-122"/>
                <a:cs typeface="Arial" pitchFamily="34" charset="-120"/>
              </a:rPr>
              <a:t>COACH  </a:t>
            </a:r>
            <a:pPr indent="0" marL="0">
              <a:buNone/>
            </a:pPr>
            <a:r>
              <a:rPr lang="en-US" sz="1100" dirty="0">
                <a:solidFill>
                  <a:srgbClr val="5B6577"/>
                </a:solidFill>
                <a:latin typeface="Arial" pitchFamily="34" charset="0"/>
                <a:ea typeface="Arial" pitchFamily="34" charset="-122"/>
                <a:cs typeface="Arial" pitchFamily="34" charset="-120"/>
              </a:rPr>
              <a:t>rewards decide what the model learns from</a:t>
            </a:r>
            <a:endParaRPr lang="en-US" sz="1100" dirty="0"/>
          </a:p>
        </p:txBody>
      </p:sp>
      <p:sp>
        <p:nvSpPr>
          <p:cNvPr id="18" name="Shape 16"/>
          <p:cNvSpPr/>
          <p:nvPr/>
        </p:nvSpPr>
        <p:spPr>
          <a:xfrm>
            <a:off x="457200" y="3063240"/>
            <a:ext cx="1828800" cy="777240"/>
          </a:xfrm>
          <a:prstGeom prst="roundRect">
            <a:avLst>
              <a:gd name="adj" fmla="val 7059"/>
            </a:avLst>
          </a:prstGeom>
          <a:solidFill>
            <a:srgbClr val="F2F4F7"/>
          </a:solidFill>
          <a:ln w="12700">
            <a:solidFill>
              <a:srgbClr val="F2F4F7"/>
            </a:solidFill>
            <a:prstDash val="solid"/>
          </a:ln>
        </p:spPr>
      </p:sp>
      <p:sp>
        <p:nvSpPr>
          <p:cNvPr id="19" name="Text 17"/>
          <p:cNvSpPr txBox="1"/>
          <p:nvPr/>
        </p:nvSpPr>
        <p:spPr>
          <a:xfrm>
            <a:off x="548640" y="3063240"/>
            <a:ext cx="1645920" cy="777240"/>
          </a:xfrm>
          <a:prstGeom prst="rect">
            <a:avLst/>
          </a:prstGeom>
          <a:noFill/>
          <a:ln/>
        </p:spPr>
        <p:txBody>
          <a:bodyPr wrap="square" lIns="0" tIns="0" rIns="0" bIns="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Rollouts</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540 Nemotron runs on 5 story variants</a:t>
            </a:r>
            <a:endParaRPr lang="en-US" sz="1100" dirty="0"/>
          </a:p>
        </p:txBody>
      </p:sp>
      <p:sp>
        <p:nvSpPr>
          <p:cNvPr id="20" name="Shape 18"/>
          <p:cNvSpPr/>
          <p:nvPr/>
        </p:nvSpPr>
        <p:spPr>
          <a:xfrm>
            <a:off x="2304288" y="3451860"/>
            <a:ext cx="265176" cy="0"/>
          </a:xfrm>
          <a:prstGeom prst="line">
            <a:avLst/>
          </a:prstGeom>
          <a:noFill/>
          <a:ln w="19050">
            <a:solidFill>
              <a:srgbClr val="9AA4B2"/>
            </a:solidFill>
            <a:prstDash val="solid"/>
            <a:tailEnd type="triangle"/>
          </a:ln>
        </p:spPr>
      </p:sp>
      <p:sp>
        <p:nvSpPr>
          <p:cNvPr id="21" name="Shape 19"/>
          <p:cNvSpPr/>
          <p:nvPr/>
        </p:nvSpPr>
        <p:spPr>
          <a:xfrm>
            <a:off x="2587752" y="3063240"/>
            <a:ext cx="1828800" cy="777240"/>
          </a:xfrm>
          <a:prstGeom prst="roundRect">
            <a:avLst>
              <a:gd name="adj" fmla="val 7059"/>
            </a:avLst>
          </a:prstGeom>
          <a:solidFill>
            <a:srgbClr val="F2F4F7"/>
          </a:solidFill>
          <a:ln w="12700">
            <a:solidFill>
              <a:srgbClr val="F2F4F7"/>
            </a:solidFill>
            <a:prstDash val="solid"/>
          </a:ln>
        </p:spPr>
      </p:sp>
      <p:sp>
        <p:nvSpPr>
          <p:cNvPr id="22" name="Text 20"/>
          <p:cNvSpPr txBox="1"/>
          <p:nvPr/>
        </p:nvSpPr>
        <p:spPr>
          <a:xfrm>
            <a:off x="2679192" y="3063240"/>
            <a:ext cx="1645920" cy="777240"/>
          </a:xfrm>
          <a:prstGeom prst="rect">
            <a:avLst/>
          </a:prstGeom>
          <a:noFill/>
          <a:ln/>
        </p:spPr>
        <p:txBody>
          <a:bodyPr wrap="square" lIns="0" tIns="0" rIns="0" bIns="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Filter by reward</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keep ≥ 0.95: 401 rows</a:t>
            </a:r>
            <a:endParaRPr lang="en-US" sz="1100" dirty="0"/>
          </a:p>
        </p:txBody>
      </p:sp>
      <p:sp>
        <p:nvSpPr>
          <p:cNvPr id="23" name="Shape 21"/>
          <p:cNvSpPr/>
          <p:nvPr/>
        </p:nvSpPr>
        <p:spPr>
          <a:xfrm>
            <a:off x="4434840" y="3451860"/>
            <a:ext cx="265176" cy="0"/>
          </a:xfrm>
          <a:prstGeom prst="line">
            <a:avLst/>
          </a:prstGeom>
          <a:noFill/>
          <a:ln w="19050">
            <a:solidFill>
              <a:srgbClr val="9AA4B2"/>
            </a:solidFill>
            <a:prstDash val="solid"/>
            <a:tailEnd type="triangle"/>
          </a:ln>
        </p:spPr>
      </p:sp>
      <p:sp>
        <p:nvSpPr>
          <p:cNvPr id="24" name="Shape 22"/>
          <p:cNvSpPr/>
          <p:nvPr/>
        </p:nvSpPr>
        <p:spPr>
          <a:xfrm>
            <a:off x="4718304" y="3063240"/>
            <a:ext cx="1828800" cy="777240"/>
          </a:xfrm>
          <a:prstGeom prst="roundRect">
            <a:avLst>
              <a:gd name="adj" fmla="val 7059"/>
            </a:avLst>
          </a:prstGeom>
          <a:solidFill>
            <a:srgbClr val="F2F4F7"/>
          </a:solidFill>
          <a:ln w="12700">
            <a:solidFill>
              <a:srgbClr val="F2F4F7"/>
            </a:solidFill>
            <a:prstDash val="solid"/>
          </a:ln>
        </p:spPr>
      </p:sp>
      <p:sp>
        <p:nvSpPr>
          <p:cNvPr id="25" name="Text 23"/>
          <p:cNvSpPr txBox="1"/>
          <p:nvPr/>
        </p:nvSpPr>
        <p:spPr>
          <a:xfrm>
            <a:off x="4809744" y="3063240"/>
            <a:ext cx="1645920" cy="777240"/>
          </a:xfrm>
          <a:prstGeom prst="rect">
            <a:avLst/>
          </a:prstGeom>
          <a:noFill/>
          <a:ln/>
        </p:spPr>
        <p:txBody>
          <a:bodyPr wrap="square" lIns="0" tIns="0" rIns="0" bIns="0" rtlCol="0" anchor="ctr"/>
          <a:lstStyle/>
          <a:p>
            <a:pPr algn="ctr" indent="0" marL="0">
              <a:buNone/>
            </a:pPr>
            <a:r>
              <a:rPr lang="en-US" sz="1100" b="1" dirty="0">
                <a:solidFill>
                  <a:srgbClr val="1B2333"/>
                </a:solidFill>
                <a:latin typeface="Arial" pitchFamily="34" charset="0"/>
                <a:ea typeface="Arial" pitchFamily="34" charset="-122"/>
                <a:cs typeface="Arial" pitchFamily="34" charset="-120"/>
              </a:rPr>
              <a:t>LoRA SFT</a:t>
            </a:r>
            <a:endParaRPr lang="en-US" sz="1100" dirty="0"/>
          </a:p>
          <a:p>
            <a:pPr algn="ctr" indent="0" marL="0">
              <a:buNone/>
            </a:pPr>
            <a:r>
              <a:rPr lang="en-US" sz="900" dirty="0">
                <a:solidFill>
                  <a:srgbClr val="5B6577"/>
                </a:solidFill>
                <a:latin typeface="Arial" pitchFamily="34" charset="0"/>
                <a:ea typeface="Arial" pitchFamily="34" charset="-122"/>
                <a:cs typeface="Arial" pitchFamily="34" charset="-120"/>
              </a:rPr>
              <a:t>67 min on one A100 80 GB</a:t>
            </a:r>
            <a:endParaRPr lang="en-US" sz="1100" dirty="0"/>
          </a:p>
        </p:txBody>
      </p:sp>
      <p:sp>
        <p:nvSpPr>
          <p:cNvPr id="26" name="Shape 24"/>
          <p:cNvSpPr/>
          <p:nvPr/>
        </p:nvSpPr>
        <p:spPr>
          <a:xfrm>
            <a:off x="6565392" y="3451860"/>
            <a:ext cx="265176" cy="0"/>
          </a:xfrm>
          <a:prstGeom prst="line">
            <a:avLst/>
          </a:prstGeom>
          <a:noFill/>
          <a:ln w="19050">
            <a:solidFill>
              <a:srgbClr val="9AA4B2"/>
            </a:solidFill>
            <a:prstDash val="solid"/>
            <a:tailEnd type="triangle"/>
          </a:ln>
        </p:spPr>
      </p:sp>
      <p:sp>
        <p:nvSpPr>
          <p:cNvPr id="27" name="Shape 25"/>
          <p:cNvSpPr/>
          <p:nvPr/>
        </p:nvSpPr>
        <p:spPr>
          <a:xfrm>
            <a:off x="6848856" y="3063240"/>
            <a:ext cx="1828800" cy="777240"/>
          </a:xfrm>
          <a:prstGeom prst="roundRect">
            <a:avLst>
              <a:gd name="adj" fmla="val 7059"/>
            </a:avLst>
          </a:prstGeom>
          <a:solidFill>
            <a:srgbClr val="0E1726"/>
          </a:solidFill>
          <a:ln w="12700">
            <a:solidFill>
              <a:srgbClr val="0E1726"/>
            </a:solidFill>
            <a:prstDash val="solid"/>
          </a:ln>
        </p:spPr>
      </p:sp>
      <p:sp>
        <p:nvSpPr>
          <p:cNvPr id="28" name="Text 26"/>
          <p:cNvSpPr txBox="1"/>
          <p:nvPr/>
        </p:nvSpPr>
        <p:spPr>
          <a:xfrm>
            <a:off x="6940296" y="3063240"/>
            <a:ext cx="1645920" cy="777240"/>
          </a:xfrm>
          <a:prstGeom prst="rect">
            <a:avLst/>
          </a:prstGeom>
          <a:noFill/>
          <a:ln/>
        </p:spPr>
        <p:txBody>
          <a:bodyPr wrap="square" lIns="0" tIns="0" rIns="0" bIns="0" rtlCol="0" anchor="ctr"/>
          <a:lstStyle/>
          <a:p>
            <a:pPr algn="ctr" indent="0" marL="0">
              <a:buNone/>
            </a:pPr>
            <a:r>
              <a:rPr lang="en-US" sz="1100" b="1" dirty="0">
                <a:solidFill>
                  <a:srgbClr val="76B900"/>
                </a:solidFill>
                <a:latin typeface="Arial" pitchFamily="34" charset="0"/>
                <a:ea typeface="Arial" pitchFamily="34" charset="-122"/>
                <a:cs typeface="Arial" pitchFamily="34" charset="-120"/>
              </a:rPr>
              <a:t>Re-score, held out</a:t>
            </a:r>
            <a:endParaRPr lang="en-US" sz="1100" dirty="0"/>
          </a:p>
          <a:p>
            <a:pPr algn="ctr" indent="0" marL="0">
              <a:buNone/>
            </a:pPr>
            <a:r>
              <a:rPr lang="en-US" sz="900" dirty="0">
                <a:solidFill>
                  <a:srgbClr val="C9D2DE"/>
                </a:solidFill>
                <a:latin typeface="Arial" pitchFamily="34" charset="0"/>
                <a:ea typeface="Arial" pitchFamily="34" charset="-122"/>
                <a:cs typeface="Arial" pitchFamily="34" charset="-120"/>
              </a:rPr>
              <a:t>reasoning off: 0.751 → 0.939</a:t>
            </a:r>
            <a:endParaRPr lang="en-US" sz="1100" dirty="0"/>
          </a:p>
        </p:txBody>
      </p:sp>
      <p:sp>
        <p:nvSpPr>
          <p:cNvPr id="29" name="Text 27"/>
          <p:cNvSpPr txBox="1"/>
          <p:nvPr/>
        </p:nvSpPr>
        <p:spPr>
          <a:xfrm>
            <a:off x="457200" y="4023360"/>
            <a:ext cx="8229600" cy="502920"/>
          </a:xfrm>
          <a:prstGeom prst="rect">
            <a:avLst/>
          </a:prstGeom>
          <a:noFill/>
          <a:ln/>
        </p:spPr>
        <p:txBody>
          <a:bodyPr wrap="square" lIns="0" tIns="0" rIns="0" bIns="0" rtlCol="0" anchor="ctr"/>
          <a:lstStyle/>
          <a:p>
            <a:pPr indent="0" marL="0">
              <a:buNone/>
            </a:pPr>
            <a:r>
              <a:rPr lang="en-US" sz="1100" i="1" dirty="0">
                <a:solidFill>
                  <a:srgbClr val="5B6577"/>
                </a:solidFill>
                <a:latin typeface="Arial" pitchFamily="34" charset="0"/>
                <a:ea typeface="Arial" pitchFamily="34" charset="-122"/>
                <a:cs typeface="Arial" pitchFamily="34" charset="-120"/>
              </a:rPr>
              <a:t>Story variants change the correct answers (credit-led, growth-led, weights shift, consumer stress); property shock is never trained on, so a higher score means the model learned the job, not the answers.</a:t>
            </a:r>
            <a:endParaRPr lang="en-US" sz="1100" dirty="0"/>
          </a:p>
        </p:txBody>
      </p:sp>
      <p:sp>
        <p:nvSpPr>
          <p:cNvPr id="30" name="Text 28"/>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resources_servers/risklens_cecl (tools as endpoints + /verify); reward weights in config/gym.yaml. Every figure from the engine or the verifier.</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FINE-TUNED &amp; SPECIALIZED</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LoRA makes fast, no-reasoning Nemotron call the tool first</a:t>
            </a:r>
            <a:endParaRPr lang="en-US" sz="2600" dirty="0"/>
          </a:p>
        </p:txBody>
      </p:sp>
      <p:sp>
        <p:nvSpPr>
          <p:cNvPr id="4" name="Shape 2"/>
          <p:cNvSpPr/>
          <p:nvPr/>
        </p:nvSpPr>
        <p:spPr>
          <a:xfrm>
            <a:off x="457200" y="1143000"/>
            <a:ext cx="1920240" cy="1097280"/>
          </a:xfrm>
          <a:prstGeom prst="roundRect">
            <a:avLst>
              <a:gd name="adj" fmla="val 6667"/>
            </a:avLst>
          </a:prstGeom>
          <a:solidFill>
            <a:srgbClr val="F2F4F7"/>
          </a:solidFill>
          <a:ln w="12700">
            <a:solidFill>
              <a:srgbClr val="F2F4F7"/>
            </a:solidFill>
            <a:prstDash val="solid"/>
          </a:ln>
        </p:spPr>
      </p:sp>
      <p:sp>
        <p:nvSpPr>
          <p:cNvPr id="5" name="Text 3"/>
          <p:cNvSpPr txBox="1"/>
          <p:nvPr/>
        </p:nvSpPr>
        <p:spPr>
          <a:xfrm>
            <a:off x="594360" y="1207008"/>
            <a:ext cx="1645920" cy="292608"/>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Rollouts</a:t>
            </a:r>
            <a:endParaRPr lang="en-US" sz="1300" dirty="0"/>
          </a:p>
        </p:txBody>
      </p:sp>
      <p:sp>
        <p:nvSpPr>
          <p:cNvPr id="6" name="Text 4"/>
          <p:cNvSpPr txBox="1"/>
          <p:nvPr/>
        </p:nvSpPr>
        <p:spPr>
          <a:xfrm>
            <a:off x="594360" y="1517904"/>
            <a:ext cx="1645920" cy="6858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540 Nemotron investigations in NeMo Gym across 5 story variants</a:t>
            </a:r>
            <a:endParaRPr lang="en-US" sz="1100" dirty="0"/>
          </a:p>
        </p:txBody>
      </p:sp>
      <p:sp>
        <p:nvSpPr>
          <p:cNvPr id="7" name="Shape 5"/>
          <p:cNvSpPr/>
          <p:nvPr/>
        </p:nvSpPr>
        <p:spPr>
          <a:xfrm>
            <a:off x="2560320" y="1143000"/>
            <a:ext cx="1920240" cy="1097280"/>
          </a:xfrm>
          <a:prstGeom prst="roundRect">
            <a:avLst>
              <a:gd name="adj" fmla="val 6667"/>
            </a:avLst>
          </a:prstGeom>
          <a:solidFill>
            <a:srgbClr val="F2F4F7"/>
          </a:solidFill>
          <a:ln w="12700">
            <a:solidFill>
              <a:srgbClr val="F2F4F7"/>
            </a:solidFill>
            <a:prstDash val="solid"/>
          </a:ln>
        </p:spPr>
      </p:sp>
      <p:sp>
        <p:nvSpPr>
          <p:cNvPr id="8" name="Text 6"/>
          <p:cNvSpPr txBox="1"/>
          <p:nvPr/>
        </p:nvSpPr>
        <p:spPr>
          <a:xfrm>
            <a:off x="2697480" y="1207008"/>
            <a:ext cx="1645920" cy="292608"/>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Filter</a:t>
            </a:r>
            <a:endParaRPr lang="en-US" sz="1300" dirty="0"/>
          </a:p>
        </p:txBody>
      </p:sp>
      <p:sp>
        <p:nvSpPr>
          <p:cNvPr id="9" name="Text 7"/>
          <p:cNvSpPr txBox="1"/>
          <p:nvPr/>
        </p:nvSpPr>
        <p:spPr>
          <a:xfrm>
            <a:off x="2697480" y="1517904"/>
            <a:ext cx="1645920" cy="6858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Re-scored by the verifier; reward ≥ 0.95 kept: 401 rows</a:t>
            </a:r>
            <a:endParaRPr lang="en-US" sz="1100" dirty="0"/>
          </a:p>
        </p:txBody>
      </p:sp>
      <p:sp>
        <p:nvSpPr>
          <p:cNvPr id="10" name="Shape 8"/>
          <p:cNvSpPr/>
          <p:nvPr/>
        </p:nvSpPr>
        <p:spPr>
          <a:xfrm>
            <a:off x="4663440" y="1143000"/>
            <a:ext cx="1920240" cy="1097280"/>
          </a:xfrm>
          <a:prstGeom prst="roundRect">
            <a:avLst>
              <a:gd name="adj" fmla="val 6667"/>
            </a:avLst>
          </a:prstGeom>
          <a:solidFill>
            <a:srgbClr val="F2F4F7"/>
          </a:solidFill>
          <a:ln w="12700">
            <a:solidFill>
              <a:srgbClr val="F2F4F7"/>
            </a:solidFill>
            <a:prstDash val="solid"/>
          </a:ln>
        </p:spPr>
      </p:sp>
      <p:sp>
        <p:nvSpPr>
          <p:cNvPr id="11" name="Text 9"/>
          <p:cNvSpPr txBox="1"/>
          <p:nvPr/>
        </p:nvSpPr>
        <p:spPr>
          <a:xfrm>
            <a:off x="4800600" y="1207008"/>
            <a:ext cx="1645920" cy="292608"/>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LoRA SFT</a:t>
            </a:r>
            <a:endParaRPr lang="en-US" sz="1300" dirty="0"/>
          </a:p>
        </p:txBody>
      </p:sp>
      <p:sp>
        <p:nvSpPr>
          <p:cNvPr id="12" name="Text 10"/>
          <p:cNvSpPr txBox="1"/>
          <p:nvPr/>
        </p:nvSpPr>
        <p:spPr>
          <a:xfrm>
            <a:off x="4800600" y="1517904"/>
            <a:ext cx="1645920" cy="6858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Rank 16, 2 epochs, 102 steps, 67 min on one A100 80 GB</a:t>
            </a:r>
            <a:endParaRPr lang="en-US" sz="1100" dirty="0"/>
          </a:p>
        </p:txBody>
      </p:sp>
      <p:sp>
        <p:nvSpPr>
          <p:cNvPr id="13" name="Shape 11"/>
          <p:cNvSpPr/>
          <p:nvPr/>
        </p:nvSpPr>
        <p:spPr>
          <a:xfrm>
            <a:off x="6766560" y="1143000"/>
            <a:ext cx="1920240" cy="1097280"/>
          </a:xfrm>
          <a:prstGeom prst="roundRect">
            <a:avLst>
              <a:gd name="adj" fmla="val 6667"/>
            </a:avLst>
          </a:prstGeom>
          <a:solidFill>
            <a:srgbClr val="F2F4F7"/>
          </a:solidFill>
          <a:ln w="12700">
            <a:solidFill>
              <a:srgbClr val="F2F4F7"/>
            </a:solidFill>
            <a:prstDash val="solid"/>
          </a:ln>
        </p:spPr>
      </p:sp>
      <p:sp>
        <p:nvSpPr>
          <p:cNvPr id="14" name="Text 12"/>
          <p:cNvSpPr txBox="1"/>
          <p:nvPr/>
        </p:nvSpPr>
        <p:spPr>
          <a:xfrm>
            <a:off x="6903720" y="1207008"/>
            <a:ext cx="1645920" cy="292608"/>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Re-score</a:t>
            </a:r>
            <a:endParaRPr lang="en-US" sz="1300" dirty="0"/>
          </a:p>
        </p:txBody>
      </p:sp>
      <p:sp>
        <p:nvSpPr>
          <p:cNvPr id="15" name="Text 13"/>
          <p:cNvSpPr txBox="1"/>
          <p:nvPr/>
        </p:nvSpPr>
        <p:spPr>
          <a:xfrm>
            <a:off x="6903720" y="1517904"/>
            <a:ext cx="1645920" cy="68580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Held-out property-shock story, never trained on, 60 episodes</a:t>
            </a:r>
            <a:endParaRPr lang="en-US" sz="1100" dirty="0"/>
          </a:p>
        </p:txBody>
      </p:sp>
      <p:sp>
        <p:nvSpPr>
          <p:cNvPr id="16" name="Shape 14"/>
          <p:cNvSpPr/>
          <p:nvPr/>
        </p:nvSpPr>
        <p:spPr>
          <a:xfrm>
            <a:off x="457200" y="2423160"/>
            <a:ext cx="4023360" cy="2148840"/>
          </a:xfrm>
          <a:prstGeom prst="roundRect">
            <a:avLst>
              <a:gd name="adj" fmla="val 3404"/>
            </a:avLst>
          </a:prstGeom>
          <a:solidFill>
            <a:srgbClr val="0E1726"/>
          </a:solidFill>
          <a:ln w="12700">
            <a:solidFill>
              <a:srgbClr val="0E1726"/>
            </a:solidFill>
            <a:prstDash val="solid"/>
          </a:ln>
        </p:spPr>
      </p:sp>
      <p:sp>
        <p:nvSpPr>
          <p:cNvPr id="17" name="Text 15"/>
          <p:cNvSpPr txBox="1"/>
          <p:nvPr/>
        </p:nvSpPr>
        <p:spPr>
          <a:xfrm>
            <a:off x="640080" y="2514600"/>
            <a:ext cx="3657600" cy="274320"/>
          </a:xfrm>
          <a:prstGeom prst="rect">
            <a:avLst/>
          </a:prstGeom>
          <a:noFill/>
          <a:ln/>
        </p:spPr>
        <p:txBody>
          <a:bodyPr wrap="square" lIns="0" tIns="0" rIns="0" bIns="0" rtlCol="0" anchor="ctr"/>
          <a:lstStyle/>
          <a:p>
            <a:pPr indent="0" marL="0">
              <a:buNone/>
            </a:pPr>
            <a:r>
              <a:rPr lang="en-US" sz="1000" b="1" spc="100" kern="0" dirty="0">
                <a:solidFill>
                  <a:srgbClr val="76B900"/>
                </a:solidFill>
                <a:latin typeface="Arial" pitchFamily="34" charset="0"/>
                <a:ea typeface="Arial" pitchFamily="34" charset="-122"/>
                <a:cs typeface="Arial" pitchFamily="34" charset="-120"/>
              </a:rPr>
              <a:t>HELD-OUT STORY, REASONING OFF</a:t>
            </a:r>
            <a:endParaRPr lang="en-US" sz="1000" dirty="0"/>
          </a:p>
        </p:txBody>
      </p:sp>
      <p:sp>
        <p:nvSpPr>
          <p:cNvPr id="18" name="Text 16"/>
          <p:cNvSpPr txBox="1"/>
          <p:nvPr/>
        </p:nvSpPr>
        <p:spPr>
          <a:xfrm>
            <a:off x="640080" y="2788920"/>
            <a:ext cx="3657600" cy="685800"/>
          </a:xfrm>
          <a:prstGeom prst="rect">
            <a:avLst/>
          </a:prstGeom>
          <a:noFill/>
          <a:ln/>
        </p:spPr>
        <p:txBody>
          <a:bodyPr wrap="square" lIns="0" tIns="0" rIns="0" bIns="0" rtlCol="0" anchor="ctr"/>
          <a:lstStyle/>
          <a:p>
            <a:pPr indent="0" marL="0">
              <a:buNone/>
            </a:pPr>
            <a:r>
              <a:rPr lang="en-US" sz="4000" b="1" dirty="0">
                <a:solidFill>
                  <a:srgbClr val="AEB8C6"/>
                </a:solidFill>
                <a:latin typeface="Arial" pitchFamily="34" charset="0"/>
                <a:ea typeface="Arial" pitchFamily="34" charset="-122"/>
                <a:cs typeface="Arial" pitchFamily="34" charset="-120"/>
              </a:rPr>
              <a:t>0.751</a:t>
            </a:r>
            <a:pPr indent="0" marL="0">
              <a:buNone/>
            </a:pPr>
            <a:r>
              <a:rPr lang="en-US" sz="4000" b="1" dirty="0">
                <a:solidFill>
                  <a:srgbClr val="AEB8C6"/>
                </a:solidFill>
                <a:latin typeface="Arial" pitchFamily="34" charset="0"/>
                <a:ea typeface="Arial" pitchFamily="34" charset="-122"/>
                <a:cs typeface="Arial" pitchFamily="34" charset="-120"/>
              </a:rPr>
              <a:t>  →  </a:t>
            </a:r>
            <a:pPr indent="0" marL="0">
              <a:buNone/>
            </a:pPr>
            <a:r>
              <a:rPr lang="en-US" sz="4000" b="1" dirty="0">
                <a:solidFill>
                  <a:srgbClr val="76B900"/>
                </a:solidFill>
                <a:latin typeface="Arial" pitchFamily="34" charset="0"/>
                <a:ea typeface="Arial" pitchFamily="34" charset="-122"/>
                <a:cs typeface="Arial" pitchFamily="34" charset="-120"/>
              </a:rPr>
              <a:t>0.939</a:t>
            </a:r>
            <a:endParaRPr lang="en-US" sz="4000" dirty="0"/>
          </a:p>
        </p:txBody>
      </p:sp>
      <p:sp>
        <p:nvSpPr>
          <p:cNvPr id="19" name="Text 17"/>
          <p:cNvSpPr txBox="1"/>
          <p:nvPr/>
        </p:nvSpPr>
        <p:spPr>
          <a:xfrm>
            <a:off x="640080" y="3520440"/>
            <a:ext cx="3657600" cy="9601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Mean Gym reward, base → LoRA. </a:t>
            </a:r>
            <a:pPr indent="0" marL="0">
              <a:buNone/>
            </a:pPr>
            <a:r>
              <a:rPr lang="en-US" sz="1100" dirty="0">
                <a:solidFill>
                  <a:srgbClr val="C9D2DE"/>
                </a:solidFill>
                <a:latin typeface="Arial" pitchFamily="34" charset="0"/>
                <a:ea typeface="Arial" pitchFamily="34" charset="-122"/>
                <a:cs typeface="Arial" pitchFamily="34" charset="-120"/>
              </a:rPr>
              <a:t>Answers with no tool call: 14 / 60 → 0 / 60. Base made up figures (e.g. a $45.3M July allowance vs $97.49M in the engine).</a:t>
            </a:r>
            <a:endParaRPr lang="en-US" sz="1100" dirty="0"/>
          </a:p>
        </p:txBody>
      </p:sp>
      <p:sp>
        <p:nvSpPr>
          <p:cNvPr id="20" name="Shape 18"/>
          <p:cNvSpPr/>
          <p:nvPr/>
        </p:nvSpPr>
        <p:spPr>
          <a:xfrm>
            <a:off x="4663440" y="2423160"/>
            <a:ext cx="4023360" cy="2148840"/>
          </a:xfrm>
          <a:prstGeom prst="roundRect">
            <a:avLst>
              <a:gd name="adj" fmla="val 3404"/>
            </a:avLst>
          </a:prstGeom>
          <a:solidFill>
            <a:srgbClr val="F2F4F7"/>
          </a:solidFill>
          <a:ln w="12700">
            <a:solidFill>
              <a:srgbClr val="F2F4F7"/>
            </a:solidFill>
            <a:prstDash val="solid"/>
          </a:ln>
        </p:spPr>
      </p:sp>
      <p:sp>
        <p:nvSpPr>
          <p:cNvPr id="21" name="Text 19"/>
          <p:cNvSpPr txBox="1"/>
          <p:nvPr/>
        </p:nvSpPr>
        <p:spPr>
          <a:xfrm>
            <a:off x="4846320" y="2514600"/>
            <a:ext cx="3657600" cy="2011680"/>
          </a:xfrm>
          <a:prstGeom prst="rect">
            <a:avLst/>
          </a:prstGeom>
          <a:noFill/>
          <a:ln/>
        </p:spPr>
        <p:txBody>
          <a:bodyPr wrap="square" lIns="0" tIns="0" rIns="0" bIns="0" rtlCol="0" anchor="t"/>
          <a:lstStyle/>
          <a:p>
            <a:pPr indent="0" marL="0">
              <a:spcAft>
                <a:spcPts val="500"/>
              </a:spcAft>
              <a:buNone/>
            </a:pPr>
            <a:r>
              <a:rPr lang="en-US" sz="1300" b="1" dirty="0">
                <a:solidFill>
                  <a:srgbClr val="1B2333"/>
                </a:solidFill>
                <a:latin typeface="Arial" pitchFamily="34" charset="0"/>
                <a:ea typeface="Arial" pitchFamily="34" charset="-122"/>
                <a:cs typeface="Arial" pitchFamily="34" charset="-120"/>
              </a:rPr>
              <a:t>Why it matters</a:t>
            </a:r>
            <a:endParaRPr lang="en-US" sz="1100" dirty="0"/>
          </a:p>
          <a:p>
            <a:pPr marL="152400" indent="-152400">
              <a:spcAft>
                <a:spcPts val="500"/>
              </a:spcAft>
              <a:buSzPct val="100000"/>
              <a:buChar char="•"/>
            </a:pPr>
            <a:r>
              <a:rPr lang="en-US" sz="1100" dirty="0">
                <a:solidFill>
                  <a:srgbClr val="5B6577"/>
                </a:solidFill>
                <a:latin typeface="Arial" pitchFamily="34" charset="0"/>
                <a:ea typeface="Arial" pitchFamily="34" charset="-122"/>
                <a:cs typeface="Arial" pitchFamily="34" charset="-120"/>
              </a:rPr>
              <a:t>Near reasoning-mode quality (0.939 vs 0.964) with ~40% fewer output tokens (567 vs 970)</a:t>
            </a:r>
            <a:endParaRPr lang="en-US" sz="1100" dirty="0"/>
          </a:p>
          <a:p>
            <a:pPr marL="152400" indent="-152400">
              <a:spcAft>
                <a:spcPts val="500"/>
              </a:spcAft>
              <a:buSzPct val="100000"/>
              <a:buChar char="•"/>
            </a:pPr>
            <a:r>
              <a:rPr lang="en-US" sz="1100" u="sng" dirty="0">
                <a:solidFill>
                  <a:srgbClr val="5B65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Published: huggingface.co/gcav66/nemotron-3.5-lightning-risklens-lora</a:t>
            </a:r>
            <a:endParaRPr lang="en-US" sz="1100" dirty="0"/>
          </a:p>
          <a:p>
            <a:pPr marL="152400" indent="-152400">
              <a:spcAft>
                <a:spcPts val="500"/>
              </a:spcAft>
              <a:buSzPct val="100000"/>
              <a:buChar char="•"/>
            </a:pPr>
            <a:r>
              <a:rPr lang="en-US" sz="1100" dirty="0">
                <a:solidFill>
                  <a:srgbClr val="5B6577"/>
                </a:solidFill>
                <a:latin typeface="Arial" pitchFamily="34" charset="0"/>
                <a:ea typeface="Arial" pitchFamily="34" charset="-122"/>
                <a:cs typeface="Arial" pitchFamily="34" charset="-120"/>
              </a:rPr>
              <a:t>Not yet: no gain with reasoning on (0.959 vs 0.964); CRE borrower drill-down not learned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WHY A BANK BUYS THIS</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An explanation layer on top of the CECL engine the bank already owns</a:t>
            </a:r>
            <a:endParaRPr lang="en-US" sz="2600" dirty="0"/>
          </a:p>
        </p:txBody>
      </p:sp>
      <p:sp>
        <p:nvSpPr>
          <p:cNvPr id="4" name="Shape 2"/>
          <p:cNvSpPr/>
          <p:nvPr/>
        </p:nvSpPr>
        <p:spPr>
          <a:xfrm>
            <a:off x="457200" y="1143000"/>
            <a:ext cx="2194560" cy="1463040"/>
          </a:xfrm>
          <a:prstGeom prst="roundRect">
            <a:avLst>
              <a:gd name="adj" fmla="val 5000"/>
            </a:avLst>
          </a:prstGeom>
          <a:solidFill>
            <a:srgbClr val="F2F4F7"/>
          </a:solidFill>
          <a:ln w="12700">
            <a:solidFill>
              <a:srgbClr val="F2F4F7"/>
            </a:solidFill>
            <a:prstDash val="solid"/>
          </a:ln>
        </p:spPr>
      </p:sp>
      <p:sp>
        <p:nvSpPr>
          <p:cNvPr id="5" name="Text 3"/>
          <p:cNvSpPr txBox="1"/>
          <p:nvPr/>
        </p:nvSpPr>
        <p:spPr>
          <a:xfrm>
            <a:off x="594360" y="1252728"/>
            <a:ext cx="1920240" cy="320040"/>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Close faster</a:t>
            </a:r>
            <a:endParaRPr lang="en-US" sz="1300" dirty="0"/>
          </a:p>
        </p:txBody>
      </p:sp>
      <p:sp>
        <p:nvSpPr>
          <p:cNvPr id="6" name="Text 4"/>
          <p:cNvSpPr txBox="1"/>
          <p:nvPr/>
        </p:nvSpPr>
        <p:spPr>
          <a:xfrm>
            <a:off x="594360" y="1600200"/>
            <a:ext cx="1920240" cy="96012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The month-end “why” goes from days of cross-team work to a traced answer in minutes.</a:t>
            </a:r>
            <a:endParaRPr lang="en-US" sz="1100" dirty="0"/>
          </a:p>
        </p:txBody>
      </p:sp>
      <p:sp>
        <p:nvSpPr>
          <p:cNvPr id="7" name="Shape 5"/>
          <p:cNvSpPr/>
          <p:nvPr/>
        </p:nvSpPr>
        <p:spPr>
          <a:xfrm>
            <a:off x="2788920" y="1143000"/>
            <a:ext cx="2194560" cy="1463040"/>
          </a:xfrm>
          <a:prstGeom prst="roundRect">
            <a:avLst>
              <a:gd name="adj" fmla="val 5000"/>
            </a:avLst>
          </a:prstGeom>
          <a:solidFill>
            <a:srgbClr val="F2F4F7"/>
          </a:solidFill>
          <a:ln w="12700">
            <a:solidFill>
              <a:srgbClr val="F2F4F7"/>
            </a:solidFill>
            <a:prstDash val="solid"/>
          </a:ln>
        </p:spPr>
      </p:sp>
      <p:sp>
        <p:nvSpPr>
          <p:cNvPr id="8" name="Text 6"/>
          <p:cNvSpPr txBox="1"/>
          <p:nvPr/>
        </p:nvSpPr>
        <p:spPr>
          <a:xfrm>
            <a:off x="2926080" y="1252728"/>
            <a:ext cx="1920240" cy="320040"/>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Audit-ready</a:t>
            </a:r>
            <a:endParaRPr lang="en-US" sz="1300" dirty="0"/>
          </a:p>
        </p:txBody>
      </p:sp>
      <p:sp>
        <p:nvSpPr>
          <p:cNvPr id="9" name="Text 7"/>
          <p:cNvSpPr txBox="1"/>
          <p:nvPr/>
        </p:nvSpPr>
        <p:spPr>
          <a:xfrm>
            <a:off x="2926080" y="1600200"/>
            <a:ext cx="1920240" cy="96012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Every figure ties to a tool call hash and reconciles to the booked allowance.</a:t>
            </a:r>
            <a:endParaRPr lang="en-US" sz="1100" dirty="0"/>
          </a:p>
        </p:txBody>
      </p:sp>
      <p:sp>
        <p:nvSpPr>
          <p:cNvPr id="10" name="Shape 8"/>
          <p:cNvSpPr/>
          <p:nvPr/>
        </p:nvSpPr>
        <p:spPr>
          <a:xfrm>
            <a:off x="457200" y="2743200"/>
            <a:ext cx="2194560" cy="1463040"/>
          </a:xfrm>
          <a:prstGeom prst="roundRect">
            <a:avLst>
              <a:gd name="adj" fmla="val 5000"/>
            </a:avLst>
          </a:prstGeom>
          <a:solidFill>
            <a:srgbClr val="F2F4F7"/>
          </a:solidFill>
          <a:ln w="12700">
            <a:solidFill>
              <a:srgbClr val="F2F4F7"/>
            </a:solidFill>
            <a:prstDash val="solid"/>
          </a:ln>
        </p:spPr>
      </p:sp>
      <p:sp>
        <p:nvSpPr>
          <p:cNvPr id="11" name="Text 9"/>
          <p:cNvSpPr txBox="1"/>
          <p:nvPr/>
        </p:nvSpPr>
        <p:spPr>
          <a:xfrm>
            <a:off x="594360" y="2852928"/>
            <a:ext cx="1920240" cy="320040"/>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Data stays home</a:t>
            </a:r>
            <a:endParaRPr lang="en-US" sz="1300" dirty="0"/>
          </a:p>
        </p:txBody>
      </p:sp>
      <p:sp>
        <p:nvSpPr>
          <p:cNvPr id="12" name="Text 10"/>
          <p:cNvSpPr txBox="1"/>
          <p:nvPr/>
        </p:nvSpPr>
        <p:spPr>
          <a:xfrm>
            <a:off x="594360" y="3200400"/>
            <a:ext cx="1920240" cy="96012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Small open models on the bank's own GPU or vLLM: no loan data sent to a frontier API.</a:t>
            </a:r>
            <a:endParaRPr lang="en-US" sz="1100" dirty="0"/>
          </a:p>
        </p:txBody>
      </p:sp>
      <p:sp>
        <p:nvSpPr>
          <p:cNvPr id="13" name="Shape 11"/>
          <p:cNvSpPr/>
          <p:nvPr/>
        </p:nvSpPr>
        <p:spPr>
          <a:xfrm>
            <a:off x="2788920" y="2743200"/>
            <a:ext cx="2194560" cy="1463040"/>
          </a:xfrm>
          <a:prstGeom prst="roundRect">
            <a:avLst>
              <a:gd name="adj" fmla="val 5000"/>
            </a:avLst>
          </a:prstGeom>
          <a:solidFill>
            <a:srgbClr val="F2F4F7"/>
          </a:solidFill>
          <a:ln w="12700">
            <a:solidFill>
              <a:srgbClr val="F2F4F7"/>
            </a:solidFill>
            <a:prstDash val="solid"/>
          </a:ln>
        </p:spPr>
      </p:sp>
      <p:sp>
        <p:nvSpPr>
          <p:cNvPr id="14" name="Text 12"/>
          <p:cNvSpPr txBox="1"/>
          <p:nvPr/>
        </p:nvSpPr>
        <p:spPr>
          <a:xfrm>
            <a:off x="2926080" y="2852928"/>
            <a:ext cx="1920240" cy="320040"/>
          </a:xfrm>
          <a:prstGeom prst="rect">
            <a:avLst/>
          </a:prstGeom>
          <a:noFill/>
          <a:ln/>
        </p:spPr>
        <p:txBody>
          <a:bodyPr wrap="square" lIns="0" tIns="0" rIns="0" bIns="0" rtlCol="0" anchor="ctr"/>
          <a:lstStyle/>
          <a:p>
            <a:pPr indent="0" marL="0">
              <a:buNone/>
            </a:pPr>
            <a:r>
              <a:rPr lang="en-US" sz="1300" b="1" dirty="0">
                <a:solidFill>
                  <a:srgbClr val="4A7A00"/>
                </a:solidFill>
                <a:latin typeface="Arial" pitchFamily="34" charset="0"/>
                <a:ea typeface="Arial" pitchFamily="34" charset="-122"/>
                <a:cs typeface="Arial" pitchFamily="34" charset="-120"/>
              </a:rPr>
              <a:t>No rip-and-replace</a:t>
            </a:r>
            <a:endParaRPr lang="en-US" sz="1300" dirty="0"/>
          </a:p>
        </p:txBody>
      </p:sp>
      <p:sp>
        <p:nvSpPr>
          <p:cNvPr id="15" name="Text 13"/>
          <p:cNvSpPr txBox="1"/>
          <p:nvPr/>
        </p:nvSpPr>
        <p:spPr>
          <a:xfrm>
            <a:off x="2926080" y="3200400"/>
            <a:ext cx="1920240" cy="960120"/>
          </a:xfrm>
          <a:prstGeom prst="rect">
            <a:avLst/>
          </a:prstGeom>
          <a:noFill/>
          <a:ln/>
        </p:spPr>
        <p:txBody>
          <a:bodyPr wrap="square" lIns="0" tIns="0" rIns="0" bIns="0" rtlCol="0" anchor="t"/>
          <a:lstStyle/>
          <a:p>
            <a:pPr indent="0" marL="0">
              <a:buNone/>
            </a:pPr>
            <a:r>
              <a:rPr lang="en-US" sz="1100" dirty="0">
                <a:solidFill>
                  <a:srgbClr val="1B2333"/>
                </a:solidFill>
                <a:latin typeface="Arial" pitchFamily="34" charset="0"/>
                <a:ea typeface="Arial" pitchFamily="34" charset="-122"/>
                <a:cs typeface="Arial" pitchFamily="34" charset="-120"/>
              </a:rPr>
              <a:t>Reads the booked run from any vendor engine: CECL today, IFRS 9 in the same engine.</a:t>
            </a:r>
            <a:endParaRPr lang="en-US" sz="1100" dirty="0"/>
          </a:p>
        </p:txBody>
      </p:sp>
      <p:sp>
        <p:nvSpPr>
          <p:cNvPr id="16" name="Shape 14"/>
          <p:cNvSpPr/>
          <p:nvPr/>
        </p:nvSpPr>
        <p:spPr>
          <a:xfrm>
            <a:off x="5257800" y="1143000"/>
            <a:ext cx="3429000" cy="3063240"/>
          </a:xfrm>
          <a:prstGeom prst="roundRect">
            <a:avLst>
              <a:gd name="adj" fmla="val 2388"/>
            </a:avLst>
          </a:prstGeom>
          <a:solidFill>
            <a:srgbClr val="0E1726"/>
          </a:solidFill>
          <a:ln w="12700">
            <a:solidFill>
              <a:srgbClr val="0E1726"/>
            </a:solidFill>
            <a:prstDash val="solid"/>
          </a:ln>
        </p:spPr>
      </p:sp>
      <p:sp>
        <p:nvSpPr>
          <p:cNvPr id="17" name="Text 15"/>
          <p:cNvSpPr txBox="1"/>
          <p:nvPr/>
        </p:nvSpPr>
        <p:spPr>
          <a:xfrm>
            <a:off x="5440680" y="1261872"/>
            <a:ext cx="3108960" cy="274320"/>
          </a:xfrm>
          <a:prstGeom prst="rect">
            <a:avLst/>
          </a:prstGeom>
          <a:noFill/>
          <a:ln/>
        </p:spPr>
        <p:txBody>
          <a:bodyPr wrap="square" lIns="0" tIns="0" rIns="0" bIns="0" rtlCol="0" anchor="ctr"/>
          <a:lstStyle/>
          <a:p>
            <a:pPr indent="0" marL="0">
              <a:buNone/>
            </a:pPr>
            <a:r>
              <a:rPr lang="en-US" sz="1000" b="1" spc="100" kern="0" dirty="0">
                <a:solidFill>
                  <a:srgbClr val="76B900"/>
                </a:solidFill>
                <a:latin typeface="Arial" pitchFamily="34" charset="0"/>
                <a:ea typeface="Arial" pitchFamily="34" charset="-122"/>
                <a:cs typeface="Arial" pitchFamily="34" charset="-120"/>
              </a:rPr>
              <a:t>ILLUSTRATIVE VALUE, PER BANK</a:t>
            </a:r>
            <a:endParaRPr lang="en-US" sz="1000" dirty="0"/>
          </a:p>
        </p:txBody>
      </p:sp>
      <p:sp>
        <p:nvSpPr>
          <p:cNvPr id="18" name="Text 16"/>
          <p:cNvSpPr txBox="1"/>
          <p:nvPr/>
        </p:nvSpPr>
        <p:spPr>
          <a:xfrm>
            <a:off x="5440680" y="1600200"/>
            <a:ext cx="3108960" cy="914400"/>
          </a:xfrm>
          <a:prstGeom prst="rect">
            <a:avLst/>
          </a:prstGeom>
          <a:noFill/>
          <a:ln/>
        </p:spPr>
        <p:txBody>
          <a:bodyPr wrap="square" lIns="0" tIns="0" rIns="0" bIns="0" rtlCol="0" anchor="ctr"/>
          <a:lstStyle/>
          <a:p>
            <a:pPr indent="0" marL="0">
              <a:buNone/>
            </a:pPr>
            <a:r>
              <a:rPr lang="en-US" sz="1300" dirty="0">
                <a:solidFill>
                  <a:srgbClr val="C9D2DE"/>
                </a:solidFill>
                <a:latin typeface="Arial" pitchFamily="34" charset="0"/>
                <a:ea typeface="Arial" pitchFamily="34" charset="-122"/>
                <a:cs typeface="Arial" pitchFamily="34" charset="-120"/>
              </a:rPr>
              <a:t>5 people × 3 days × 12 closes</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 1,440 hours a year</a:t>
            </a:r>
            <a:endParaRPr lang="en-US" sz="1300" dirty="0"/>
          </a:p>
          <a:p>
            <a:pPr indent="0" marL="0">
              <a:buNone/>
            </a:pPr>
            <a:r>
              <a:rPr lang="en-US" sz="1300" dirty="0">
                <a:solidFill>
                  <a:srgbClr val="C9D2DE"/>
                </a:solidFill>
                <a:latin typeface="Arial" pitchFamily="34" charset="0"/>
                <a:ea typeface="Arial" pitchFamily="34" charset="-122"/>
                <a:cs typeface="Arial" pitchFamily="34" charset="-120"/>
              </a:rPr>
              <a:t>× $120 loaded hourly cost</a:t>
            </a:r>
            <a:endParaRPr lang="en-US" sz="1300" dirty="0"/>
          </a:p>
        </p:txBody>
      </p:sp>
      <p:sp>
        <p:nvSpPr>
          <p:cNvPr id="19" name="Text 17"/>
          <p:cNvSpPr txBox="1"/>
          <p:nvPr/>
        </p:nvSpPr>
        <p:spPr>
          <a:xfrm>
            <a:off x="5440680" y="2560320"/>
            <a:ext cx="3108960" cy="640080"/>
          </a:xfrm>
          <a:prstGeom prst="rect">
            <a:avLst/>
          </a:prstGeom>
          <a:noFill/>
          <a:ln/>
        </p:spPr>
        <p:txBody>
          <a:bodyPr wrap="square" lIns="0" tIns="0" rIns="0" bIns="0" rtlCol="0" anchor="ctr"/>
          <a:lstStyle/>
          <a:p>
            <a:pPr indent="0" marL="0">
              <a:buNone/>
            </a:pPr>
            <a:r>
              <a:rPr lang="en-US" sz="3200" b="1" dirty="0">
                <a:solidFill>
                  <a:srgbClr val="76B900"/>
                </a:solidFill>
                <a:latin typeface="Arial" pitchFamily="34" charset="0"/>
                <a:ea typeface="Arial" pitchFamily="34" charset="-122"/>
                <a:cs typeface="Arial" pitchFamily="34" charset="-120"/>
              </a:rPr>
              <a:t>≈ $173k / yr</a:t>
            </a:r>
            <a:endParaRPr lang="en-US" sz="3200" dirty="0"/>
          </a:p>
        </p:txBody>
      </p:sp>
      <p:sp>
        <p:nvSpPr>
          <p:cNvPr id="20" name="Text 18"/>
          <p:cNvSpPr txBox="1"/>
          <p:nvPr/>
        </p:nvSpPr>
        <p:spPr>
          <a:xfrm>
            <a:off x="5440680" y="3200400"/>
            <a:ext cx="3108960" cy="914400"/>
          </a:xfrm>
          <a:prstGeom prst="rect">
            <a:avLst/>
          </a:prstGeom>
          <a:noFill/>
          <a:ln/>
        </p:spPr>
        <p:txBody>
          <a:bodyPr wrap="square" lIns="0" tIns="0" rIns="0" bIns="0" rtlCol="0" anchor="t"/>
          <a:lstStyle/>
          <a:p>
            <a:pPr indent="0" marL="0">
              <a:buNone/>
            </a:pPr>
            <a:r>
              <a:rPr lang="en-US" sz="1100" dirty="0">
                <a:solidFill>
                  <a:srgbClr val="C9D2DE"/>
                </a:solidFill>
                <a:latin typeface="Arial" pitchFamily="34" charset="0"/>
                <a:ea typeface="Arial" pitchFamily="34" charset="-122"/>
                <a:cs typeface="Arial" pitchFamily="34" charset="-120"/>
              </a:rPr>
              <a:t>of analyst time per bank, before audit findings avoided. Our assumptions, not survey data: replace with pilot measurements.</a:t>
            </a:r>
            <a:endParaRPr lang="en-US" sz="1100" dirty="0"/>
          </a:p>
        </p:txBody>
      </p:sp>
      <p:sp>
        <p:nvSpPr>
          <p:cNvPr id="21" name="Text 19"/>
          <p:cNvSpPr txBox="1"/>
          <p:nvPr/>
        </p:nvSpPr>
        <p:spPr>
          <a:xfrm>
            <a:off x="457200" y="4343400"/>
            <a:ext cx="8229600" cy="411480"/>
          </a:xfrm>
          <a:prstGeom prst="rect">
            <a:avLst/>
          </a:prstGeom>
          <a:noFill/>
          <a:ln/>
        </p:spPr>
        <p:txBody>
          <a:bodyPr wrap="square" lIns="0" tIns="0" rIns="0" bIns="0" rtlCol="0" anchor="ctr"/>
          <a:lstStyle/>
          <a:p>
            <a:pPr indent="0" marL="0">
              <a:buNone/>
            </a:pPr>
            <a:r>
              <a:rPr lang="en-US" sz="1100" dirty="0">
                <a:solidFill>
                  <a:srgbClr val="5B6577"/>
                </a:solidFill>
                <a:latin typeface="Arial" pitchFamily="34" charset="0"/>
                <a:ea typeface="Arial" pitchFamily="34" charset="-122"/>
                <a:cs typeface="Arial" pitchFamily="34" charset="-120"/>
              </a:rPr>
              <a:t>Buyers: allowance (ACL) owners in Finance and Credit Risk, Model Risk, internal audit. Sold alongside existing CECL vendors, not against them.</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ROADMAP AND THE ASK</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From hackathon to pilot</a:t>
            </a:r>
            <a:endParaRPr lang="en-US" sz="2600" dirty="0"/>
          </a:p>
        </p:txBody>
      </p:sp>
      <p:sp>
        <p:nvSpPr>
          <p:cNvPr id="4" name="Shape 2"/>
          <p:cNvSpPr/>
          <p:nvPr/>
        </p:nvSpPr>
        <p:spPr>
          <a:xfrm>
            <a:off x="457200" y="1252728"/>
            <a:ext cx="274320" cy="274320"/>
          </a:xfrm>
          <a:prstGeom prst="ellipse">
            <a:avLst/>
          </a:prstGeom>
          <a:solidFill>
            <a:srgbClr val="76B900"/>
          </a:solidFill>
          <a:ln w="12700">
            <a:solidFill>
              <a:srgbClr val="76B900"/>
            </a:solidFill>
            <a:prstDash val="solid"/>
          </a:ln>
        </p:spPr>
      </p:sp>
      <p:sp>
        <p:nvSpPr>
          <p:cNvPr id="5" name="Text 3"/>
          <p:cNvSpPr txBox="1"/>
          <p:nvPr/>
        </p:nvSpPr>
        <p:spPr>
          <a:xfrm>
            <a:off x="914400" y="1143000"/>
            <a:ext cx="1554480" cy="50292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Now</a:t>
            </a:r>
            <a:endParaRPr lang="en-US" sz="1400" dirty="0"/>
          </a:p>
        </p:txBody>
      </p:sp>
      <p:sp>
        <p:nvSpPr>
          <p:cNvPr id="6" name="Text 4"/>
          <p:cNvSpPr txBox="1"/>
          <p:nvPr/>
        </p:nvSpPr>
        <p:spPr>
          <a:xfrm>
            <a:off x="2468880" y="1143000"/>
            <a:ext cx="3200400" cy="640080"/>
          </a:xfrm>
          <a:prstGeom prst="rect">
            <a:avLst/>
          </a:prstGeom>
          <a:noFill/>
          <a:ln/>
        </p:spPr>
        <p:txBody>
          <a:bodyPr wrap="square" lIns="0" tIns="0" rIns="0" bIns="0" rtlCol="0" anchor="ctr"/>
          <a:lstStyle/>
          <a:p>
            <a:pPr indent="0" marL="0">
              <a:buNone/>
            </a:pPr>
            <a:r>
              <a:rPr lang="en-US" sz="1100" dirty="0">
                <a:solidFill>
                  <a:srgbClr val="5B6577"/>
                </a:solidFill>
                <a:latin typeface="Arial" pitchFamily="34" charset="0"/>
                <a:ea typeface="Arial" pitchFamily="34" charset="-122"/>
                <a:cs typeface="Arial" pitchFamily="34" charset="-120"/>
              </a:rPr>
              <a:t>Engine, 33 tools, agent team, NeMo Gym verifier, frontier reference, LoRA on Hugging Face, local 15-question benchmark</a:t>
            </a:r>
            <a:endParaRPr lang="en-US" sz="1100" dirty="0"/>
          </a:p>
        </p:txBody>
      </p:sp>
      <p:sp>
        <p:nvSpPr>
          <p:cNvPr id="7" name="Shape 5"/>
          <p:cNvSpPr/>
          <p:nvPr/>
        </p:nvSpPr>
        <p:spPr>
          <a:xfrm>
            <a:off x="457200" y="2029968"/>
            <a:ext cx="274320" cy="274320"/>
          </a:xfrm>
          <a:prstGeom prst="ellipse">
            <a:avLst/>
          </a:prstGeom>
          <a:solidFill>
            <a:srgbClr val="C7D0DC"/>
          </a:solidFill>
          <a:ln w="12700">
            <a:solidFill>
              <a:srgbClr val="C7D0DC"/>
            </a:solidFill>
            <a:prstDash val="solid"/>
          </a:ln>
        </p:spPr>
      </p:sp>
      <p:sp>
        <p:nvSpPr>
          <p:cNvPr id="8" name="Text 6"/>
          <p:cNvSpPr txBox="1"/>
          <p:nvPr/>
        </p:nvSpPr>
        <p:spPr>
          <a:xfrm>
            <a:off x="914400" y="1920240"/>
            <a:ext cx="1554480" cy="50292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Next 30 days</a:t>
            </a:r>
            <a:endParaRPr lang="en-US" sz="1400" dirty="0"/>
          </a:p>
        </p:txBody>
      </p:sp>
      <p:sp>
        <p:nvSpPr>
          <p:cNvPr id="9" name="Text 7"/>
          <p:cNvSpPr txBox="1"/>
          <p:nvPr/>
        </p:nvSpPr>
        <p:spPr>
          <a:xfrm>
            <a:off x="2468880" y="1920240"/>
            <a:ext cx="3200400" cy="640080"/>
          </a:xfrm>
          <a:prstGeom prst="rect">
            <a:avLst/>
          </a:prstGeom>
          <a:noFill/>
          <a:ln/>
        </p:spPr>
        <p:txBody>
          <a:bodyPr wrap="square" lIns="0" tIns="0" rIns="0" bIns="0" rtlCol="0" anchor="ctr"/>
          <a:lstStyle/>
          <a:p>
            <a:pPr indent="0" marL="0">
              <a:buNone/>
            </a:pPr>
            <a:r>
              <a:rPr lang="en-US" sz="1100" dirty="0">
                <a:solidFill>
                  <a:srgbClr val="5B6577"/>
                </a:solidFill>
                <a:latin typeface="Arial" pitchFamily="34" charset="0"/>
                <a:ea typeface="Arial" pitchFamily="34" charset="-122"/>
                <a:cs typeface="Arial" pitchFamily="34" charset="-120"/>
              </a:rPr>
              <a:t>Route lookups vs investigations; team on vLLM for speed; teach the CRE drill-down</a:t>
            </a:r>
            <a:endParaRPr lang="en-US" sz="1100" dirty="0"/>
          </a:p>
        </p:txBody>
      </p:sp>
      <p:sp>
        <p:nvSpPr>
          <p:cNvPr id="10" name="Shape 8"/>
          <p:cNvSpPr/>
          <p:nvPr/>
        </p:nvSpPr>
        <p:spPr>
          <a:xfrm>
            <a:off x="457200" y="2807208"/>
            <a:ext cx="274320" cy="274320"/>
          </a:xfrm>
          <a:prstGeom prst="ellipse">
            <a:avLst/>
          </a:prstGeom>
          <a:solidFill>
            <a:srgbClr val="C7D0DC"/>
          </a:solidFill>
          <a:ln w="12700">
            <a:solidFill>
              <a:srgbClr val="C7D0DC"/>
            </a:solidFill>
            <a:prstDash val="solid"/>
          </a:ln>
        </p:spPr>
      </p:sp>
      <p:sp>
        <p:nvSpPr>
          <p:cNvPr id="11" name="Text 9"/>
          <p:cNvSpPr txBox="1"/>
          <p:nvPr/>
        </p:nvSpPr>
        <p:spPr>
          <a:xfrm>
            <a:off x="914400" y="2697480"/>
            <a:ext cx="1554480" cy="50292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Pilot</a:t>
            </a:r>
            <a:endParaRPr lang="en-US" sz="1400" dirty="0"/>
          </a:p>
        </p:txBody>
      </p:sp>
      <p:sp>
        <p:nvSpPr>
          <p:cNvPr id="12" name="Text 10"/>
          <p:cNvSpPr txBox="1"/>
          <p:nvPr/>
        </p:nvSpPr>
        <p:spPr>
          <a:xfrm>
            <a:off x="2468880" y="2697480"/>
            <a:ext cx="3200400" cy="640080"/>
          </a:xfrm>
          <a:prstGeom prst="rect">
            <a:avLst/>
          </a:prstGeom>
          <a:noFill/>
          <a:ln/>
        </p:spPr>
        <p:txBody>
          <a:bodyPr wrap="square" lIns="0" tIns="0" rIns="0" bIns="0" rtlCol="0" anchor="ctr"/>
          <a:lstStyle/>
          <a:p>
            <a:pPr indent="0" marL="0">
              <a:buNone/>
            </a:pPr>
            <a:r>
              <a:rPr lang="en-US" sz="1100" dirty="0">
                <a:solidFill>
                  <a:srgbClr val="5B6577"/>
                </a:solidFill>
                <a:latin typeface="Arial" pitchFamily="34" charset="0"/>
                <a:ea typeface="Arial" pitchFamily="34" charset="-122"/>
                <a:cs typeface="Arial" pitchFamily="34" charset="-120"/>
              </a:rPr>
              <a:t>One bank's real extracts through Dataiku → RISKLENS_DATA_DIR; measure hours saved per close</a:t>
            </a:r>
            <a:endParaRPr lang="en-US" sz="1100" dirty="0"/>
          </a:p>
        </p:txBody>
      </p:sp>
      <p:sp>
        <p:nvSpPr>
          <p:cNvPr id="13" name="Shape 11"/>
          <p:cNvSpPr/>
          <p:nvPr/>
        </p:nvSpPr>
        <p:spPr>
          <a:xfrm>
            <a:off x="457200" y="3584448"/>
            <a:ext cx="274320" cy="274320"/>
          </a:xfrm>
          <a:prstGeom prst="ellipse">
            <a:avLst/>
          </a:prstGeom>
          <a:solidFill>
            <a:srgbClr val="C7D0DC"/>
          </a:solidFill>
          <a:ln w="12700">
            <a:solidFill>
              <a:srgbClr val="C7D0DC"/>
            </a:solidFill>
            <a:prstDash val="solid"/>
          </a:ln>
        </p:spPr>
      </p:sp>
      <p:sp>
        <p:nvSpPr>
          <p:cNvPr id="14" name="Text 12"/>
          <p:cNvSpPr txBox="1"/>
          <p:nvPr/>
        </p:nvSpPr>
        <p:spPr>
          <a:xfrm>
            <a:off x="914400" y="3474720"/>
            <a:ext cx="1554480" cy="502920"/>
          </a:xfrm>
          <a:prstGeom prst="rect">
            <a:avLst/>
          </a:prstGeom>
          <a:noFill/>
          <a:ln/>
        </p:spPr>
        <p:txBody>
          <a:bodyPr wrap="square" lIns="0" tIns="0" rIns="0" bIns="0" rtlCol="0" anchor="ctr"/>
          <a:lstStyle/>
          <a:p>
            <a:pPr indent="0" marL="0">
              <a:buNone/>
            </a:pPr>
            <a:r>
              <a:rPr lang="en-US" sz="1400" b="1" dirty="0">
                <a:solidFill>
                  <a:srgbClr val="1B2333"/>
                </a:solidFill>
                <a:latin typeface="Arial" pitchFamily="34" charset="0"/>
                <a:ea typeface="Arial" pitchFamily="34" charset="-122"/>
                <a:cs typeface="Arial" pitchFamily="34" charset="-120"/>
              </a:rPr>
              <a:t>Scale</a:t>
            </a:r>
            <a:endParaRPr lang="en-US" sz="1400" dirty="0"/>
          </a:p>
        </p:txBody>
      </p:sp>
      <p:sp>
        <p:nvSpPr>
          <p:cNvPr id="15" name="Text 13"/>
          <p:cNvSpPr txBox="1"/>
          <p:nvPr/>
        </p:nvSpPr>
        <p:spPr>
          <a:xfrm>
            <a:off x="2468880" y="3474720"/>
            <a:ext cx="3200400" cy="640080"/>
          </a:xfrm>
          <a:prstGeom prst="rect">
            <a:avLst/>
          </a:prstGeom>
          <a:noFill/>
          <a:ln/>
        </p:spPr>
        <p:txBody>
          <a:bodyPr wrap="square" lIns="0" tIns="0" rIns="0" bIns="0" rtlCol="0" anchor="ctr"/>
          <a:lstStyle/>
          <a:p>
            <a:pPr indent="0" marL="0">
              <a:buNone/>
            </a:pPr>
            <a:r>
              <a:rPr lang="en-US" sz="1100" dirty="0">
                <a:solidFill>
                  <a:srgbClr val="5B6577"/>
                </a:solidFill>
                <a:latin typeface="Arial" pitchFamily="34" charset="0"/>
                <a:ea typeface="Arial" pitchFamily="34" charset="-122"/>
                <a:cs typeface="Arial" pitchFamily="34" charset="-120"/>
              </a:rPr>
              <a:t>IFRS 9 staging explanations, quarterly ACL committee pack, more story variants</a:t>
            </a:r>
            <a:endParaRPr lang="en-US" sz="1100" dirty="0"/>
          </a:p>
        </p:txBody>
      </p:sp>
      <p:sp>
        <p:nvSpPr>
          <p:cNvPr id="16" name="Shape 14"/>
          <p:cNvSpPr/>
          <p:nvPr/>
        </p:nvSpPr>
        <p:spPr>
          <a:xfrm>
            <a:off x="5943600" y="1143000"/>
            <a:ext cx="2743200" cy="3017520"/>
          </a:xfrm>
          <a:prstGeom prst="roundRect">
            <a:avLst>
              <a:gd name="adj" fmla="val 2667"/>
            </a:avLst>
          </a:prstGeom>
          <a:solidFill>
            <a:srgbClr val="E8F3D2"/>
          </a:solidFill>
          <a:ln w="12700">
            <a:solidFill>
              <a:srgbClr val="E8F3D2"/>
            </a:solidFill>
            <a:prstDash val="solid"/>
          </a:ln>
        </p:spPr>
      </p:sp>
      <p:sp>
        <p:nvSpPr>
          <p:cNvPr id="17" name="Text 15"/>
          <p:cNvSpPr txBox="1"/>
          <p:nvPr/>
        </p:nvSpPr>
        <p:spPr>
          <a:xfrm>
            <a:off x="6126480" y="1280160"/>
            <a:ext cx="2377440" cy="2743200"/>
          </a:xfrm>
          <a:prstGeom prst="rect">
            <a:avLst/>
          </a:prstGeom>
          <a:noFill/>
          <a:ln/>
        </p:spPr>
        <p:txBody>
          <a:bodyPr wrap="square" lIns="0" tIns="0" rIns="0" bIns="0" rtlCol="0" anchor="t"/>
          <a:lstStyle/>
          <a:p>
            <a:pPr indent="0" marL="0">
              <a:spcAft>
                <a:spcPts val="600"/>
              </a:spcAft>
              <a:buNone/>
            </a:pPr>
            <a:r>
              <a:rPr lang="en-US" sz="1500" b="1" dirty="0">
                <a:solidFill>
                  <a:srgbClr val="4A7A00"/>
                </a:solidFill>
                <a:latin typeface="Arial" pitchFamily="34" charset="0"/>
                <a:ea typeface="Arial" pitchFamily="34" charset="-122"/>
                <a:cs typeface="Arial" pitchFamily="34" charset="-120"/>
              </a:rPr>
              <a:t>We're asking for</a:t>
            </a:r>
            <a:endParaRPr lang="en-US" sz="1200" dirty="0"/>
          </a:p>
          <a:p>
            <a:pPr marL="152400" indent="-152400">
              <a:spcAft>
                <a:spcPts val="600"/>
              </a:spcAft>
              <a:buSzPct val="100000"/>
              <a:buChar char="•"/>
            </a:pPr>
            <a:r>
              <a:rPr lang="en-US" sz="1200" dirty="0">
                <a:solidFill>
                  <a:srgbClr val="1B2333"/>
                </a:solidFill>
                <a:latin typeface="Arial" pitchFamily="34" charset="0"/>
                <a:ea typeface="Arial" pitchFamily="34" charset="-122"/>
                <a:cs typeface="Arial" pitchFamily="34" charset="-120"/>
              </a:rPr>
              <a:t>One design-partner bank with a CECL or IFRS 9 book</a:t>
            </a:r>
            <a:endParaRPr lang="en-US" sz="1200" dirty="0"/>
          </a:p>
          <a:p>
            <a:pPr marL="152400" indent="-152400">
              <a:spcAft>
                <a:spcPts val="600"/>
              </a:spcAft>
              <a:buSzPct val="100000"/>
              <a:buChar char="•"/>
            </a:pPr>
            <a:r>
              <a:rPr lang="en-US" sz="1200" dirty="0">
                <a:solidFill>
                  <a:srgbClr val="1B2333"/>
                </a:solidFill>
                <a:latin typeface="Arial" pitchFamily="34" charset="0"/>
                <a:ea typeface="Arial" pitchFamily="34" charset="-122"/>
                <a:cs typeface="Arial" pitchFamily="34" charset="-120"/>
              </a:rPr>
              <a:t>GPU time to extend the fine-tune</a:t>
            </a:r>
            <a:endParaRPr lang="en-US" sz="1200" dirty="0"/>
          </a:p>
          <a:p>
            <a:pPr marL="152400" indent="-152400">
              <a:spcAft>
                <a:spcPts val="600"/>
              </a:spcAft>
              <a:buSzPct val="100000"/>
              <a:buChar char="•"/>
            </a:pPr>
            <a:r>
              <a:rPr lang="en-US" sz="1200" dirty="0">
                <a:solidFill>
                  <a:srgbClr val="1B2333"/>
                </a:solidFill>
                <a:latin typeface="Arial" pitchFamily="34" charset="0"/>
                <a:ea typeface="Arial" pitchFamily="34" charset="-122"/>
                <a:cs typeface="Arial" pitchFamily="34" charset="-120"/>
              </a:rPr>
              <a:t>Feedback from allowance and model-risk practitioners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914400"/>
            <a:ext cx="8046720" cy="10972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Small models don't need to know everything.</a:t>
            </a:r>
            <a:endParaRPr lang="en-US" sz="3000" dirty="0"/>
          </a:p>
        </p:txBody>
      </p:sp>
      <p:sp>
        <p:nvSpPr>
          <p:cNvPr id="3" name="Text 1"/>
          <p:cNvSpPr txBox="1"/>
          <p:nvPr/>
        </p:nvSpPr>
        <p:spPr>
          <a:xfrm>
            <a:off x="548640" y="2148840"/>
            <a:ext cx="8046720" cy="640080"/>
          </a:xfrm>
          <a:prstGeom prst="rect">
            <a:avLst/>
          </a:prstGeom>
          <a:noFill/>
          <a:ln/>
        </p:spPr>
        <p:txBody>
          <a:bodyPr wrap="square" lIns="0" tIns="0" rIns="0" bIns="0" rtlCol="0" anchor="ctr"/>
          <a:lstStyle/>
          <a:p>
            <a:pPr indent="0" marL="0">
              <a:buNone/>
            </a:pPr>
            <a:r>
              <a:rPr lang="en-US" sz="2400" dirty="0">
                <a:solidFill>
                  <a:srgbClr val="76B900"/>
                </a:solidFill>
                <a:latin typeface="Arial" pitchFamily="34" charset="0"/>
                <a:ea typeface="Arial" pitchFamily="34" charset="-122"/>
                <a:cs typeface="Arial" pitchFamily="34" charset="-120"/>
              </a:rPr>
              <a:t>They need to know exactly which risk tool to call next.</a:t>
            </a:r>
            <a:endParaRPr lang="en-US" sz="2400" dirty="0"/>
          </a:p>
        </p:txBody>
      </p:sp>
      <p:sp>
        <p:nvSpPr>
          <p:cNvPr id="4" name="Text 2"/>
          <p:cNvSpPr txBox="1"/>
          <p:nvPr/>
        </p:nvSpPr>
        <p:spPr>
          <a:xfrm>
            <a:off x="548640" y="3291840"/>
            <a:ext cx="8046720" cy="7315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RiskLens AI  ·  Team Residual Zero</a:t>
            </a:r>
            <a:endParaRPr lang="en-US" sz="1400" dirty="0"/>
          </a:p>
          <a:p>
            <a:pPr indent="0" marL="0">
              <a:buNone/>
            </a:pPr>
            <a:r>
              <a:rPr lang="en-US" sz="1400" u="sng" dirty="0">
                <a:solidFill>
                  <a:srgbClr val="C9D2DE"/>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github.com/Luizkauffmann/Nvidia-Redhat-RiskLens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3152"/>
            <a:ext cx="8229600" cy="228600"/>
          </a:xfrm>
          <a:prstGeom prst="rect">
            <a:avLst/>
          </a:prstGeom>
          <a:noFill/>
          <a:ln/>
        </p:spPr>
        <p:txBody>
          <a:bodyPr wrap="square" lIns="0" tIns="0" rIns="0" bIns="0" rtlCol="0" anchor="ctr"/>
          <a:lstStyle/>
          <a:p>
            <a:pPr indent="0" marL="0">
              <a:buNone/>
            </a:pPr>
            <a:r>
              <a:rPr lang="en-US" sz="1000" b="1" spc="200" kern="0" dirty="0">
                <a:solidFill>
                  <a:srgbClr val="4A7A00"/>
                </a:solidFill>
                <a:latin typeface="Arial" pitchFamily="34" charset="0"/>
                <a:ea typeface="Arial" pitchFamily="34" charset="-122"/>
                <a:cs typeface="Arial" pitchFamily="34" charset="-120"/>
              </a:rPr>
              <a:t>APPENDIX</a:t>
            </a:r>
            <a:endParaRPr lang="en-US" sz="1000" dirty="0"/>
          </a:p>
        </p:txBody>
      </p:sp>
      <p:sp>
        <p:nvSpPr>
          <p:cNvPr id="3" name="Text 1"/>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600" b="1" dirty="0">
                <a:solidFill>
                  <a:srgbClr val="1B2333"/>
                </a:solidFill>
                <a:latin typeface="Arial" pitchFamily="34" charset="0"/>
                <a:ea typeface="Arial" pitchFamily="34" charset="-122"/>
                <a:cs typeface="Arial" pitchFamily="34" charset="-120"/>
              </a:rPr>
              <a:t>Sources and provenance</a:t>
            </a:r>
            <a:endParaRPr lang="en-US" sz="2600" dirty="0"/>
          </a:p>
        </p:txBody>
      </p:sp>
      <p:sp>
        <p:nvSpPr>
          <p:cNvPr id="4" name="Text 2"/>
          <p:cNvSpPr txBox="1"/>
          <p:nvPr/>
        </p:nvSpPr>
        <p:spPr>
          <a:xfrm>
            <a:off x="457200" y="1143000"/>
            <a:ext cx="8229600" cy="566928"/>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1  </a:t>
            </a:r>
            <a:pPr indent="0" marL="0">
              <a:buNone/>
            </a:pPr>
            <a:r>
              <a:rPr lang="en-US" sz="1100" dirty="0">
                <a:solidFill>
                  <a:srgbClr val="1B2333"/>
                </a:solidFill>
                <a:latin typeface="Arial" pitchFamily="34" charset="0"/>
                <a:ea typeface="Arial" pitchFamily="34" charset="-122"/>
                <a:cs typeface="Arial" pitchFamily="34" charset="-120"/>
              </a:rPr>
              <a:t>Risk analytics market: $42.92B (2025), $47.26B (2026), $76.49B (2031), 10.11% CAGR. ResearchAndMarkets / Mordor Intelligence.  </a:t>
            </a:r>
            <a:pPr indent="0" marL="0">
              <a:buNone/>
            </a:pPr>
            <a:r>
              <a:rPr lang="en-US" sz="1100" u="sng" dirty="0">
                <a:solidFill>
                  <a:srgbClr val="4A7A0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sz="1100" dirty="0"/>
          </a:p>
        </p:txBody>
      </p:sp>
      <p:sp>
        <p:nvSpPr>
          <p:cNvPr id="5" name="Text 3"/>
          <p:cNvSpPr txBox="1"/>
          <p:nvPr/>
        </p:nvSpPr>
        <p:spPr>
          <a:xfrm>
            <a:off x="457200" y="1801368"/>
            <a:ext cx="8229600" cy="566928"/>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2  </a:t>
            </a:r>
            <a:pPr indent="0" marL="0">
              <a:buNone/>
            </a:pPr>
            <a:r>
              <a:rPr lang="en-US" sz="1100" dirty="0">
                <a:solidFill>
                  <a:srgbClr val="1B2333"/>
                </a:solidFill>
                <a:latin typeface="Arial" pitchFamily="34" charset="0"/>
                <a:ea typeface="Arial" pitchFamily="34" charset="-122"/>
                <a:cs typeface="Arial" pitchFamily="34" charset="-120"/>
              </a:rPr>
              <a:t>70% of community banks use third-party vendors for CECL; 57% rely on third-party economic forecasts. ABA Banking Journal, Apr 27, 2026.  </a:t>
            </a:r>
            <a:pPr indent="0" marL="0">
              <a:buNone/>
            </a:pPr>
            <a:r>
              <a:rPr lang="en-US" sz="1100" u="sng" dirty="0">
                <a:solidFill>
                  <a:srgbClr val="4A7A0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sz="1100" dirty="0"/>
          </a:p>
        </p:txBody>
      </p:sp>
      <p:sp>
        <p:nvSpPr>
          <p:cNvPr id="6" name="Text 4"/>
          <p:cNvSpPr txBox="1"/>
          <p:nvPr/>
        </p:nvSpPr>
        <p:spPr>
          <a:xfrm>
            <a:off x="457200" y="2459736"/>
            <a:ext cx="8229600" cy="566928"/>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3  </a:t>
            </a:r>
            <a:pPr indent="0" marL="0">
              <a:buNone/>
            </a:pPr>
            <a:r>
              <a:rPr lang="en-US" sz="1100" dirty="0">
                <a:solidFill>
                  <a:srgbClr val="1B2333"/>
                </a:solidFill>
                <a:latin typeface="Arial" pitchFamily="34" charset="0"/>
                <a:ea typeface="Arial" pitchFamily="34" charset="-122"/>
                <a:cs typeface="Arial" pitchFamily="34" charset="-120"/>
              </a:rPr>
              <a:t>77% of banks needed extra working days after year-end for IFRS 9 impairment (16% more than 10 days). Deloitte, Sixth Global IFRS Banking Survey, 2016, 91 banks.  </a:t>
            </a:r>
            <a:pPr indent="0" marL="0">
              <a:buNone/>
            </a:pPr>
            <a:r>
              <a:rPr lang="en-US" sz="1100" u="sng" dirty="0">
                <a:solidFill>
                  <a:srgbClr val="4A7A0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sz="1100" dirty="0"/>
          </a:p>
        </p:txBody>
      </p:sp>
      <p:sp>
        <p:nvSpPr>
          <p:cNvPr id="7" name="Text 5"/>
          <p:cNvSpPr txBox="1"/>
          <p:nvPr/>
        </p:nvSpPr>
        <p:spPr>
          <a:xfrm>
            <a:off x="457200" y="3118104"/>
            <a:ext cx="8229600" cy="566928"/>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4  </a:t>
            </a:r>
            <a:pPr indent="0" marL="0">
              <a:buNone/>
            </a:pPr>
            <a:r>
              <a:rPr lang="en-US" sz="1100" dirty="0">
                <a:solidFill>
                  <a:srgbClr val="1B2333"/>
                </a:solidFill>
                <a:latin typeface="Arial" pitchFamily="34" charset="0"/>
                <a:ea typeface="Arial" pitchFamily="34" charset="-122"/>
                <a:cs typeface="Arial" pitchFamily="34" charset="-120"/>
              </a:rPr>
              <a:t>Fed Vice Chair for Supervision calls for CECL repeal at FASB roundtable. ABA Banking Journal, May 12, 2026.  </a:t>
            </a:r>
            <a:pPr indent="0" marL="0">
              <a:buNone/>
            </a:pPr>
            <a:r>
              <a:rPr lang="en-US" sz="1100" u="sng" dirty="0">
                <a:solidFill>
                  <a:srgbClr val="4A7A0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sz="1100" dirty="0"/>
          </a:p>
        </p:txBody>
      </p:sp>
      <p:sp>
        <p:nvSpPr>
          <p:cNvPr id="8" name="Text 6"/>
          <p:cNvSpPr txBox="1"/>
          <p:nvPr/>
        </p:nvSpPr>
        <p:spPr>
          <a:xfrm>
            <a:off x="457200" y="3776472"/>
            <a:ext cx="8229600" cy="566928"/>
          </a:xfrm>
          <a:prstGeom prst="rect">
            <a:avLst/>
          </a:prstGeom>
          <a:noFill/>
          <a:ln/>
        </p:spPr>
        <p:txBody>
          <a:bodyPr wrap="square" lIns="0" tIns="0" rIns="0" bIns="0" rtlCol="0" anchor="t"/>
          <a:lstStyle/>
          <a:p>
            <a:pPr indent="0" marL="0">
              <a:buNone/>
            </a:pPr>
            <a:r>
              <a:rPr lang="en-US" sz="1100" b="1" dirty="0">
                <a:solidFill>
                  <a:srgbClr val="4A7A00"/>
                </a:solidFill>
                <a:latin typeface="Arial" pitchFamily="34" charset="0"/>
                <a:ea typeface="Arial" pitchFamily="34" charset="-122"/>
                <a:cs typeface="Arial" pitchFamily="34" charset="-120"/>
              </a:rPr>
              <a:t>5  </a:t>
            </a:r>
            <a:pPr indent="0" marL="0">
              <a:buNone/>
            </a:pPr>
            <a:r>
              <a:rPr lang="en-US" sz="1100" dirty="0">
                <a:solidFill>
                  <a:srgbClr val="1B2333"/>
                </a:solidFill>
                <a:latin typeface="Arial" pitchFamily="34" charset="0"/>
                <a:ea typeface="Arial" pitchFamily="34" charset="-122"/>
                <a:cs typeface="Arial" pitchFamily="34" charset="-120"/>
              </a:rPr>
              <a:t>Project figures: RiskLens repo, demo_app/baselines/ (frontier reference, 15-question bank comparison) and evidence/ (Nemotron baseline, story variants, LoRA full run and held-out eval). All numbers from the deterministic engine or the Gym verifier.  </a:t>
            </a:r>
            <a:pPr indent="0" marL="0">
              <a:buNone/>
            </a:pPr>
            <a:r>
              <a:rPr lang="en-US" sz="1100" u="sng" dirty="0">
                <a:solidFill>
                  <a:srgbClr val="4A7A0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link</a:t>
            </a:r>
            <a:endParaRPr lang="en-US" sz="1100" dirty="0"/>
          </a:p>
        </p:txBody>
      </p:sp>
      <p:sp>
        <p:nvSpPr>
          <p:cNvPr id="9" name="Text 7"/>
          <p:cNvSpPr txBox="1"/>
          <p:nvPr/>
        </p:nvSpPr>
        <p:spPr>
          <a:xfrm>
            <a:off x="457200" y="4754880"/>
            <a:ext cx="8229600" cy="274320"/>
          </a:xfrm>
          <a:prstGeom prst="rect">
            <a:avLst/>
          </a:prstGeom>
          <a:noFill/>
          <a:ln/>
        </p:spPr>
        <p:txBody>
          <a:bodyPr wrap="square" lIns="0" tIns="0" rIns="0" bIns="0" rtlCol="0" anchor="b"/>
          <a:lstStyle/>
          <a:p>
            <a:pPr indent="0" marL="0">
              <a:buNone/>
            </a:pPr>
            <a:r>
              <a:rPr lang="en-US" sz="900" dirty="0">
                <a:solidFill>
                  <a:srgbClr val="5B6577"/>
                </a:solidFill>
                <a:latin typeface="Arial" pitchFamily="34" charset="0"/>
                <a:ea typeface="Arial" pitchFamily="34" charset="-122"/>
                <a:cs typeface="Arial" pitchFamily="34" charset="-120"/>
              </a:rPr>
              <a:t>Illustrative value on slide 15 uses team assumptions, not survey data. Synthetic bank data: seed 20260831.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RiskLens AI - Multi-Agent CECL Investigator</dc:title>
  <dc:subject>PptxGenJS Presentation</dc:subject>
  <dc:creator>Team Residual Zero</dc:creator>
  <cp:lastModifiedBy>Team Residual Zero</cp:lastModifiedBy>
  <cp:revision>1</cp:revision>
  <dcterms:created xsi:type="dcterms:W3CDTF">2026-10-18T02:51:46Z</dcterms:created>
  <dcterms:modified xsi:type="dcterms:W3CDTF">2026-10-18T02:51:46Z</dcterms:modified>
</cp:coreProperties>
</file>